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91" autoAdjust="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ableStyles" Target="tableStyles.xml"/><Relationship Id="rId10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시작에서는 '정답률이 제일 높은 모델은 무엇인가'가 아니라 '큰 모델/API를 줄일 수 있는가'가 핵심 질문이라고 못박습니다. 이후 슬라이드의 모든 그래프는 이 질문을 기준으로 해석합니다.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장에서는 이후 결과표에 등장하는 B0, B2, B3, G3, G4, G5, H1이 각각 무엇을 검증하는지 먼저 정리합니다.</a:t>
            </a:r>
          </a:p>
          <a:p>
            <a:r>
              <a:t>B 계열은 생성형 모델을 쓰기 전에 판별형 채점 구조만으로 어디까지 가능한지 확인하는 단계입니다. B0는 Embedding 유사도, B2는 기존 MLP scorer, B3는 Cross-encoder pairwise 판독입니다.</a:t>
            </a:r>
          </a:p>
          <a:p>
            <a:r>
              <a:t>G 계열은 local LM이 직접 문제를 풀 수 있는지, 그리고 큰 모델을 더 작거나 압축된 모델로 대체할 수 있는지 확인하는 단계입니다. H1은 쉬운 문제와 어려운 문제를 나누어 처리하는 운영 policy 실험입니다.</a:t>
            </a:r>
          </a:p>
          <a:p>
            <a:r>
              <a:t>읽는 순서는 B0/B2로 단순 기준선을 만들고, B3로 판별형 한계를 확인한 뒤, G3/G4/G5와 H1에서 local LM, 압축, routing의 대체 가능성을 보는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원본 계획은 판별형 기준선, 소형 LM, 압축, Hybrid fallback이라는 네 축을 제안했습니다. 결과 발표에서도 이 순서를 유지해야 설계 의도가 살아납니다.</a:t>
            </a:r>
          </a:p>
          <a:p>
            <a:r>
              <a:t>다만 결과를 보면 raw final test가 매우 쉬워 상위 모델들이 포화됩니다. 그래서 Check-500 혼합/어려운 세트를 함께 보면서 방법론 차이를 드러내는 식으로 접근합니다.</a:t>
            </a:r>
          </a:p>
          <a:p>
            <a:r>
              <a:t>이 슬라이드는 이후 결과를 단순 모델 나열이 아니라 방법론 단계의 누적 검증으로 읽기 위한 기준을 제공합니다.</a:t>
            </a:r>
          </a:p>
          <a:p>
            <a:r>
              <a:t>결과 발표의 중심축은 정답률 1등이 아니라 큰 모델/API 의존을 줄이는 boundary입니다.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그래프는 왜 추가 Check-500을 봐야 하는지를 설명합니다. raw final test에서는 B3, G3, G5가 대부분 99% 이상으로 포화되어 보입니다. 이 상태에서는 어떤 방법론이 더 낫고 어디에서 깨지는지 잘 보이지 않습니다.</a:t>
            </a:r>
          </a:p>
          <a:p>
            <a:r>
              <a:t>Check-500은 train/dev 행을 유지하면서 평가 500개를 뽑은 확인용 세트입니다. 생성/non-raw 행을 우선 포함하고 나머지를 원본 평가에서 seed 기반으로 채웠습니다. 그래서 원본 뜻뿐 아니라 Synonym, Antonym, Sense Disambiguation, Context Cloze가 섞입니다.</a:t>
            </a:r>
          </a:p>
          <a:p>
            <a:r>
              <a:t>이 세트는 새로운 최종 성능표가 아니라 방법론 대비를 드러내기 위한 확인용 혼합/hard slice입니다.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번째 결과는 가장 직관적입니다. B0는 뜻이 비슷한 option을 고르는 방식이고, B2는 그 위에 작은 학습형 점수 계산기를 얹은 방식입니다. 둘 다 60% 전후에 머뭅니다.</a:t>
            </a:r>
          </a:p>
          <a:p>
            <a:r>
              <a:t>반면 B3는 문제와 option을 함께 읽고 비교합니다. 같은 판별형 계열 안에서도 문제를 읽는 방식이 바뀌면 97% 이상으로 올라갑니다.</a:t>
            </a:r>
          </a:p>
          <a:p>
            <a:r>
              <a:t>따라서 첫 번째 결론은 '무조건 큰 AI가 필요하다'가 아닙니다. 먼저 채점 구조 자체가 Embedding 유사도에서 pairwise 비교로 바뀌어야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전체 발표의 중심축입니다. 왼쪽에서 오른쪽으로 갈수록 문제 해결 방식이 바뀝니다. 단순 유사도, Embedding 분류기, pairwise 재순위화, 작은 local student, 3B 압축된 runtime, 3B 품질 상한으로 이어집니다.</a:t>
            </a:r>
          </a:p>
          <a:p>
            <a:r>
              <a:t>가장 큰 점프는 B0/B2에서 B3로 넘어갈 때입니다. 그 뒤 상위 모델들은 96~99%대에서 경쟁합니다. 여기서는 평균 정답률보다 latency, memory, 어려운 사례, output contract가 더 중요해집니다.</a:t>
            </a:r>
          </a:p>
          <a:p>
            <a:r>
              <a:t>이 사다리는 이후 Accuracy, latency, hard slice, output contract 결과를 같은 축 위에서 해석하기 위한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히트맵은 평균 정답률만 보면 놓치는 지점을 보여줍니다. 원본, Synonym, Sense Disambiguation, Context는 강한 모델들이 대부분 잘 맞힙니다. 그래서 평균에서는 97%대 모델들이 비슷해 보입니다.</a:t>
            </a:r>
          </a:p>
          <a:p>
            <a:r>
              <a:t>하지만 Antonym Selection 열을 보면 거의 모든 모델이 크게 흔들립니다. 이 유형은 단순히 비슷한 뜻을 찾는 것이 아니라 반대 관계를 판단해야 해서 모델의 이해 방식 차이가 더 크게 드러납니다.</a:t>
            </a:r>
          </a:p>
          <a:p>
            <a:r>
              <a:t>따라서 발표에서 '우리 모델은 99%입니다'라고 끝내면 설계 의도가 약합니다. '쉬운 평균이 아니라 hard slice에서 어떤 모델이 버티는가'가 더 설득력 있는 포인트입니다.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발표에서 가장 드라마틱한 장면으로 쓸 수 있습니다. 전체 Accuracy는 B3, G5, G4, G3가 모두 높지만, Antonym Selection만 보면 격차가 크게 벌어집니다.</a:t>
            </a:r>
          </a:p>
          <a:p>
            <a:r>
              <a:t>G3_Qwen은 14개 중 11개를 맞힌 반면, B3와 G4는 2개, G5 0.5B는 1개 수준입니다. 표본이 14개로 작다는 단서는 반드시 붙여야 하지만, 어려운 세트를 추가해야 하는 이유를 매우 잘 보여줍니다.</a:t>
            </a:r>
          </a:p>
          <a:p>
            <a:r>
              <a:t>이 결과는 평균 Accuracy가 포화된 뒤에도 hard slice에서는 모델 용량과 학습 방식의 차이가 남는다는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여기서부터는 제품 관점입니다. G3는 가장 정확하지만 오른쪽 위에 있습니다. 즉 품질은 좋지만 느리고 무겁습니다.</a:t>
            </a:r>
          </a:p>
          <a:p>
            <a:r>
              <a:t>G5 0.5B와 1.5B는 Accuracy가 조금 낮거나 비슷하면서도 훨씬 왼쪽에 있습니다. 이는 latency가 짧다는 뜻입니다. 특히 0.5B는 memory footprint도 작습니다.</a:t>
            </a:r>
          </a:p>
          <a:p>
            <a:r>
              <a:t>발표 핵심은 '3B가 제일 좋다'가 아닙니다. 제한된 어휘 판정에서는 작은 내부 AI가 큰 모델을 상당 부분 대체할 수 있는 실용 구간이 보인다는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그래프는 각 모델의 p50 latency를 500개에 곱해 대략적인 runtime을 보여줍니다. 실제 wall-clock과 완전히 같지는 않지만 운영 감각을 전달하기 좋습니다.</a:t>
            </a:r>
          </a:p>
          <a:p>
            <a:r>
              <a:t>B0, B2, B3는 초 단위입니다. G5 0.5B와 1.5B는 몇 분 단위입니다. G4와 G3는 15~21분 수준으로 올라갑니다.</a:t>
            </a:r>
          </a:p>
          <a:p>
            <a:r>
              <a:t>이 결과는 작은 Accuracy 개선폭이 큰 runtime 증가를 동반할 수 있음을 보여주므로, 운영 후보 선택에서 latency를 함께 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제품 자동화에서 매우 중요합니다. G3는 정답률과 Calibration은 좋지만 strict parsing 오류가 높습니다. 즉 답은 맞히지만 우리가 요구한 answer contract를 자주 엄격히 지키지 못합니다.</a:t>
            </a:r>
          </a:p>
          <a:p>
            <a:r>
              <a:t>반대로 G5 0.5B는 정답률은 G3보다 낮지만 strict parsing 오류가 0입니다. 작은 모델이 더 제품 친화적인 출력 습관을 가질 수 있다는 점이 보입니다.</a:t>
            </a:r>
          </a:p>
          <a:p>
            <a:r>
              <a:t>이 결과는 자동 채점 경로에서는 정답률뿐 아니라 output contract 준수가 별도 품질 요건임을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Hybrid는 쉬운 문제는 싼 방식으로 처리하고 어려운 문제만 더 똑똑한 모델로 보내는 전략입니다. 이 접근은 운영 비용을 줄이는 데 중요합니다.</a:t>
            </a:r>
          </a:p>
          <a:p>
            <a:r>
              <a:t>하지만 현재 결과를 보면 94.4%가 Cross-encoder로 갔습니다. 즉 성능은 좋지만 아직 '대부분을 싼 방식으로 처리했다'고 말하기는 어렵습니다.</a:t>
            </a:r>
          </a:p>
          <a:p>
            <a:r>
              <a:t>따라서 발표에서는 Hybrid를 완성된 최적 policy가 아니라 '다음 단계에서 confidence 임계값과 cost sweep 격자를 조정해 frontier를 만들 대상'이라고 설명해야 안전합니다.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통계적 근거를 제시하는 본문 슬라이드입니다. B0에서 B3나 G5로 올라가는 차이는 30%p 이상이며 통계적으로 매우 뚜렷합니다.</a:t>
            </a:r>
          </a:p>
          <a:p>
            <a:r>
              <a:t>반면 B3와 G5 0.5B 사이 차이는 유의하지 않습니다. 이 말은 'G5 0.5B가 무조건 B3보다 낫다'가 아니라, 이 Check-500 범위에서는 둘의 평균 Accuracy 차이가 작다는 뜻입니다.</a:t>
            </a:r>
          </a:p>
          <a:p>
            <a:r>
              <a:t>G3와 G5 0.5B, G3와 G4 4bit는 작은 차이지만 CI가 0을 넘지 않습니다. 즉 G3의 품질 이점은 확인되지만, 그 이점이 latency/memory 비용을 정당화하는지는 별도 의사결정입니다.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원본 실험 설계의 결과표입니다. raw final test 기준으로 B3, API, G3, G5, G4가 대부분 99% 이상입니다. 이 결과만 보면 '다 잘한다'가 결론처럼 보입니다.</a:t>
            </a:r>
          </a:p>
          <a:p>
            <a:r>
              <a:t>하지만 이 포화 자체가 중요한 관찰입니다. TOEIC 비즈니스 어휘의 Raw Meaning Selection은 상위 모델에게 너무 쉬운 평가일 수 있습니다.</a:t>
            </a:r>
          </a:p>
          <a:p>
            <a:r>
              <a:t>그래서 발표에서는 raw final test를 '상위 모델이 기본 task를 해결했음'을 보여주는 배경으로 두고, 실제 방법론 차이는 Check-500과 hard slice에서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원본 계획에서는 zero-shot, SFT, KD를 비교하려 했습니다. 결과를 보면 raw final test에서는 zero-shot도 이미 높습니다. 따라서 'SFT/KD가 Accuracy를 폭발적으로 올렸다'는 주장은 약합니다.</a:t>
            </a:r>
          </a:p>
          <a:p>
            <a:r>
              <a:t>대신 G0 Qwen의 ECE가 매우 높고, SFT/KD 이후 Calibration이 개선되는 흐름을 볼 수 있습니다. 제품 채점기 관점에서는 정답률만큼 자신감의 reliability가 중요합니다.</a:t>
            </a:r>
          </a:p>
          <a:p>
            <a:r>
              <a:t>이 장은 LM-만 발표를 해야 할 때 특히 유용합니다. 메시지는 'fine-tuning improves reliability, compression improves deployability'입니다.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원본 실험 설계의 핵심 장면에 가장 가깝습니다. 큰 3B 모델은 거의 완벽하지만 무겁습니다. G5 0.5B와 1.5B는 훨씬 빠르고 가벼운데 raw final test에서는 거의 같은 품질입니다.</a:t>
            </a:r>
          </a:p>
          <a:p>
            <a:r>
              <a:t>4bit는 같은 3B 계열을 압축해 latency를 줄이는 경로입니다. 다만 현재 결과에서는 VRAM 감소를 강하게 주장하지 않고, Calibration 재확인이 필요하다는 단서를 붙입니다.</a:t>
            </a:r>
          </a:p>
          <a:p>
            <a:r>
              <a:t>결론은 큰 모델을 무조건 쓰는 것이 아니라, 제한된 task에서는 작은 내부 AI와 압축 Runtime이 실용적인 대체 boundary를 만든다는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부록 진입 전 잠깐 멈추고, 이후 장표는 발표 본문이 아니라 질의 대응용 근거 자료로 전환합니다.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부록 전체의 읽는 순서를 정리합니다. 이후 부록은 결과 그림만 모은 것이 아니라, 데이터 구성, 증강 검증, 모델군 설정, 평가 지표, 해석 boundary까지 실험 설계 관점으로 이어집니다.</a:t>
            </a:r>
          </a:p>
          <a:p>
            <a:r>
              <a:t>먼저 원본 어휘와 generated task가 어떻게 확인 세트로 들어왔는지 보여주고, 그 다음 B/G/H 모델군의 평가 방식과 학습 목표를 구분합니다. 마지막으로 지표와 paired statistics로 해석을 제한합니다.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데이터 증강 관련 질문을 실험 설계 관점에서 받기 위한 장표입니다.</a:t>
            </a:r>
          </a:p>
          <a:p>
            <a:r>
              <a:t>generated rows는 task 다양성을 만들기 위한 보조 데이터입니다. Check-500에는 원본 평가 388개와 judge-validated generated 112개가 섞였고, 학습 설계에서는 SFT용 원본+증강 보기와 KD용 teacher score 보기가 분리됩니다.</a:t>
            </a:r>
          </a:p>
          <a:p>
            <a:r>
              <a:t>정답 anchor는 데이터 본문의 답안 라벨을 유지하고, teacher score는 option별 soft confidence를 제공하는 보조 신호입니다. G3 KD에서는 이 soft distribution이 answer letter KL loss에 들어갑니다.</a:t>
            </a:r>
          </a:p>
          <a:p>
            <a:r>
              <a:t>아니라고 답합니다. judge-validated는 auto filter와 독립 judge validation을 통과했다는 뜻이며 사람 승인과 분리합니다.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B/G/H 각 실험군이 정확히 무엇을 수행했는지 한 표로 설명하기 위한 설계 부록입니다.</a:t>
            </a:r>
          </a:p>
          <a:p>
            <a:r>
              <a:t>현재 부록의 No-API / No-Retrain 확인은 모든 모델을 evaluation mode로 실행했습니다. B2는 기존 scorer 재사용, B3는 파인튜닝 비활성화, G3/G4/G5는 기존 adapter 로딩, H1은 기존 prediction 출력을 routing합니다.</a:t>
            </a:r>
          </a:p>
          <a:p>
            <a:r>
              <a:t>이 표에서 G5는 소형 local SFT adapter 평가로 분리합니다. teacher-logits KD 압축은 별도 경로로 설명해야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loss, 추론 방식, metric 산출 방식에 대한 상세 질문을 한 번에 받기 위한 설계 장표입니다.</a:t>
            </a:r>
          </a:p>
          <a:p>
            <a:r>
              <a:t>SFT는 assistant 출력 completion CE입니다. G3 KD는 completion CE에 answer letter soft distribution KL을 더합니다. B/H 계열은 현재 확인 실행에서 LM 학습 목표가 없습니다.</a:t>
            </a:r>
          </a:p>
          <a:p>
            <a:r>
              <a:t>모델은 구조화된 answer contract를 따르도록 prompt를 받습니다. strict contract를 지키지 않아도 fallback parser로 답을 복원할 수 있으므로, Accuracy와 strict parsing 오류를 분리해 보고합니다.</a:t>
            </a:r>
          </a:p>
          <a:p>
            <a:r>
              <a:t>각 문항 단위 local 추론에서 p50 latency와 최대 RAM/VRAM을 집계한 운영 지표입니다. 실제 API 비용이 아니라 local runtime 부담을 비교하는 지표입니다.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부록은 표 목록이 아니라, 질문이 들어왔을 때 바로 가리킬 수 있는 근거 화면으로 구성합니다.</a:t>
            </a:r>
          </a:p>
          <a:p>
            <a:r>
              <a:t>각 패널은 본문 메시지와 연결되는 대표 그림입니다. 세부 artifact 원문은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hard slice와 deployability 관련 질문에 대응하는 근거 화면입니다.</a:t>
            </a:r>
          </a:p>
          <a:p>
            <a:r>
              <a:t>평균 정답률 이후의 차이를 hard slice와 runtime frontier에서 분리해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Check-500이 어떤 평가 묶음인지 시각적으로 보여주는 근거 장표입니다.</a:t>
            </a:r>
          </a:p>
          <a:p>
            <a:r>
              <a:t>train/dev 행은 기준선 튜닝과 scorer 재사용 검증을 위해 유지했고, 발표에서 직접 비교하는 test rows는 500개입니다.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아닙니다. Check-500은 raw final test 포화 이후 방법론 차이를 보기 위한 통제된 확인 세트입니다. train/dev 행은 기준선 튜닝과 scorer 재사용 조건을 유지하기 위한 배경이고, 발표 비교 대상은 평가 500개입니다.</a:t>
            </a:r>
          </a:p>
          <a:p>
            <a:r>
              <a:t>사람 검수라고 말하지 않습니다. 표현은 judge-validated 증강으로 제한합니다. auto filter와 독립 judge validation을 통과한 항목이라는 의미입니다.</a:t>
            </a:r>
          </a:p>
          <a:p>
            <a:r>
              <a:t>전체 500개는 raw 388개가 섞여 A/B/C/D distribution이 완전히 한쪽으로 쏠리지는 않습니다. 다만 generated slice는 Synonym, Sense Disambiguation, Context에서 A 편향이 있으므로 unbiased benchmark가 아니라 stress slice 근거로만 사용한다고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 계열은 생성형 답변을 만들지 않고, option 점수화로 정답을 고르는 판별형 경로입니다.</a:t>
            </a:r>
          </a:p>
          <a:p>
            <a:r>
              <a:t>B0, B2, B3를 하나의 통합 구조가 아니라 모델별 흐름으로 분리해 보여줍니다.</a:t>
            </a:r>
          </a:p>
          <a:p>
            <a:r>
              <a:t>현재 확인 실행에서는 재학습하지 않았습니다. B3는 문제-option Cross-encoder를 그대로 사용해 네 option 점수를 비교한 결과입니다.</a:t>
            </a:r>
          </a:p>
          <a:p>
            <a:r>
              <a:t>B0/B2는 문제와 option을 따로 Embedding하거나 Embedding features를 scorer에 넣습니다. 반면 B3는 문제-option pair를 함께 읽기 때문에 Synonym, Context, 오답 후보 간 미세 차이를 더 잘 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G3와 G4는 같은 Qwen 3B 계열 adapter를 중심으로 해석합니다.</a:t>
            </a:r>
          </a:p>
          <a:p>
            <a:r>
              <a:t>G3는 품질 상한, G4는 4bit 로딩을 통한 압축 runtime 확인으로 분리해 설명합니다.</a:t>
            </a:r>
          </a:p>
          <a:p>
            <a:r>
              <a:t>G3는 assistant 출력 완성에 대한 causal LM loss를 기본으로 두고, answer letter A/B/C/D 위치의 soft distribution KL loss를 더합니다. 기본 람다_soft는 0.5입니다. 전체 sequence distillation이라고 말하지 않습니다.</a:t>
            </a:r>
          </a:p>
          <a:p>
            <a:r>
              <a:t>아닙니다. 같은 3B adapter 경로를 유지하고 기반 모델 로딩만 4bit로 바꿔 runtime과 memory 절충을 확인한 것입니다.</a:t>
            </a:r>
          </a:p>
          <a:p>
            <a:r>
              <a:t>아닙니다. Check-500에서는 memory와 latency가 줄지만 Accuracy와 strict parsing 안정성은 G3보다 떨어집니다. 따라서 절충 실험으로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G5는 작은 local LM을 통해 큰 모델 호출을 줄일 수 있는지 확인하는 경로입니다.</a:t>
            </a:r>
          </a:p>
          <a:p>
            <a:r>
              <a:t>0.5B와 1.5B는 같은 범주의 실험이지만 운영 후보로 보는 기준이 달라 별도 구조로 제시합니다.</a:t>
            </a:r>
          </a:p>
          <a:p>
            <a:r>
              <a:t>현재 부록의 No-API / No-Retrain 확인 결과는 G5_Qwen0p5_G1, G5_Qwen1p5_G1입니다. 즉 작은 Qwen 기반 모델에 G1 LoRA SFT adapter를 얹은 평가입니다. G3 teacher logits 기반 KD student 결과라고 말하지 않습니다.</a:t>
            </a:r>
          </a:p>
          <a:p>
            <a:r>
              <a:t>제한된 어휘 판정에서는 0.5B/1.5B 작은 local LM도 높은 Accuracy와 낮은 latency를 보여 deployment candidate가 될 수 있다는 해석입니다. KD 압축 해석은 별도 G5 KD 실행으로 분리해야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SFT 계열은 assistant 출력 completion span의 후속-토큰 cross entropy입니다. G3 KD는 여기에 answer letter A/B/C/D distribution KL을 더한 구조입니다. B0/B2/B3/H1은 현재 확인 실행에서 LM 학습 loss가 없습니다.</a:t>
            </a:r>
          </a:p>
          <a:p>
            <a:r>
              <a:t>이번 부록의 G5는 G1 SFT adapter 평가입니다. 따라서 G5 결과를 설명할 때는 SFT adapter 기반 작은 local LM이라고 말하고, teacher-logits KD는 별도 실험 경로로 분리합니다.</a:t>
            </a:r>
          </a:p>
          <a:p>
            <a:r>
              <a:t>B2는 기존 scorer를 재사용했고, B3는 파인튜닝 없이 평가했으며, G3/G4/G5는 이미 존재하는 adapter를 불러 평가했습니다. 장표에서는 경로명이 아니라 구조와 역할만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H1은 단일 모델이 아니라 운영 policy 구조입니다. 그래서 confidence gate와 fallback route를 별도 시각화합니다.</a:t>
            </a:r>
          </a:p>
          <a:p>
            <a:r>
              <a:t>현재 확인 결과에서는 fallback 사용률이 낮으므로 완성된 비용-절감 policy가 아니라 routing 후보로 해석합니다.</a:t>
            </a:r>
          </a:p>
          <a:p>
            <a:r>
              <a:t>아직 아닙니다. 현재 selected policy는 Accuracy 우선 탐색에서 low threshold 0.75, high threshold 0.85를 선택했고, route distribution은 primary 3.6%, B3 94.4%, G5 fallback 2.0%입니다. 따라서 비용-절감 완성본이 아니라 routing 후보로 말해야 합니다.</a:t>
            </a:r>
          </a:p>
          <a:p>
            <a:r>
              <a:t>대부분 B3 경로를 사용했기 때문입니다. 이 결과는 routing 구조가 성능을 유지할 수 있음을 보여주지만, 비용 최적화까지는 임계값 재설계가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부록은 품질 외 지표를 확대 근거 장표로 분리합니다.</a:t>
            </a:r>
          </a:p>
          <a:p>
            <a:r>
              <a:t>발표 본문과 부록에서는 개별 정답/오답 사례가 아니라 집계 성능 지표만 사용합니다. 개별 사례는 편향된 인상을 줄 수 있어, 성능 판단은 Accuracy, task Accuracy, ECE, strict parsing, latency, memory로 제한합니다.</a:t>
            </a:r>
          </a:p>
          <a:p>
            <a:r>
              <a:t>같은 500개 문항에 대해 두 모델의 prediction을 맞붙여 McNemar와 paired bootstrap 차이를 본 것입니다. 독립 표본 비교가 아니라 common-item paired comparison입니다.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부록은 품질 외 지표를 확대 근거 장표로 분리합니다.</a:t>
            </a:r>
          </a:p>
          <a:p>
            <a:r>
              <a:t>발표 본문과 부록에서는 개별 정답/오답 사례가 아니라 집계 성능 지표만 사용합니다. 개별 사례는 편향된 인상을 줄 수 있어, 성능 판단은 Accuracy, task Accuracy, ECE, strict parsing, latency, memory로 제한합니다.</a:t>
            </a:r>
          </a:p>
          <a:p>
            <a:r>
              <a:t>같은 500개 문항에 대해 두 모델의 prediction을 맞붙여 McNemar와 paired bootstrap 차이를 본 것입니다. 독립 표본 비교가 아니라 common-item paired comparison입니다.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부록은 품질 외 지표를 확대 근거 장표로 분리합니다.</a:t>
            </a:r>
          </a:p>
          <a:p>
            <a:r>
              <a:t>발표 본문과 부록에서는 개별 정답/오답 사례가 아니라 집계 성능 지표만 사용합니다. 개별 사례는 편향된 인상을 줄 수 있어, 성능 판단은 Accuracy, task Accuracy, ECE, strict parsing, latency, memory로 제한합니다.</a:t>
            </a:r>
          </a:p>
          <a:p>
            <a:r>
              <a:t>같은 500개 문항에 대해 두 모델의 prediction을 맞붙여 McNemar와 paired bootstrap 차이를 본 것입니다. 독립 표본 비교가 아니라 common-item paired comparison입니다.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부록에서는 개별 문항의 정답/오답을 공개하지 않고, task-단위 집계만 보여줍니다. 성능 해석은 표본 전체 또는 task slice 전체에서 나온 수치로만 설명합니다.</a:t>
            </a:r>
          </a:p>
          <a:p>
            <a:r>
              <a:t>전체 Accuracy는 G3가 99.2%이고, G4/G5/B3 대비 높습니다. 특히 Antonym 구간에서 78.6%로 차이가 큽니다. 다만 Antonym은 n=14라 hard-slice 신호로만 설명합니다.</a:t>
            </a:r>
          </a:p>
          <a:p>
            <a:r>
              <a:t>G5 1.5B는 97.6%, p50 341ms이고 G5 0.5B는 96.6%, p50 302ms, 987MB입니다. 품질 상한은 G3이지만, 운영 후보로는 G5가 설득력 있습니다.</a:t>
            </a:r>
          </a:p>
          <a:p>
            <a:r>
              <a:t>B0 대비 B3/G5는 매우 큰 차이입니다. 반면 B3와 G5 0.5B는 +0.8pp 수준이고 McNemar p=0.289라 우열 해석을 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-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-2"/>
          <p:cNvSpPr txBox="1"/>
          <p:nvPr/>
        </p:nvSpPr>
        <p:spPr>
          <a:xfrm>
            <a:off x="256032" y="256032"/>
            <a:ext cx="10058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실험 결과</a:t>
            </a:r>
          </a:p>
        </p:txBody>
      </p:sp>
      <p:sp>
        <p:nvSpPr>
          <p:cNvPr id="3" name="text-3"/>
          <p:cNvSpPr txBox="1"/>
          <p:nvPr/>
        </p:nvSpPr>
        <p:spPr>
          <a:xfrm>
            <a:off x="11365992" y="256032"/>
            <a:ext cx="36576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 b="1">
                <a:solidFill>
                  <a:srgbClr val="6F747D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4" name="text-4"/>
          <p:cNvSpPr txBox="1"/>
          <p:nvPr/>
        </p:nvSpPr>
        <p:spPr>
          <a:xfrm>
            <a:off x="256032" y="557784"/>
            <a:ext cx="795528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작은 로컬 AI의 대형 LLM/API 대체 가능성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256032" y="960120"/>
            <a:ext cx="74980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>
                <a:solidFill>
                  <a:srgbClr val="5F6B7A"/>
                </a:solidFill>
                <a:latin typeface="Malgun Gothic"/>
                <a:ea typeface="Malgun Gothic"/>
              </a:rPr>
              <a:t>설계 질문 재구성 | API 없음 로컬 대체 가능성 | 결과 중심</a:t>
            </a:r>
          </a:p>
        </p:txBody>
      </p:sp>
      <p:cxnSp>
        <p:nvCxnSpPr>
          <p:cNvPr id="6" name="line-6"/>
          <p:cNvCxnSpPr/>
          <p:nvPr/>
        </p:nvCxnSpPr>
        <p:spPr>
          <a:xfrm>
            <a:off x="256032" y="1188720"/>
            <a:ext cx="11494008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7" name="rect-7"/>
          <p:cNvSpPr/>
          <p:nvPr/>
        </p:nvSpPr>
        <p:spPr>
          <a:xfrm>
            <a:off x="4407408" y="2852928"/>
            <a:ext cx="6446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F747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-8"/>
          <p:cNvSpPr txBox="1"/>
          <p:nvPr/>
        </p:nvSpPr>
        <p:spPr>
          <a:xfrm>
            <a:off x="4443984" y="2999232"/>
            <a:ext cx="6144768" cy="51206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3000" b="1">
                <a:solidFill>
                  <a:srgbClr val="0B1F33"/>
                </a:solidFill>
                <a:latin typeface="Malgun Gothic"/>
                <a:ea typeface="Malgun Gothic"/>
              </a:rPr>
              <a:t>실험 발표 초안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256032" y="6547104"/>
            <a:ext cx="56692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API 없음 / 재학습 없음 결과 보고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11365992" y="6547104"/>
            <a:ext cx="36576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600">
                <a:solidFill>
                  <a:srgbClr val="8A8F98"/>
                </a:solidFill>
                <a:latin typeface="Malgun Gothic"/>
                <a:ea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-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-2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500" b="1">
                <a:solidFill>
                  <a:srgbClr val="0B1F33"/>
                </a:solidFill>
                <a:latin typeface="Malgun Gothic"/>
                <a:ea typeface="Malgun Gothic"/>
              </a:rPr>
              <a:t>실험군별 의도</a:t>
            </a:r>
          </a:p>
        </p:txBody>
      </p:sp>
      <p:sp>
        <p:nvSpPr>
          <p:cNvPr id="3" name="rect-3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841248" y="1984248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B0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1508760" y="1975104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Embedding 기준선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3611880" y="1975104"/>
            <a:ext cx="4937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111827"/>
                </a:solidFill>
                <a:latin typeface="Malgun Gothic"/>
                <a:ea typeface="Malgun Gothic"/>
              </a:rPr>
              <a:t>뜻/문장 벡터의 가까움만으로 정답을 고를 수 있는가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8869680" y="1975104"/>
            <a:ext cx="233172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5F6B7A"/>
                </a:solidFill>
                <a:latin typeface="Malgun Gothic"/>
                <a:ea typeface="Malgun Gothic"/>
              </a:rPr>
              <a:t>가장 싼 기준선</a:t>
            </a:r>
          </a:p>
        </p:txBody>
      </p:sp>
      <p:sp>
        <p:nvSpPr>
          <p:cNvPr id="8" name="rect-8"/>
          <p:cNvSpPr/>
          <p:nvPr/>
        </p:nvSpPr>
        <p:spPr>
          <a:xfrm>
            <a:off x="640080" y="2377440"/>
            <a:ext cx="10881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-9"/>
          <p:cNvSpPr txBox="1"/>
          <p:nvPr/>
        </p:nvSpPr>
        <p:spPr>
          <a:xfrm>
            <a:off x="841248" y="2487168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B2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1508760" y="2478024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MLP scorer 재사용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3611880" y="2478024"/>
            <a:ext cx="4937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111827"/>
                </a:solidFill>
                <a:latin typeface="Malgun Gothic"/>
                <a:ea typeface="Malgun Gothic"/>
              </a:rPr>
              <a:t>Embedding 특징값 위에 기존 scorer를 얹으면 단순 기준선을 넘는가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8869680" y="2478024"/>
            <a:ext cx="233172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5F6B7A"/>
                </a:solidFill>
                <a:latin typeface="Malgun Gothic"/>
                <a:ea typeface="Malgun Gothic"/>
              </a:rPr>
              <a:t>재학습 없이 scorer 재사용</a:t>
            </a:r>
          </a:p>
        </p:txBody>
      </p:sp>
      <p:sp>
        <p:nvSpPr>
          <p:cNvPr id="13" name="rect-13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14"/>
          <p:cNvSpPr txBox="1"/>
          <p:nvPr/>
        </p:nvSpPr>
        <p:spPr>
          <a:xfrm>
            <a:off x="841248" y="2990088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B3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1508760" y="2980944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Cross-encoder</a:t>
            </a:r>
          </a:p>
        </p:txBody>
      </p:sp>
      <p:sp>
        <p:nvSpPr>
          <p:cNvPr id="16" name="text-16"/>
          <p:cNvSpPr txBox="1"/>
          <p:nvPr/>
        </p:nvSpPr>
        <p:spPr>
          <a:xfrm>
            <a:off x="3611880" y="2980944"/>
            <a:ext cx="4937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111827"/>
                </a:solidFill>
                <a:latin typeface="Malgun Gothic"/>
                <a:ea typeface="Malgun Gothic"/>
              </a:rPr>
              <a:t>문제와 option을 함께 읽으면 판별형 모델만으로 충분한가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8869680" y="2980944"/>
            <a:ext cx="233172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5F6B7A"/>
                </a:solidFill>
                <a:latin typeface="Malgun Gothic"/>
                <a:ea typeface="Malgun Gothic"/>
              </a:rPr>
              <a:t>첫 번째 성능 점프</a:t>
            </a:r>
          </a:p>
        </p:txBody>
      </p:sp>
      <p:sp>
        <p:nvSpPr>
          <p:cNvPr id="18" name="rect-18"/>
          <p:cNvSpPr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-19"/>
          <p:cNvSpPr txBox="1"/>
          <p:nvPr/>
        </p:nvSpPr>
        <p:spPr>
          <a:xfrm>
            <a:off x="841248" y="3493008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G3</a:t>
            </a:r>
          </a:p>
        </p:txBody>
      </p:sp>
      <p:sp>
        <p:nvSpPr>
          <p:cNvPr id="20" name="text-20"/>
          <p:cNvSpPr txBox="1"/>
          <p:nvPr/>
        </p:nvSpPr>
        <p:spPr>
          <a:xfrm>
            <a:off x="1508760" y="3483864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3B local LM</a:t>
            </a:r>
          </a:p>
        </p:txBody>
      </p:sp>
      <p:sp>
        <p:nvSpPr>
          <p:cNvPr id="21" name="text-21"/>
          <p:cNvSpPr txBox="1"/>
          <p:nvPr/>
        </p:nvSpPr>
        <p:spPr>
          <a:xfrm>
            <a:off x="3611880" y="3483864"/>
            <a:ext cx="4937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111827"/>
                </a:solidFill>
                <a:latin typeface="Malgun Gothic"/>
                <a:ea typeface="Malgun Gothic"/>
              </a:rPr>
              <a:t>큰 local LM이 API 없이 품질 상한을 만들 수 있는가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8869680" y="3483864"/>
            <a:ext cx="233172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5F6B7A"/>
                </a:solidFill>
                <a:latin typeface="Malgun Gothic"/>
                <a:ea typeface="Malgun Gothic"/>
              </a:rPr>
              <a:t>품질 상한 확인</a:t>
            </a:r>
          </a:p>
        </p:txBody>
      </p:sp>
      <p:sp>
        <p:nvSpPr>
          <p:cNvPr id="23" name="rect-23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-24"/>
          <p:cNvSpPr txBox="1"/>
          <p:nvPr/>
        </p:nvSpPr>
        <p:spPr>
          <a:xfrm>
            <a:off x="841248" y="3995928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G4</a:t>
            </a:r>
          </a:p>
        </p:txBody>
      </p:sp>
      <p:sp>
        <p:nvSpPr>
          <p:cNvPr id="25" name="text-25"/>
          <p:cNvSpPr txBox="1"/>
          <p:nvPr/>
        </p:nvSpPr>
        <p:spPr>
          <a:xfrm>
            <a:off x="1508760" y="3986784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4bit 압축</a:t>
            </a:r>
          </a:p>
        </p:txBody>
      </p:sp>
      <p:sp>
        <p:nvSpPr>
          <p:cNvPr id="26" name="text-26"/>
          <p:cNvSpPr txBox="1"/>
          <p:nvPr/>
        </p:nvSpPr>
        <p:spPr>
          <a:xfrm>
            <a:off x="3611880" y="3986784"/>
            <a:ext cx="4937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111827"/>
                </a:solidFill>
                <a:latin typeface="Malgun Gothic"/>
                <a:ea typeface="Malgun Gothic"/>
              </a:rPr>
              <a:t>3B 경로를 압축해 runtime을 줄일 수 있는가</a:t>
            </a:r>
          </a:p>
        </p:txBody>
      </p:sp>
      <p:sp>
        <p:nvSpPr>
          <p:cNvPr id="27" name="text-27"/>
          <p:cNvSpPr txBox="1"/>
          <p:nvPr/>
        </p:nvSpPr>
        <p:spPr>
          <a:xfrm>
            <a:off x="8869680" y="3986784"/>
            <a:ext cx="233172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5F6B7A"/>
                </a:solidFill>
                <a:latin typeface="Malgun Gothic"/>
                <a:ea typeface="Malgun Gothic"/>
              </a:rPr>
              <a:t>압축/deployability 확인</a:t>
            </a:r>
          </a:p>
        </p:txBody>
      </p:sp>
      <p:sp>
        <p:nvSpPr>
          <p:cNvPr id="28" name="rect-28"/>
          <p:cNvSpPr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-29"/>
          <p:cNvSpPr txBox="1"/>
          <p:nvPr/>
        </p:nvSpPr>
        <p:spPr>
          <a:xfrm>
            <a:off x="841248" y="4498848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G5</a:t>
            </a:r>
          </a:p>
        </p:txBody>
      </p:sp>
      <p:sp>
        <p:nvSpPr>
          <p:cNvPr id="30" name="text-30"/>
          <p:cNvSpPr txBox="1"/>
          <p:nvPr/>
        </p:nvSpPr>
        <p:spPr>
          <a:xfrm>
            <a:off x="1508760" y="4489704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0.5B / 1.5B local LM</a:t>
            </a:r>
          </a:p>
        </p:txBody>
      </p:sp>
      <p:sp>
        <p:nvSpPr>
          <p:cNvPr id="31" name="text-31"/>
          <p:cNvSpPr txBox="1"/>
          <p:nvPr/>
        </p:nvSpPr>
        <p:spPr>
          <a:xfrm>
            <a:off x="3611880" y="4489704"/>
            <a:ext cx="4937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111827"/>
                </a:solidFill>
                <a:latin typeface="Malgun Gothic"/>
                <a:ea typeface="Malgun Gothic"/>
              </a:rPr>
              <a:t>작은 local LM이 큰 모델을 실용적으로 대체할 수 있는가</a:t>
            </a:r>
          </a:p>
        </p:txBody>
      </p:sp>
      <p:sp>
        <p:nvSpPr>
          <p:cNvPr id="32" name="text-32"/>
          <p:cNvSpPr txBox="1"/>
          <p:nvPr/>
        </p:nvSpPr>
        <p:spPr>
          <a:xfrm>
            <a:off x="8869680" y="4489704"/>
            <a:ext cx="233172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5F6B7A"/>
                </a:solidFill>
                <a:latin typeface="Malgun Gothic"/>
                <a:ea typeface="Malgun Gothic"/>
              </a:rPr>
              <a:t>대체 가능 구간 확인</a:t>
            </a:r>
          </a:p>
        </p:txBody>
      </p:sp>
      <p:sp>
        <p:nvSpPr>
          <p:cNvPr id="33" name="rect-33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-34"/>
          <p:cNvSpPr txBox="1"/>
          <p:nvPr/>
        </p:nvSpPr>
        <p:spPr>
          <a:xfrm>
            <a:off x="841248" y="5001768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H1</a:t>
            </a:r>
          </a:p>
        </p:txBody>
      </p:sp>
      <p:sp>
        <p:nvSpPr>
          <p:cNvPr id="35" name="text-35"/>
          <p:cNvSpPr txBox="1"/>
          <p:nvPr/>
        </p:nvSpPr>
        <p:spPr>
          <a:xfrm>
            <a:off x="1508760" y="4992624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local Hybrid</a:t>
            </a:r>
          </a:p>
        </p:txBody>
      </p:sp>
      <p:sp>
        <p:nvSpPr>
          <p:cNvPr id="36" name="text-36"/>
          <p:cNvSpPr txBox="1"/>
          <p:nvPr/>
        </p:nvSpPr>
        <p:spPr>
          <a:xfrm>
            <a:off x="3611880" y="4992624"/>
            <a:ext cx="4937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111827"/>
                </a:solidFill>
                <a:latin typeface="Malgun Gothic"/>
                <a:ea typeface="Malgun Gothic"/>
              </a:rPr>
              <a:t>confidence에 따라 B/G 경로를 나눠 비용-품질 균형을 만들 수 있는가</a:t>
            </a:r>
          </a:p>
        </p:txBody>
      </p:sp>
      <p:sp>
        <p:nvSpPr>
          <p:cNvPr id="37" name="text-37"/>
          <p:cNvSpPr txBox="1"/>
          <p:nvPr/>
        </p:nvSpPr>
        <p:spPr>
          <a:xfrm>
            <a:off x="8869680" y="4992624"/>
            <a:ext cx="233172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>
                <a:solidFill>
                  <a:srgbClr val="5F6B7A"/>
                </a:solidFill>
                <a:latin typeface="Malgun Gothic"/>
                <a:ea typeface="Malgun Gothic"/>
              </a:rPr>
              <a:t>운영 policy 후보</a:t>
            </a:r>
          </a:p>
        </p:txBody>
      </p:sp>
      <p:sp>
        <p:nvSpPr>
          <p:cNvPr id="39" name="rect-3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text-40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실험 설계</a:t>
            </a:r>
          </a:p>
        </p:txBody>
      </p:sp>
      <p:sp>
        <p:nvSpPr>
          <p:cNvPr id="41" name="text-41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42" name="text-42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B/G/H 실험 단계와 의도</a:t>
            </a:r>
          </a:p>
        </p:txBody>
      </p:sp>
      <p:sp>
        <p:nvSpPr>
          <p:cNvPr id="43" name="text-43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실험군 단계 | 기준선-상한-압축-routing | 대체 가능 boundary</a:t>
            </a:r>
          </a:p>
        </p:txBody>
      </p:sp>
      <p:cxnSp>
        <p:nvCxnSpPr>
          <p:cNvPr id="44" name="line-44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45" name="text-45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46" name="text-46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-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-2"/>
          <p:cNvSpPr txBox="1"/>
          <p:nvPr/>
        </p:nvSpPr>
        <p:spPr>
          <a:xfrm>
            <a:off x="640080" y="1417320"/>
            <a:ext cx="1097280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500" b="1">
                <a:solidFill>
                  <a:srgbClr val="0B1F33"/>
                </a:solidFill>
                <a:latin typeface="Malgun Gothic"/>
                <a:ea typeface="Malgun Gothic"/>
              </a:rPr>
              <a:t>원본 설계의 네 질문</a:t>
            </a:r>
          </a:p>
        </p:txBody>
      </p:sp>
      <p:sp>
        <p:nvSpPr>
          <p:cNvPr id="3" name="rect-3"/>
          <p:cNvSpPr/>
          <p:nvPr/>
        </p:nvSpPr>
        <p:spPr>
          <a:xfrm>
            <a:off x="640080" y="1965960"/>
            <a:ext cx="2487168" cy="23317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804672" y="2148840"/>
            <a:ext cx="3200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300" b="1">
                <a:solidFill>
                  <a:srgbClr val="1B8A8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1143000" y="2148840"/>
            <a:ext cx="178308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0B1F33"/>
                </a:solidFill>
                <a:latin typeface="Malgun Gothic"/>
                <a:ea typeface="Malgun Gothic"/>
              </a:rPr>
              <a:t>판별형 기준선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804672" y="2816352"/>
            <a:ext cx="205740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Embedding만으로 충분한가?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804672" y="3730752"/>
            <a:ext cx="20574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5F6B7A"/>
                </a:solidFill>
                <a:latin typeface="Malgun Gothic"/>
                <a:ea typeface="Malgun Gothic"/>
              </a:rPr>
              <a:t>B0/B2/B3</a:t>
            </a:r>
          </a:p>
        </p:txBody>
      </p:sp>
      <p:sp>
        <p:nvSpPr>
          <p:cNvPr id="8" name="rect-8"/>
          <p:cNvSpPr/>
          <p:nvPr/>
        </p:nvSpPr>
        <p:spPr>
          <a:xfrm>
            <a:off x="3429000" y="1965960"/>
            <a:ext cx="2487168" cy="23317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-9"/>
          <p:cNvSpPr txBox="1"/>
          <p:nvPr/>
        </p:nvSpPr>
        <p:spPr>
          <a:xfrm>
            <a:off x="3593592" y="2148840"/>
            <a:ext cx="3200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300" b="1">
                <a:solidFill>
                  <a:srgbClr val="1B8A8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3931920" y="2148840"/>
            <a:ext cx="178308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0B1F33"/>
                </a:solidFill>
                <a:latin typeface="Malgun Gothic"/>
                <a:ea typeface="Malgun Gothic"/>
              </a:rPr>
              <a:t>소형 LM 경로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3593592" y="2816352"/>
            <a:ext cx="205740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작은 AI가 문제를 직접 풀 수 있는가?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3593592" y="3730752"/>
            <a:ext cx="20574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5F6B7A"/>
                </a:solidFill>
                <a:latin typeface="Malgun Gothic"/>
                <a:ea typeface="Malgun Gothic"/>
              </a:rPr>
              <a:t>G3/G5</a:t>
            </a:r>
          </a:p>
        </p:txBody>
      </p:sp>
      <p:sp>
        <p:nvSpPr>
          <p:cNvPr id="13" name="rect-13"/>
          <p:cNvSpPr/>
          <p:nvPr/>
        </p:nvSpPr>
        <p:spPr>
          <a:xfrm>
            <a:off x="6217920" y="1965960"/>
            <a:ext cx="2487168" cy="23317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14"/>
          <p:cNvSpPr txBox="1"/>
          <p:nvPr/>
        </p:nvSpPr>
        <p:spPr>
          <a:xfrm>
            <a:off x="6382512" y="2148840"/>
            <a:ext cx="3200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300" b="1">
                <a:solidFill>
                  <a:srgbClr val="1B8A8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6720840" y="2148840"/>
            <a:ext cx="178308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0B1F33"/>
                </a:solidFill>
                <a:latin typeface="Malgun Gothic"/>
                <a:ea typeface="Malgun Gothic"/>
              </a:rPr>
              <a:t>압축 경로</a:t>
            </a:r>
          </a:p>
        </p:txBody>
      </p:sp>
      <p:sp>
        <p:nvSpPr>
          <p:cNvPr id="16" name="text-16"/>
          <p:cNvSpPr txBox="1"/>
          <p:nvPr/>
        </p:nvSpPr>
        <p:spPr>
          <a:xfrm>
            <a:off x="6382512" y="2816352"/>
            <a:ext cx="205740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품질 유지하며 더 가볍게 만들 수 있는가?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6382512" y="3730752"/>
            <a:ext cx="20574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5F6B7A"/>
                </a:solidFill>
                <a:latin typeface="Malgun Gothic"/>
                <a:ea typeface="Malgun Gothic"/>
              </a:rPr>
              <a:t>G4/G5</a:t>
            </a:r>
          </a:p>
        </p:txBody>
      </p:sp>
      <p:sp>
        <p:nvSpPr>
          <p:cNvPr id="18" name="rect-18"/>
          <p:cNvSpPr/>
          <p:nvPr/>
        </p:nvSpPr>
        <p:spPr>
          <a:xfrm>
            <a:off x="9006840" y="1965960"/>
            <a:ext cx="2487168" cy="23317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-19"/>
          <p:cNvSpPr txBox="1"/>
          <p:nvPr/>
        </p:nvSpPr>
        <p:spPr>
          <a:xfrm>
            <a:off x="9171432" y="2148840"/>
            <a:ext cx="3200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300" b="1">
                <a:solidFill>
                  <a:srgbClr val="1B8A8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0" name="text-20"/>
          <p:cNvSpPr txBox="1"/>
          <p:nvPr/>
        </p:nvSpPr>
        <p:spPr>
          <a:xfrm>
            <a:off x="9509760" y="2148840"/>
            <a:ext cx="178308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0B1F33"/>
                </a:solidFill>
                <a:latin typeface="Malgun Gothic"/>
                <a:ea typeface="Malgun Gothic"/>
              </a:rPr>
              <a:t>Hybrid fallback</a:t>
            </a:r>
          </a:p>
        </p:txBody>
      </p:sp>
      <p:sp>
        <p:nvSpPr>
          <p:cNvPr id="21" name="text-21"/>
          <p:cNvSpPr txBox="1"/>
          <p:nvPr/>
        </p:nvSpPr>
        <p:spPr>
          <a:xfrm>
            <a:off x="9171432" y="2816352"/>
            <a:ext cx="205740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쉬운 문제와 어려운 문제를 나눌 수 있는가?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9171432" y="3730752"/>
            <a:ext cx="20574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5F6B7A"/>
                </a:solidFill>
                <a:latin typeface="Malgun Gothic"/>
                <a:ea typeface="Malgun Gothic"/>
              </a:rPr>
              <a:t>H1</a:t>
            </a:r>
          </a:p>
        </p:txBody>
      </p:sp>
      <p:sp>
        <p:nvSpPr>
          <p:cNvPr id="24" name="rect-2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-25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원본 설계</a:t>
            </a:r>
          </a:p>
        </p:txBody>
      </p:sp>
      <p:sp>
        <p:nvSpPr>
          <p:cNvPr id="26" name="text-26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7" name="text-27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원본 PPTX 의도 → 결과 해석 프레임</a:t>
            </a:r>
          </a:p>
        </p:txBody>
      </p:sp>
      <p:sp>
        <p:nvSpPr>
          <p:cNvPr id="28" name="text-28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네 가지 설계축 | 판별형-LM-압축-Hybrid | 결과 해석 프레임</a:t>
            </a:r>
          </a:p>
        </p:txBody>
      </p:sp>
      <p:cxnSp>
        <p:nvCxnSpPr>
          <p:cNvPr id="29" name="line-29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30" name="text-30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31" name="text-31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-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438912" y="1417320"/>
            <a:ext cx="2971800" cy="443484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438912" y="1417320"/>
            <a:ext cx="91440" cy="4434840"/>
          </a:xfrm>
          <a:prstGeom prst="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658368" y="1627632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E79A32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60120" y="1618488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기존 최종 원본 평가는 상위 모델이 포화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658368" y="2468880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E79A32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960120" y="2459736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Check-500은 방법론 차이를 더 잘 드러냄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658368" y="3310128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E79A32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960120" y="3300984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두 세트의 목적이 다르므로 직접 일반화는 조심</a:t>
            </a:r>
          </a:p>
        </p:txBody>
      </p:sp>
      <p:sp>
        <p:nvSpPr>
          <p:cNvPr id="10" name="rect-10"/>
          <p:cNvSpPr/>
          <p:nvPr/>
        </p:nvSpPr>
        <p:spPr>
          <a:xfrm>
            <a:off x="3675888" y="1389888"/>
            <a:ext cx="7690104" cy="45354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1" name="13_final_vs_check500_accuracy" descr="13_final_vs_check500_accuracy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3703320" y="1523877"/>
            <a:ext cx="7635240" cy="4267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-1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-14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평가 프레임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6" name="text-16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raw final test와 Check-500 비교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raw final 포화 | Check-500 혼합/hard slice | 방법론 대비</a:t>
            </a:r>
          </a:p>
        </p:txBody>
      </p:sp>
      <p:cxnSp>
        <p:nvCxnSpPr>
          <p:cNvPr id="18" name="line-18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9" name="text-19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20" name="text-20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-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438912" y="1417320"/>
            <a:ext cx="2971800" cy="443484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438912" y="1417320"/>
            <a:ext cx="91440" cy="443484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658368" y="1627632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60120" y="1618488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B0: 63.0%, 185 오류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658368" y="2468880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960120" y="2459736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B2: 58.2%, 학습 scorer도 한계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658368" y="3310128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960120" y="3300984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B3: 97.4%, +34.4pp 상승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658368" y="4151376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960120" y="4142232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첫 극적 대비는 모델 크기가 아니라 읽는 방식</a:t>
            </a:r>
          </a:p>
        </p:txBody>
      </p:sp>
      <p:sp>
        <p:nvSpPr>
          <p:cNvPr id="12" name="rect-12"/>
          <p:cNvSpPr/>
          <p:nvPr/>
        </p:nvSpPr>
        <p:spPr>
          <a:xfrm>
            <a:off x="3675888" y="1389888"/>
            <a:ext cx="7690104" cy="45354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3" name="01_check500_methodology_accuracy" descr="01_check500_methodology_accuracy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3703320" y="1526500"/>
            <a:ext cx="7635240" cy="42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-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-1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결과 1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18" name="text-1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Embedding 단독 기준선의 한계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Embedding 유사도 한계 | Cross-encoder 점프 | 판별 방식 변화</a:t>
            </a:r>
          </a:p>
        </p:txBody>
      </p:sp>
      <p:cxnSp>
        <p:nvCxnSpPr>
          <p:cNvPr id="20" name="line-2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21" name="text-2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-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12648" y="1344168"/>
            <a:ext cx="10981944" cy="4718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" name="05_check500_methodology_stage_ladder" descr="05_check500_methodology_stage_ladder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1926613" y="1371600"/>
            <a:ext cx="8354015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-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-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결과 1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방법론 단계 사다리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유사도 → pairwise 판독 → local LM → 압축</a:t>
            </a:r>
          </a:p>
        </p:txBody>
      </p:sp>
      <p:cxnSp>
        <p:nvCxnSpPr>
          <p:cNvPr id="10" name="line-1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1" name="text-1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-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438912" y="1417320"/>
            <a:ext cx="2971800" cy="443484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438912" y="1417320"/>
            <a:ext cx="91440" cy="4434840"/>
          </a:xfrm>
          <a:prstGeom prst="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658368" y="1627632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C84A3A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60120" y="1618488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Raw/Synonym/Sense/Context는 대부분 포화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658368" y="2468880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C84A3A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960120" y="2459736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Antonym은 모델별 편차가 가장 큼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658368" y="3310128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C84A3A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960120" y="3300984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hard slice가 방법론 차이를 설명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658368" y="4151376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C84A3A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960120" y="4142232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추가 hard evaluation 설계의 근거</a:t>
            </a:r>
          </a:p>
        </p:txBody>
      </p:sp>
      <p:sp>
        <p:nvSpPr>
          <p:cNvPr id="12" name="rect-12"/>
          <p:cNvSpPr/>
          <p:nvPr/>
        </p:nvSpPr>
        <p:spPr>
          <a:xfrm>
            <a:off x="3675888" y="1389888"/>
            <a:ext cx="7690104" cy="45354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3" name="03_check500_task_slice_heatmap" descr="03_check500_task_slice_heatmap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3703320" y="1525768"/>
            <a:ext cx="7635240" cy="426366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-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-1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결과 2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18" name="text-1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평균 Accuracy 뒤의 hard slice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평균 Accuracy 포화 | Antonym hard slice | 모델별 취약점</a:t>
            </a:r>
          </a:p>
        </p:txBody>
      </p:sp>
      <p:cxnSp>
        <p:nvCxnSpPr>
          <p:cNvPr id="20" name="line-2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21" name="text-2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-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12648" y="1344168"/>
            <a:ext cx="7690104" cy="4672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" name="04_check500_antonym_hard_slice" descr="04_check500_antonym_hard_slice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640080" y="1549360"/>
            <a:ext cx="7635240" cy="42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-4"/>
          <p:cNvSpPr/>
          <p:nvPr/>
        </p:nvSpPr>
        <p:spPr>
          <a:xfrm>
            <a:off x="8549640" y="1508760"/>
            <a:ext cx="2834640" cy="4389120"/>
          </a:xfrm>
          <a:prstGeom prst="roundRect">
            <a:avLst/>
          </a:prstGeom>
          <a:solidFill>
            <a:srgbClr val="FFF8F2"/>
          </a:solidFill>
          <a:ln w="9525">
            <a:solidFill>
              <a:srgbClr val="F2D0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5"/>
          <p:cNvSpPr txBox="1"/>
          <p:nvPr/>
        </p:nvSpPr>
        <p:spPr>
          <a:xfrm>
            <a:off x="8796528" y="1737360"/>
            <a:ext cx="233172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400" b="1">
                <a:solidFill>
                  <a:srgbClr val="0B1F33"/>
                </a:solidFill>
                <a:latin typeface="Malgun Gothic"/>
                <a:ea typeface="Malgun Gothic"/>
              </a:rPr>
              <a:t>예시: invoice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8796528" y="2148840"/>
            <a:ext cx="2331720" cy="22402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000">
                <a:solidFill>
                  <a:srgbClr val="111827"/>
                </a:solidFill>
                <a:latin typeface="Malgun Gothic"/>
                <a:ea typeface="Malgun Gothic"/>
              </a:rPr>
              <a:t>문장: The supplier agreed to invoice the client...</a:t>
            </a:r>
          </a:p>
          <a:p>
            <a:pPr algn="l">
              <a:lnSpc>
                <a:spcPct val="100000"/>
              </a:lnSpc>
            </a:pPr>
            <a:r>
              <a:rPr lang="ko-KR" sz="1000">
                <a:solidFill>
                  <a:srgbClr val="111827"/>
                </a:solidFill>
                <a:latin typeface="Malgun Gothic"/>
                <a:ea typeface="Malgun Gothic"/>
              </a:rPr>
              <a:t>반대 관계: invoice ↔ pay</a:t>
            </a:r>
          </a:p>
          <a:p>
            <a:pPr algn="l">
              <a:lnSpc>
                <a:spcPct val="100000"/>
              </a:lnSpc>
            </a:pPr>
            <a:r>
              <a:rPr lang="ko-KR" sz="1000">
                <a:solidFill>
                  <a:srgbClr val="111827"/>
                </a:solidFill>
                <a:latin typeface="Malgun Gothic"/>
                <a:ea typeface="Malgun Gothic"/>
              </a:rPr>
              <a:t>혼동 후보: bill / charge / collect</a:t>
            </a:r>
          </a:p>
          <a:p>
            <a:pPr algn="l">
              <a:lnSpc>
                <a:spcPct val="100000"/>
              </a:lnSpc>
            </a:pPr>
            <a:r>
              <a:rPr lang="ko-KR" sz="1000">
                <a:solidFill>
                  <a:srgbClr val="111827"/>
                </a:solidFill>
                <a:latin typeface="Malgun Gothic"/>
                <a:ea typeface="Malgun Gothic"/>
              </a:rPr>
              <a:t>왜 어려운가: bill·charge는 invoice와 매우 가깝고, collect도 결제 맥락에 있어 헷갈린다.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8796528" y="4736592"/>
            <a:ext cx="233172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C84A3A"/>
                </a:solidFill>
                <a:latin typeface="Malgun Gothic"/>
                <a:ea typeface="Malgun Gothic"/>
              </a:rPr>
              <a:t>해석: 단순 유사도나 option 점수화는 '반대 관계'를 잘 못 잡을 수 있다.</a:t>
            </a:r>
          </a:p>
        </p:txBody>
      </p:sp>
      <p:sp>
        <p:nvSpPr>
          <p:cNvPr id="9" name="rect-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-10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결과 2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Antonym 구간이 실제 stress test</a:t>
            </a:r>
          </a:p>
        </p:txBody>
      </p:sp>
      <p:sp>
        <p:nvSpPr>
          <p:cNvPr id="13" name="text-13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Antonym stress test | hard slice 격차 | G3 품질 상한</a:t>
            </a:r>
          </a:p>
        </p:txBody>
      </p:sp>
      <p:cxnSp>
        <p:nvCxnSpPr>
          <p:cNvPr id="14" name="line-14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5" name="text-15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6" name="text-16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-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438912" y="1417320"/>
            <a:ext cx="2971800" cy="443484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438912" y="1417320"/>
            <a:ext cx="91440" cy="4434840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658368" y="1627632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3A9D5D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60120" y="1618488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G3: 99.2%, 2.52s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658368" y="2468880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3A9D5D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960120" y="2459736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G5 1.5B: 97.6%, 341ms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658368" y="3310128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3A9D5D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960120" y="3300984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G5 0.5B: 96.6%, 987MB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658368" y="4151376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3A9D5D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960120" y="4142232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Accuracy-latency-memory footprint을 동시에 비교</a:t>
            </a:r>
          </a:p>
        </p:txBody>
      </p:sp>
      <p:sp>
        <p:nvSpPr>
          <p:cNvPr id="12" name="rect-12"/>
          <p:cNvSpPr/>
          <p:nvPr/>
        </p:nvSpPr>
        <p:spPr>
          <a:xfrm>
            <a:off x="3675888" y="1389888"/>
            <a:ext cx="7690104" cy="45354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3" name="02_check500_accuracy_latency_memory_frontier" descr="02_check500_accuracy_latency_memory_frontier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3703320" y="1510601"/>
            <a:ext cx="7635240" cy="429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-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-1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결과 3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18" name="text-1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Accuracy-latency-memory boundary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Accuracy | latency | memory footprint</a:t>
            </a:r>
          </a:p>
        </p:txBody>
      </p:sp>
      <p:cxnSp>
        <p:nvCxnSpPr>
          <p:cNvPr id="20" name="line-2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21" name="text-2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-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12648" y="1344168"/>
            <a:ext cx="10981944" cy="4718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" name="14_check500_runtime_cost_by_method" descr="14_check500_runtime_cost_by_method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1926613" y="1371600"/>
            <a:ext cx="8354015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-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-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결과 3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Runtime이 배포 판단을 만든다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500개 runtime | local runtime 차이 | 운영 비용</a:t>
            </a:r>
          </a:p>
        </p:txBody>
      </p:sp>
      <p:cxnSp>
        <p:nvCxnSpPr>
          <p:cNvPr id="10" name="line-1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1" name="text-1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-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438912" y="1417320"/>
            <a:ext cx="2971800" cy="443484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438912" y="1417320"/>
            <a:ext cx="91440" cy="4434840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658368" y="1627632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7F63B8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60120" y="1618488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Accuracy: 맞혔는가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658368" y="2468880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7F63B8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960120" y="2459736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ECE: 자신감이 믿을 만한가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658368" y="3310128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7F63B8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960120" y="3300984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strict parsing 오류: answer contract를 지켰는가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658368" y="4151376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7F63B8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960120" y="4142232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서비스 채점기는 세 지표를 함께 봐야 함</a:t>
            </a:r>
          </a:p>
        </p:txBody>
      </p:sp>
      <p:sp>
        <p:nvSpPr>
          <p:cNvPr id="12" name="rect-12"/>
          <p:cNvSpPr/>
          <p:nvPr/>
        </p:nvSpPr>
        <p:spPr>
          <a:xfrm>
            <a:off x="3675888" y="1389888"/>
            <a:ext cx="7690104" cy="45354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3" name="07_check500_calibration_contract" descr="07_check500_calibration_contract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3703320" y="1526500"/>
            <a:ext cx="7635240" cy="42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-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-1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결과 4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18" name="text-1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Reliability는 Accuracy와 다르다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Accuracy | Calibration | output contract</a:t>
            </a:r>
          </a:p>
        </p:txBody>
      </p:sp>
      <p:cxnSp>
        <p:nvCxnSpPr>
          <p:cNvPr id="20" name="line-2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21" name="text-2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-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12648" y="1344168"/>
            <a:ext cx="10981944" cy="4718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" name="08_check500_hybrid_routing" descr="08_check500_hybrid_routing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1928048" y="1371600"/>
            <a:ext cx="8351145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-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-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결과 5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Hybrid routing은 운영 policy 실험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confidence routing | local fallback | 비용-품질 policy</a:t>
            </a:r>
          </a:p>
        </p:txBody>
      </p:sp>
      <p:cxnSp>
        <p:nvCxnSpPr>
          <p:cNvPr id="10" name="line-1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1" name="text-1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-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438912" y="1417320"/>
            <a:ext cx="2971800" cy="443484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438912" y="1417320"/>
            <a:ext cx="91440" cy="443484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658368" y="1627632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60120" y="1618488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B0 → B3/G5: +33~35pp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658368" y="2468880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960120" y="2459736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B3 대비 G5 0.5B: 차이 작고 유의하지 않음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658368" y="3310128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960120" y="3300984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G3는 상위권에서도 품질 이점 존재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658368" y="4151376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960120" y="4142232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통계 결과는 비용 판단과 함께 해석</a:t>
            </a:r>
          </a:p>
        </p:txBody>
      </p:sp>
      <p:sp>
        <p:nvSpPr>
          <p:cNvPr id="12" name="rect-12"/>
          <p:cNvSpPr/>
          <p:nvPr/>
        </p:nvSpPr>
        <p:spPr>
          <a:xfrm>
            <a:off x="3675888" y="1389888"/>
            <a:ext cx="7690104" cy="45354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3" name="06_check500_pairwise_delta_ci" descr="06_check500_pairwise_delta_ci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3703320" y="1520363"/>
            <a:ext cx="7635240" cy="4274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-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-1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통계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18" name="text-1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paired statistics: 실제 차이가 있는 개선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paired comparison | B0 대비 점프 | 상위권 차이 검정</a:t>
            </a:r>
          </a:p>
        </p:txBody>
      </p:sp>
      <p:cxnSp>
        <p:nvCxnSpPr>
          <p:cNvPr id="20" name="line-2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21" name="text-2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-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12648" y="1344168"/>
            <a:ext cx="10981944" cy="4718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" name="10_finaltest_original_methodology_accuracy" descr="10_finaltest_original_methodology_accuracy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1929182" y="1371600"/>
            <a:ext cx="8348877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-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-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raw final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raw final test 결과 지형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raw final test | 상위 모델 포화 | 방법론 대비 제한</a:t>
            </a:r>
          </a:p>
        </p:txBody>
      </p:sp>
      <p:cxnSp>
        <p:nvCxnSpPr>
          <p:cNvPr id="10" name="line-1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1" name="text-1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-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438912" y="1417320"/>
            <a:ext cx="2971800" cy="443484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438912" y="1417320"/>
            <a:ext cx="91440" cy="4434840"/>
          </a:xfrm>
          <a:prstGeom prst="rect">
            <a:avLst/>
          </a:prstGeom>
          <a:solidFill>
            <a:srgbClr val="356EA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658368" y="1627632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356EA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60120" y="1618488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raw final에서는 LM Accuracy가 이미 높음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658368" y="2468880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356EA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960120" y="2459736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zero-shot의 confidence는 불안정할 수 있음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658368" y="3310128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356EA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960120" y="3300984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SFT/KD는 reliability 관점에서 의미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658368" y="4151376"/>
            <a:ext cx="3200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356EA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960120" y="4142232"/>
            <a:ext cx="2176272" cy="50292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1100">
                <a:solidFill>
                  <a:srgbClr val="111827"/>
                </a:solidFill>
                <a:latin typeface="Malgun Gothic"/>
                <a:ea typeface="Malgun Gothic"/>
              </a:rPr>
              <a:t>압축 모델은 deployability 관점에서 의미</a:t>
            </a:r>
          </a:p>
        </p:txBody>
      </p:sp>
      <p:sp>
        <p:nvSpPr>
          <p:cNvPr id="12" name="rect-12"/>
          <p:cNvSpPr/>
          <p:nvPr/>
        </p:nvSpPr>
        <p:spPr>
          <a:xfrm>
            <a:off x="3675888" y="1389888"/>
            <a:ext cx="7690104" cy="45354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3" name="11_finaltest_lm_stage_accuracy_ece" descr="11_finaltest_lm_stage_accuracy_ece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3703320" y="1525921"/>
            <a:ext cx="7635240" cy="4263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-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-1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LM 경로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18" name="text-1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LM 단계: Accuracy 포화 이후 reliability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LM Accuracy 포화 | confidence 안정성 | 출력 안정성</a:t>
            </a:r>
          </a:p>
        </p:txBody>
      </p:sp>
      <p:cxnSp>
        <p:nvCxnSpPr>
          <p:cNvPr id="20" name="line-2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21" name="text-2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-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12648" y="1344168"/>
            <a:ext cx="10981944" cy="4718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" name="12_finaltest_compression_boundary" descr="12_finaltest_compression_boundary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1953560" y="1371600"/>
            <a:ext cx="830012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-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-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압축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압축 boundary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소형 local LM | 4bit runtime | deployment boundary</a:t>
            </a:r>
          </a:p>
        </p:txBody>
      </p:sp>
      <p:cxnSp>
        <p:nvCxnSpPr>
          <p:cNvPr id="10" name="line-1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1" name="text-1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-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-2"/>
          <p:cNvSpPr txBox="1"/>
          <p:nvPr/>
        </p:nvSpPr>
        <p:spPr>
          <a:xfrm>
            <a:off x="4041648" y="2834640"/>
            <a:ext cx="4114800" cy="82296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400" b="1">
                <a:solidFill>
                  <a:srgbClr val="0B1F33"/>
                </a:solidFill>
                <a:latin typeface="Malgun Gothic"/>
                <a:ea typeface="Malgun Gothic"/>
              </a:rPr>
              <a:t>부록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-5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566928" y="1572768"/>
            <a:ext cx="1847088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566928" y="1572768"/>
            <a:ext cx="73152" cy="960120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731520" y="1728216"/>
            <a:ext cx="1572768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3A9D5D"/>
                </a:solidFill>
                <a:latin typeface="Malgun Gothic"/>
                <a:ea typeface="Malgun Gothic"/>
              </a:rPr>
              <a:t>원본 GT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731520" y="2029968"/>
            <a:ext cx="1572768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단어 / 뜻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4지선다 MCQ</a:t>
            </a:r>
          </a:p>
        </p:txBody>
      </p:sp>
      <p:cxnSp>
        <p:nvCxnSpPr>
          <p:cNvPr id="6" name="line-6"/>
          <p:cNvCxnSpPr/>
          <p:nvPr/>
        </p:nvCxnSpPr>
        <p:spPr>
          <a:xfrm>
            <a:off x="2468880" y="2048256"/>
            <a:ext cx="23774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7" name="line-7"/>
          <p:cNvCxnSpPr/>
          <p:nvPr/>
        </p:nvCxnSpPr>
        <p:spPr>
          <a:xfrm>
            <a:off x="2615184" y="199339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8" name="line-8"/>
          <p:cNvCxnSpPr/>
          <p:nvPr/>
        </p:nvCxnSpPr>
        <p:spPr>
          <a:xfrm>
            <a:off x="2615184" y="204825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9" name="rect-9"/>
          <p:cNvSpPr/>
          <p:nvPr/>
        </p:nvSpPr>
        <p:spPr>
          <a:xfrm>
            <a:off x="2834640" y="1572768"/>
            <a:ext cx="1847088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-10"/>
          <p:cNvSpPr/>
          <p:nvPr/>
        </p:nvSpPr>
        <p:spPr>
          <a:xfrm>
            <a:off x="2834640" y="1572768"/>
            <a:ext cx="73152" cy="960120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-11"/>
          <p:cNvSpPr txBox="1"/>
          <p:nvPr/>
        </p:nvSpPr>
        <p:spPr>
          <a:xfrm>
            <a:off x="2999232" y="1728216"/>
            <a:ext cx="1572768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7F63B8"/>
                </a:solidFill>
                <a:latin typeface="Malgun Gothic"/>
                <a:ea typeface="Malgun Gothic"/>
              </a:rPr>
              <a:t>증강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2999232" y="2029968"/>
            <a:ext cx="1572768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Synonym / Sense Disambiguation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Antonym / Context Cloze</a:t>
            </a:r>
          </a:p>
        </p:txBody>
      </p:sp>
      <p:cxnSp>
        <p:nvCxnSpPr>
          <p:cNvPr id="13" name="line-13"/>
          <p:cNvCxnSpPr/>
          <p:nvPr/>
        </p:nvCxnSpPr>
        <p:spPr>
          <a:xfrm>
            <a:off x="4736592" y="2048256"/>
            <a:ext cx="23774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4" name="line-14"/>
          <p:cNvCxnSpPr/>
          <p:nvPr/>
        </p:nvCxnSpPr>
        <p:spPr>
          <a:xfrm>
            <a:off x="4882896" y="199339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5" name="line-15"/>
          <p:cNvCxnSpPr/>
          <p:nvPr/>
        </p:nvCxnSpPr>
        <p:spPr>
          <a:xfrm>
            <a:off x="4882896" y="204825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16" name="rect-16"/>
          <p:cNvSpPr/>
          <p:nvPr/>
        </p:nvSpPr>
        <p:spPr>
          <a:xfrm>
            <a:off x="5102352" y="1572768"/>
            <a:ext cx="1847088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ect-17"/>
          <p:cNvSpPr/>
          <p:nvPr/>
        </p:nvSpPr>
        <p:spPr>
          <a:xfrm>
            <a:off x="5102352" y="1572768"/>
            <a:ext cx="73152" cy="960120"/>
          </a:xfrm>
          <a:prstGeom prst="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-18"/>
          <p:cNvSpPr txBox="1"/>
          <p:nvPr/>
        </p:nvSpPr>
        <p:spPr>
          <a:xfrm>
            <a:off x="5266944" y="1728216"/>
            <a:ext cx="1572768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E79A32"/>
                </a:solidFill>
                <a:latin typeface="Malgun Gothic"/>
                <a:ea typeface="Malgun Gothic"/>
              </a:rPr>
              <a:t>검증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5266944" y="2029968"/>
            <a:ext cx="1572768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auto filter +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judge validation</a:t>
            </a:r>
          </a:p>
        </p:txBody>
      </p:sp>
      <p:cxnSp>
        <p:nvCxnSpPr>
          <p:cNvPr id="20" name="line-20"/>
          <p:cNvCxnSpPr/>
          <p:nvPr/>
        </p:nvCxnSpPr>
        <p:spPr>
          <a:xfrm>
            <a:off x="7004304" y="2048256"/>
            <a:ext cx="23774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1" name="line-21"/>
          <p:cNvCxnSpPr/>
          <p:nvPr/>
        </p:nvCxnSpPr>
        <p:spPr>
          <a:xfrm>
            <a:off x="7150608" y="199339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2" name="line-22"/>
          <p:cNvCxnSpPr/>
          <p:nvPr/>
        </p:nvCxnSpPr>
        <p:spPr>
          <a:xfrm>
            <a:off x="7150608" y="204825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3" name="rect-23"/>
          <p:cNvSpPr/>
          <p:nvPr/>
        </p:nvSpPr>
        <p:spPr>
          <a:xfrm>
            <a:off x="7370064" y="1572768"/>
            <a:ext cx="1847088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ect-24"/>
          <p:cNvSpPr/>
          <p:nvPr/>
        </p:nvSpPr>
        <p:spPr>
          <a:xfrm>
            <a:off x="7370064" y="1572768"/>
            <a:ext cx="73152" cy="96012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-25"/>
          <p:cNvSpPr txBox="1"/>
          <p:nvPr/>
        </p:nvSpPr>
        <p:spPr>
          <a:xfrm>
            <a:off x="7534656" y="1728216"/>
            <a:ext cx="1572768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1B8A8F"/>
                </a:solidFill>
                <a:latin typeface="Malgun Gothic"/>
                <a:ea typeface="Malgun Gothic"/>
              </a:rPr>
              <a:t>확인용 부분집합</a:t>
            </a:r>
          </a:p>
        </p:txBody>
      </p:sp>
      <p:sp>
        <p:nvSpPr>
          <p:cNvPr id="26" name="text-26"/>
          <p:cNvSpPr txBox="1"/>
          <p:nvPr/>
        </p:nvSpPr>
        <p:spPr>
          <a:xfrm>
            <a:off x="7534656" y="2029968"/>
            <a:ext cx="1572768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500개 test items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raw + generated</a:t>
            </a:r>
          </a:p>
        </p:txBody>
      </p:sp>
      <p:cxnSp>
        <p:nvCxnSpPr>
          <p:cNvPr id="27" name="line-27"/>
          <p:cNvCxnSpPr/>
          <p:nvPr/>
        </p:nvCxnSpPr>
        <p:spPr>
          <a:xfrm>
            <a:off x="9272016" y="2048256"/>
            <a:ext cx="23774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8" name="line-28"/>
          <p:cNvCxnSpPr/>
          <p:nvPr/>
        </p:nvCxnSpPr>
        <p:spPr>
          <a:xfrm>
            <a:off x="9418320" y="199339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9" name="line-29"/>
          <p:cNvCxnSpPr/>
          <p:nvPr/>
        </p:nvCxnSpPr>
        <p:spPr>
          <a:xfrm>
            <a:off x="9418320" y="204825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30" name="rect-30"/>
          <p:cNvSpPr/>
          <p:nvPr/>
        </p:nvSpPr>
        <p:spPr>
          <a:xfrm>
            <a:off x="9637776" y="1572768"/>
            <a:ext cx="1847088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ect-31"/>
          <p:cNvSpPr/>
          <p:nvPr/>
        </p:nvSpPr>
        <p:spPr>
          <a:xfrm>
            <a:off x="9637776" y="1572768"/>
            <a:ext cx="73152" cy="960120"/>
          </a:xfrm>
          <a:prstGeom prst="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-32"/>
          <p:cNvSpPr txBox="1"/>
          <p:nvPr/>
        </p:nvSpPr>
        <p:spPr>
          <a:xfrm>
            <a:off x="9802368" y="1728216"/>
            <a:ext cx="1572768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C84A3A"/>
                </a:solidFill>
                <a:latin typeface="Malgun Gothic"/>
                <a:ea typeface="Malgun Gothic"/>
              </a:rPr>
              <a:t>local run</a:t>
            </a:r>
          </a:p>
        </p:txBody>
      </p:sp>
      <p:sp>
        <p:nvSpPr>
          <p:cNvPr id="33" name="text-33"/>
          <p:cNvSpPr txBox="1"/>
          <p:nvPr/>
        </p:nvSpPr>
        <p:spPr>
          <a:xfrm>
            <a:off x="9802368" y="2029968"/>
            <a:ext cx="1572768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B / G / H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No-API check</a:t>
            </a:r>
          </a:p>
        </p:txBody>
      </p:sp>
      <p:sp>
        <p:nvSpPr>
          <p:cNvPr id="34" name="rect-34"/>
          <p:cNvSpPr/>
          <p:nvPr/>
        </p:nvSpPr>
        <p:spPr>
          <a:xfrm>
            <a:off x="566928" y="3090672"/>
            <a:ext cx="1092708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rect-35"/>
          <p:cNvSpPr/>
          <p:nvPr/>
        </p:nvSpPr>
        <p:spPr>
          <a:xfrm>
            <a:off x="841248" y="3456432"/>
            <a:ext cx="2267712" cy="14813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-36"/>
          <p:cNvSpPr txBox="1"/>
          <p:nvPr/>
        </p:nvSpPr>
        <p:spPr>
          <a:xfrm>
            <a:off x="978408" y="3639312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B 계열</a:t>
            </a:r>
          </a:p>
        </p:txBody>
      </p:sp>
      <p:sp>
        <p:nvSpPr>
          <p:cNvPr id="37" name="text-37"/>
          <p:cNvSpPr txBox="1"/>
          <p:nvPr/>
        </p:nvSpPr>
        <p:spPr>
          <a:xfrm>
            <a:off x="978408" y="3931920"/>
            <a:ext cx="19202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판별형 점수화</a:t>
            </a:r>
          </a:p>
        </p:txBody>
      </p:sp>
      <p:sp>
        <p:nvSpPr>
          <p:cNvPr id="38" name="text-38"/>
          <p:cNvSpPr txBox="1"/>
          <p:nvPr/>
        </p:nvSpPr>
        <p:spPr>
          <a:xfrm>
            <a:off x="978408" y="4224528"/>
            <a:ext cx="192024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600">
                <a:solidFill>
                  <a:srgbClr val="111827"/>
                </a:solidFill>
                <a:latin typeface="Malgun Gothic"/>
                <a:ea typeface="Malgun Gothic"/>
              </a:rPr>
              <a:t>B0 유사도, B2 scorer 재사용, B3 pairwise Cross-encoder</a:t>
            </a:r>
          </a:p>
        </p:txBody>
      </p:sp>
      <p:sp>
        <p:nvSpPr>
          <p:cNvPr id="39" name="rect-39"/>
          <p:cNvSpPr/>
          <p:nvPr/>
        </p:nvSpPr>
        <p:spPr>
          <a:xfrm>
            <a:off x="3474720" y="3456432"/>
            <a:ext cx="2267712" cy="14813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-40"/>
          <p:cNvSpPr txBox="1"/>
          <p:nvPr/>
        </p:nvSpPr>
        <p:spPr>
          <a:xfrm>
            <a:off x="3611880" y="3639312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3A9D5D"/>
                </a:solidFill>
                <a:latin typeface="Malgun Gothic"/>
                <a:ea typeface="Malgun Gothic"/>
              </a:rPr>
              <a:t>G 계열</a:t>
            </a:r>
          </a:p>
        </p:txBody>
      </p:sp>
      <p:sp>
        <p:nvSpPr>
          <p:cNvPr id="41" name="text-41"/>
          <p:cNvSpPr txBox="1"/>
          <p:nvPr/>
        </p:nvSpPr>
        <p:spPr>
          <a:xfrm>
            <a:off x="3611880" y="3931920"/>
            <a:ext cx="19202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local LM과 adapter</a:t>
            </a:r>
          </a:p>
        </p:txBody>
      </p:sp>
      <p:sp>
        <p:nvSpPr>
          <p:cNvPr id="42" name="text-42"/>
          <p:cNvSpPr txBox="1"/>
          <p:nvPr/>
        </p:nvSpPr>
        <p:spPr>
          <a:xfrm>
            <a:off x="3611880" y="4224528"/>
            <a:ext cx="192024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600">
                <a:solidFill>
                  <a:srgbClr val="111827"/>
                </a:solidFill>
                <a:latin typeface="Malgun Gothic"/>
                <a:ea typeface="Malgun Gothic"/>
              </a:rPr>
              <a:t>G3 품질 상한, G4 4bit 로딩, G5 소형 local SFT adapter</a:t>
            </a:r>
          </a:p>
        </p:txBody>
      </p:sp>
      <p:sp>
        <p:nvSpPr>
          <p:cNvPr id="43" name="rect-43"/>
          <p:cNvSpPr/>
          <p:nvPr/>
        </p:nvSpPr>
        <p:spPr>
          <a:xfrm>
            <a:off x="6108192" y="3456432"/>
            <a:ext cx="2267712" cy="14813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-44"/>
          <p:cNvSpPr txBox="1"/>
          <p:nvPr/>
        </p:nvSpPr>
        <p:spPr>
          <a:xfrm>
            <a:off x="6245352" y="3639312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E79A32"/>
                </a:solidFill>
                <a:latin typeface="Malgun Gothic"/>
                <a:ea typeface="Malgun Gothic"/>
              </a:rPr>
              <a:t>H 계열</a:t>
            </a:r>
          </a:p>
        </p:txBody>
      </p:sp>
      <p:sp>
        <p:nvSpPr>
          <p:cNvPr id="45" name="text-45"/>
          <p:cNvSpPr txBox="1"/>
          <p:nvPr/>
        </p:nvSpPr>
        <p:spPr>
          <a:xfrm>
            <a:off x="6245352" y="3931920"/>
            <a:ext cx="19202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routing policy</a:t>
            </a:r>
          </a:p>
        </p:txBody>
      </p:sp>
      <p:sp>
        <p:nvSpPr>
          <p:cNvPr id="46" name="text-46"/>
          <p:cNvSpPr txBox="1"/>
          <p:nvPr/>
        </p:nvSpPr>
        <p:spPr>
          <a:xfrm>
            <a:off x="6245352" y="4224528"/>
            <a:ext cx="192024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600">
                <a:solidFill>
                  <a:srgbClr val="111827"/>
                </a:solidFill>
                <a:latin typeface="Malgun Gothic"/>
                <a:ea typeface="Malgun Gothic"/>
              </a:rPr>
              <a:t>B0 confidence gate 기반 기존 B3/G5 prediction</a:t>
            </a:r>
          </a:p>
        </p:txBody>
      </p:sp>
      <p:sp>
        <p:nvSpPr>
          <p:cNvPr id="47" name="rect-47"/>
          <p:cNvSpPr/>
          <p:nvPr/>
        </p:nvSpPr>
        <p:spPr>
          <a:xfrm>
            <a:off x="8741664" y="3456432"/>
            <a:ext cx="2267712" cy="14813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-48"/>
          <p:cNvSpPr txBox="1"/>
          <p:nvPr/>
        </p:nvSpPr>
        <p:spPr>
          <a:xfrm>
            <a:off x="8878824" y="3639312"/>
            <a:ext cx="1920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7F63B8"/>
                </a:solidFill>
                <a:latin typeface="Malgun Gothic"/>
                <a:ea typeface="Malgun Gothic"/>
              </a:rPr>
              <a:t>지표</a:t>
            </a:r>
          </a:p>
        </p:txBody>
      </p:sp>
      <p:sp>
        <p:nvSpPr>
          <p:cNvPr id="49" name="text-49"/>
          <p:cNvSpPr txBox="1"/>
          <p:nvPr/>
        </p:nvSpPr>
        <p:spPr>
          <a:xfrm>
            <a:off x="8878824" y="3931920"/>
            <a:ext cx="19202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집계 근거만 사용</a:t>
            </a:r>
          </a:p>
        </p:txBody>
      </p:sp>
      <p:sp>
        <p:nvSpPr>
          <p:cNvPr id="50" name="text-50"/>
          <p:cNvSpPr txBox="1"/>
          <p:nvPr/>
        </p:nvSpPr>
        <p:spPr>
          <a:xfrm>
            <a:off x="8878824" y="4224528"/>
            <a:ext cx="192024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600">
                <a:solidFill>
                  <a:srgbClr val="111827"/>
                </a:solidFill>
                <a:latin typeface="Malgun Gothic"/>
                <a:ea typeface="Malgun Gothic"/>
              </a:rPr>
              <a:t>Accuracy, task slice, ECE, strict parsing, p50 latency, memory, paired statistics</a:t>
            </a:r>
          </a:p>
        </p:txBody>
      </p:sp>
      <p:sp>
        <p:nvSpPr>
          <p:cNvPr id="51" name="rect-51"/>
          <p:cNvSpPr/>
          <p:nvPr/>
        </p:nvSpPr>
        <p:spPr>
          <a:xfrm>
            <a:off x="841248" y="5157216"/>
            <a:ext cx="14173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text-52"/>
          <p:cNvSpPr txBox="1"/>
          <p:nvPr/>
        </p:nvSpPr>
        <p:spPr>
          <a:xfrm>
            <a:off x="932688" y="5239512"/>
            <a:ext cx="1234440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설계 근거</a:t>
            </a:r>
          </a:p>
        </p:txBody>
      </p:sp>
      <p:sp>
        <p:nvSpPr>
          <p:cNvPr id="53" name="rect-53"/>
          <p:cNvSpPr/>
          <p:nvPr/>
        </p:nvSpPr>
        <p:spPr>
          <a:xfrm>
            <a:off x="2395728" y="5157216"/>
            <a:ext cx="14173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text-54"/>
          <p:cNvSpPr txBox="1"/>
          <p:nvPr/>
        </p:nvSpPr>
        <p:spPr>
          <a:xfrm>
            <a:off x="2487168" y="5239512"/>
            <a:ext cx="1234440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모델 구조</a:t>
            </a:r>
          </a:p>
        </p:txBody>
      </p:sp>
      <p:sp>
        <p:nvSpPr>
          <p:cNvPr id="55" name="rect-55"/>
          <p:cNvSpPr/>
          <p:nvPr/>
        </p:nvSpPr>
        <p:spPr>
          <a:xfrm>
            <a:off x="3950208" y="5157216"/>
            <a:ext cx="14173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-56"/>
          <p:cNvSpPr txBox="1"/>
          <p:nvPr/>
        </p:nvSpPr>
        <p:spPr>
          <a:xfrm>
            <a:off x="4041648" y="5239512"/>
            <a:ext cx="1234440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집계 지표</a:t>
            </a:r>
          </a:p>
        </p:txBody>
      </p:sp>
      <p:sp>
        <p:nvSpPr>
          <p:cNvPr id="57" name="rect-57"/>
          <p:cNvSpPr/>
          <p:nvPr/>
        </p:nvSpPr>
        <p:spPr>
          <a:xfrm>
            <a:off x="5504688" y="5157216"/>
            <a:ext cx="14173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text-58"/>
          <p:cNvSpPr txBox="1"/>
          <p:nvPr/>
        </p:nvSpPr>
        <p:spPr>
          <a:xfrm>
            <a:off x="5596128" y="5239512"/>
            <a:ext cx="1234440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C84A3A"/>
                </a:solidFill>
                <a:latin typeface="Malgun Gothic"/>
                <a:ea typeface="Malgun Gothic"/>
              </a:rPr>
              <a:t>표시된 한계</a:t>
            </a:r>
          </a:p>
        </p:txBody>
      </p:sp>
      <p:sp>
        <p:nvSpPr>
          <p:cNvPr id="60" name="rect-6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ext-61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62" name="text-62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3" name="text-63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실험 설계 부록 지도</a:t>
            </a:r>
          </a:p>
        </p:txBody>
      </p:sp>
      <p:sp>
        <p:nvSpPr>
          <p:cNvPr id="64" name="text-64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데이터 구성 | 모델군 | 평가 절차 | 근거 범위</a:t>
            </a:r>
          </a:p>
        </p:txBody>
      </p:sp>
      <p:cxnSp>
        <p:nvCxnSpPr>
          <p:cNvPr id="65" name="line-65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66" name="text-66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67" name="text-67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-8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566928" y="1481328"/>
            <a:ext cx="1810512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566928" y="1481328"/>
            <a:ext cx="73152" cy="960120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731520" y="1636776"/>
            <a:ext cx="1536192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3A9D5D"/>
                </a:solidFill>
                <a:latin typeface="Malgun Gothic"/>
                <a:ea typeface="Malgun Gothic"/>
              </a:rPr>
              <a:t>원본 anchor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731520" y="1938528"/>
            <a:ext cx="1536192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단어 / 품사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뜻</a:t>
            </a:r>
          </a:p>
        </p:txBody>
      </p:sp>
      <p:cxnSp>
        <p:nvCxnSpPr>
          <p:cNvPr id="6" name="line-6"/>
          <p:cNvCxnSpPr/>
          <p:nvPr/>
        </p:nvCxnSpPr>
        <p:spPr>
          <a:xfrm>
            <a:off x="2432304" y="1956816"/>
            <a:ext cx="265176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7" name="line-7"/>
          <p:cNvCxnSpPr/>
          <p:nvPr/>
        </p:nvCxnSpPr>
        <p:spPr>
          <a:xfrm>
            <a:off x="2606040" y="19019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8" name="line-8"/>
          <p:cNvCxnSpPr/>
          <p:nvPr/>
        </p:nvCxnSpPr>
        <p:spPr>
          <a:xfrm>
            <a:off x="2606040" y="195681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9" name="rect-9"/>
          <p:cNvSpPr/>
          <p:nvPr/>
        </p:nvSpPr>
        <p:spPr>
          <a:xfrm>
            <a:off x="2779776" y="1481328"/>
            <a:ext cx="1810512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-10"/>
          <p:cNvSpPr/>
          <p:nvPr/>
        </p:nvSpPr>
        <p:spPr>
          <a:xfrm>
            <a:off x="2779776" y="1481328"/>
            <a:ext cx="73152" cy="960120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-11"/>
          <p:cNvSpPr txBox="1"/>
          <p:nvPr/>
        </p:nvSpPr>
        <p:spPr>
          <a:xfrm>
            <a:off x="2944368" y="1636776"/>
            <a:ext cx="1536192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7F63B8"/>
                </a:solidFill>
                <a:latin typeface="Malgun Gothic"/>
                <a:ea typeface="Malgun Gothic"/>
              </a:rPr>
              <a:t>task 생성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2944368" y="1938528"/>
            <a:ext cx="1536192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Synonym / Sense Disambiguation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Antonym / Context Cloze</a:t>
            </a:r>
          </a:p>
        </p:txBody>
      </p:sp>
      <p:cxnSp>
        <p:nvCxnSpPr>
          <p:cNvPr id="13" name="line-13"/>
          <p:cNvCxnSpPr/>
          <p:nvPr/>
        </p:nvCxnSpPr>
        <p:spPr>
          <a:xfrm>
            <a:off x="4645152" y="1956816"/>
            <a:ext cx="265176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4" name="line-14"/>
          <p:cNvCxnSpPr/>
          <p:nvPr/>
        </p:nvCxnSpPr>
        <p:spPr>
          <a:xfrm>
            <a:off x="4818888" y="19019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5" name="line-15"/>
          <p:cNvCxnSpPr/>
          <p:nvPr/>
        </p:nvCxnSpPr>
        <p:spPr>
          <a:xfrm>
            <a:off x="4818888" y="195681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16" name="rect-16"/>
          <p:cNvSpPr/>
          <p:nvPr/>
        </p:nvSpPr>
        <p:spPr>
          <a:xfrm>
            <a:off x="4992624" y="1481328"/>
            <a:ext cx="1810512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ect-17"/>
          <p:cNvSpPr/>
          <p:nvPr/>
        </p:nvSpPr>
        <p:spPr>
          <a:xfrm>
            <a:off x="4992624" y="1481328"/>
            <a:ext cx="73152" cy="960120"/>
          </a:xfrm>
          <a:prstGeom prst="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-18"/>
          <p:cNvSpPr txBox="1"/>
          <p:nvPr/>
        </p:nvSpPr>
        <p:spPr>
          <a:xfrm>
            <a:off x="5157216" y="1636776"/>
            <a:ext cx="1536192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E79A32"/>
                </a:solidFill>
                <a:latin typeface="Malgun Gothic"/>
                <a:ea typeface="Malgun Gothic"/>
              </a:rPr>
              <a:t>auto filter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5157216" y="1938528"/>
            <a:ext cx="1536192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형식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teacher score</a:t>
            </a:r>
          </a:p>
        </p:txBody>
      </p:sp>
      <p:cxnSp>
        <p:nvCxnSpPr>
          <p:cNvPr id="20" name="line-20"/>
          <p:cNvCxnSpPr/>
          <p:nvPr/>
        </p:nvCxnSpPr>
        <p:spPr>
          <a:xfrm>
            <a:off x="6858000" y="1956816"/>
            <a:ext cx="265176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1" name="line-21"/>
          <p:cNvCxnSpPr/>
          <p:nvPr/>
        </p:nvCxnSpPr>
        <p:spPr>
          <a:xfrm>
            <a:off x="7031736" y="19019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2" name="line-22"/>
          <p:cNvCxnSpPr/>
          <p:nvPr/>
        </p:nvCxnSpPr>
        <p:spPr>
          <a:xfrm>
            <a:off x="7031736" y="195681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3" name="rect-23"/>
          <p:cNvSpPr/>
          <p:nvPr/>
        </p:nvSpPr>
        <p:spPr>
          <a:xfrm>
            <a:off x="7205472" y="1481328"/>
            <a:ext cx="1810512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ect-24"/>
          <p:cNvSpPr/>
          <p:nvPr/>
        </p:nvSpPr>
        <p:spPr>
          <a:xfrm>
            <a:off x="7205472" y="1481328"/>
            <a:ext cx="73152" cy="960120"/>
          </a:xfrm>
          <a:prstGeom prst="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-25"/>
          <p:cNvSpPr txBox="1"/>
          <p:nvPr/>
        </p:nvSpPr>
        <p:spPr>
          <a:xfrm>
            <a:off x="7370064" y="1636776"/>
            <a:ext cx="1536192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E79A32"/>
                </a:solidFill>
                <a:latin typeface="Malgun Gothic"/>
                <a:ea typeface="Malgun Gothic"/>
              </a:rPr>
              <a:t>judge validation gate</a:t>
            </a:r>
          </a:p>
        </p:txBody>
      </p:sp>
      <p:sp>
        <p:nvSpPr>
          <p:cNvPr id="26" name="text-26"/>
          <p:cNvSpPr txBox="1"/>
          <p:nvPr/>
        </p:nvSpPr>
        <p:spPr>
          <a:xfrm>
            <a:off x="7370064" y="1938528"/>
            <a:ext cx="1536192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의미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누수</a:t>
            </a:r>
          </a:p>
        </p:txBody>
      </p:sp>
      <p:cxnSp>
        <p:nvCxnSpPr>
          <p:cNvPr id="27" name="line-27"/>
          <p:cNvCxnSpPr/>
          <p:nvPr/>
        </p:nvCxnSpPr>
        <p:spPr>
          <a:xfrm>
            <a:off x="9070848" y="1956816"/>
            <a:ext cx="265176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8" name="line-28"/>
          <p:cNvCxnSpPr/>
          <p:nvPr/>
        </p:nvCxnSpPr>
        <p:spPr>
          <a:xfrm>
            <a:off x="9244584" y="19019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9" name="line-29"/>
          <p:cNvCxnSpPr/>
          <p:nvPr/>
        </p:nvCxnSpPr>
        <p:spPr>
          <a:xfrm>
            <a:off x="9244584" y="195681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30" name="rect-30"/>
          <p:cNvSpPr/>
          <p:nvPr/>
        </p:nvSpPr>
        <p:spPr>
          <a:xfrm>
            <a:off x="9418320" y="1481328"/>
            <a:ext cx="1810512" cy="9601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ect-31"/>
          <p:cNvSpPr/>
          <p:nvPr/>
        </p:nvSpPr>
        <p:spPr>
          <a:xfrm>
            <a:off x="9418320" y="1481328"/>
            <a:ext cx="73152" cy="96012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-32"/>
          <p:cNvSpPr txBox="1"/>
          <p:nvPr/>
        </p:nvSpPr>
        <p:spPr>
          <a:xfrm>
            <a:off x="9582912" y="1636776"/>
            <a:ext cx="1536192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1B8A8F"/>
                </a:solidFill>
                <a:latin typeface="Malgun Gothic"/>
                <a:ea typeface="Malgun Gothic"/>
              </a:rPr>
              <a:t>Check-500</a:t>
            </a:r>
          </a:p>
        </p:txBody>
      </p:sp>
      <p:sp>
        <p:nvSpPr>
          <p:cNvPr id="33" name="text-33"/>
          <p:cNvSpPr txBox="1"/>
          <p:nvPr/>
        </p:nvSpPr>
        <p:spPr>
          <a:xfrm>
            <a:off x="9582912" y="1938528"/>
            <a:ext cx="1536192" cy="32918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raw 388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generated 112</a:t>
            </a:r>
          </a:p>
        </p:txBody>
      </p:sp>
      <p:sp>
        <p:nvSpPr>
          <p:cNvPr id="34" name="rect-34"/>
          <p:cNvSpPr/>
          <p:nvPr/>
        </p:nvSpPr>
        <p:spPr>
          <a:xfrm>
            <a:off x="566928" y="2971800"/>
            <a:ext cx="3154680" cy="24140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-35"/>
          <p:cNvSpPr txBox="1"/>
          <p:nvPr/>
        </p:nvSpPr>
        <p:spPr>
          <a:xfrm>
            <a:off x="804672" y="3200400"/>
            <a:ext cx="2633472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0B1F33"/>
                </a:solidFill>
                <a:latin typeface="Malgun Gothic"/>
                <a:ea typeface="Malgun Gothic"/>
              </a:rPr>
              <a:t>Source 혼합</a:t>
            </a:r>
          </a:p>
        </p:txBody>
      </p:sp>
      <p:sp>
        <p:nvSpPr>
          <p:cNvPr id="36" name="text-36"/>
          <p:cNvSpPr txBox="1"/>
          <p:nvPr/>
        </p:nvSpPr>
        <p:spPr>
          <a:xfrm>
            <a:off x="841248" y="3639312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원본</a:t>
            </a:r>
          </a:p>
        </p:txBody>
      </p:sp>
      <p:sp>
        <p:nvSpPr>
          <p:cNvPr id="37" name="rect-37"/>
          <p:cNvSpPr/>
          <p:nvPr/>
        </p:nvSpPr>
        <p:spPr>
          <a:xfrm>
            <a:off x="2194560" y="3657600"/>
            <a:ext cx="1389888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rect-38"/>
          <p:cNvSpPr/>
          <p:nvPr/>
        </p:nvSpPr>
        <p:spPr>
          <a:xfrm>
            <a:off x="2194560" y="3657600"/>
            <a:ext cx="1078553" cy="146304"/>
          </a:xfrm>
          <a:prstGeom prst="round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-39"/>
          <p:cNvSpPr txBox="1"/>
          <p:nvPr/>
        </p:nvSpPr>
        <p:spPr>
          <a:xfrm>
            <a:off x="3675888" y="3639312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388</a:t>
            </a:r>
          </a:p>
        </p:txBody>
      </p:sp>
      <p:sp>
        <p:nvSpPr>
          <p:cNvPr id="40" name="text-40"/>
          <p:cNvSpPr txBox="1"/>
          <p:nvPr/>
        </p:nvSpPr>
        <p:spPr>
          <a:xfrm>
            <a:off x="841248" y="4023360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생성</a:t>
            </a:r>
          </a:p>
        </p:txBody>
      </p:sp>
      <p:sp>
        <p:nvSpPr>
          <p:cNvPr id="41" name="rect-41"/>
          <p:cNvSpPr/>
          <p:nvPr/>
        </p:nvSpPr>
        <p:spPr>
          <a:xfrm>
            <a:off x="2194560" y="4041648"/>
            <a:ext cx="1389888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rect-42"/>
          <p:cNvSpPr/>
          <p:nvPr/>
        </p:nvSpPr>
        <p:spPr>
          <a:xfrm>
            <a:off x="2194560" y="4041648"/>
            <a:ext cx="311335" cy="146304"/>
          </a:xfrm>
          <a:prstGeom prst="round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text-43"/>
          <p:cNvSpPr txBox="1"/>
          <p:nvPr/>
        </p:nvSpPr>
        <p:spPr>
          <a:xfrm>
            <a:off x="3675888" y="4023360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112</a:t>
            </a:r>
          </a:p>
        </p:txBody>
      </p:sp>
      <p:sp>
        <p:nvSpPr>
          <p:cNvPr id="44" name="text-44"/>
          <p:cNvSpPr txBox="1"/>
          <p:nvPr/>
        </p:nvSpPr>
        <p:spPr>
          <a:xfrm>
            <a:off x="841248" y="4681728"/>
            <a:ext cx="24231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확인용 부분집합만</a:t>
            </a:r>
          </a:p>
        </p:txBody>
      </p:sp>
      <p:sp>
        <p:nvSpPr>
          <p:cNvPr id="45" name="rect-45"/>
          <p:cNvSpPr/>
          <p:nvPr/>
        </p:nvSpPr>
        <p:spPr>
          <a:xfrm>
            <a:off x="3977640" y="2971800"/>
            <a:ext cx="3566160" cy="24140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-46"/>
          <p:cNvSpPr txBox="1"/>
          <p:nvPr/>
        </p:nvSpPr>
        <p:spPr>
          <a:xfrm>
            <a:off x="4206240" y="3200400"/>
            <a:ext cx="3035808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0B1F33"/>
                </a:solidFill>
                <a:latin typeface="Malgun Gothic"/>
                <a:ea typeface="Malgun Gothic"/>
              </a:rPr>
              <a:t>generated task 구성</a:t>
            </a:r>
          </a:p>
        </p:txBody>
      </p:sp>
      <p:sp>
        <p:nvSpPr>
          <p:cNvPr id="47" name="text-47"/>
          <p:cNvSpPr txBox="1"/>
          <p:nvPr/>
        </p:nvSpPr>
        <p:spPr>
          <a:xfrm>
            <a:off x="4251960" y="3602736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Synonym</a:t>
            </a:r>
          </a:p>
        </p:txBody>
      </p:sp>
      <p:sp>
        <p:nvSpPr>
          <p:cNvPr id="48" name="rect-48"/>
          <p:cNvSpPr/>
          <p:nvPr/>
        </p:nvSpPr>
        <p:spPr>
          <a:xfrm>
            <a:off x="5605272" y="3621024"/>
            <a:ext cx="1371600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rect-49"/>
          <p:cNvSpPr/>
          <p:nvPr/>
        </p:nvSpPr>
        <p:spPr>
          <a:xfrm>
            <a:off x="5605272" y="3621024"/>
            <a:ext cx="489857" cy="146304"/>
          </a:xfrm>
          <a:prstGeom prst="round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text-50"/>
          <p:cNvSpPr txBox="1"/>
          <p:nvPr/>
        </p:nvSpPr>
        <p:spPr>
          <a:xfrm>
            <a:off x="7068312" y="3602736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51" name="text-51"/>
          <p:cNvSpPr txBox="1"/>
          <p:nvPr/>
        </p:nvSpPr>
        <p:spPr>
          <a:xfrm>
            <a:off x="4251960" y="3931920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Sense Disambiguation</a:t>
            </a:r>
          </a:p>
        </p:txBody>
      </p:sp>
      <p:sp>
        <p:nvSpPr>
          <p:cNvPr id="52" name="rect-52"/>
          <p:cNvSpPr/>
          <p:nvPr/>
        </p:nvSpPr>
        <p:spPr>
          <a:xfrm>
            <a:off x="5605272" y="3950208"/>
            <a:ext cx="1371600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rect-53"/>
          <p:cNvSpPr/>
          <p:nvPr/>
        </p:nvSpPr>
        <p:spPr>
          <a:xfrm>
            <a:off x="5605272" y="3950208"/>
            <a:ext cx="269421" cy="146304"/>
          </a:xfrm>
          <a:prstGeom prst="round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ext-54"/>
          <p:cNvSpPr txBox="1"/>
          <p:nvPr/>
        </p:nvSpPr>
        <p:spPr>
          <a:xfrm>
            <a:off x="7068312" y="3931920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55" name="text-55"/>
          <p:cNvSpPr txBox="1"/>
          <p:nvPr/>
        </p:nvSpPr>
        <p:spPr>
          <a:xfrm>
            <a:off x="4251960" y="4261104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Antonym</a:t>
            </a:r>
          </a:p>
        </p:txBody>
      </p:sp>
      <p:sp>
        <p:nvSpPr>
          <p:cNvPr id="56" name="rect-56"/>
          <p:cNvSpPr/>
          <p:nvPr/>
        </p:nvSpPr>
        <p:spPr>
          <a:xfrm>
            <a:off x="5605272" y="4279392"/>
            <a:ext cx="1371600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rect-57"/>
          <p:cNvSpPr/>
          <p:nvPr/>
        </p:nvSpPr>
        <p:spPr>
          <a:xfrm>
            <a:off x="5605272" y="4279392"/>
            <a:ext cx="171450" cy="146304"/>
          </a:xfrm>
          <a:prstGeom prst="round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text-58"/>
          <p:cNvSpPr txBox="1"/>
          <p:nvPr/>
        </p:nvSpPr>
        <p:spPr>
          <a:xfrm>
            <a:off x="7068312" y="4261104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59" name="text-59"/>
          <p:cNvSpPr txBox="1"/>
          <p:nvPr/>
        </p:nvSpPr>
        <p:spPr>
          <a:xfrm>
            <a:off x="4251960" y="4590288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Context Cloze</a:t>
            </a:r>
          </a:p>
        </p:txBody>
      </p:sp>
      <p:sp>
        <p:nvSpPr>
          <p:cNvPr id="60" name="rect-60"/>
          <p:cNvSpPr/>
          <p:nvPr/>
        </p:nvSpPr>
        <p:spPr>
          <a:xfrm>
            <a:off x="5605272" y="4608576"/>
            <a:ext cx="1371600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rect-61"/>
          <p:cNvSpPr/>
          <p:nvPr/>
        </p:nvSpPr>
        <p:spPr>
          <a:xfrm>
            <a:off x="5605272" y="4608576"/>
            <a:ext cx="440871" cy="146304"/>
          </a:xfrm>
          <a:prstGeom prst="round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text-62"/>
          <p:cNvSpPr txBox="1"/>
          <p:nvPr/>
        </p:nvSpPr>
        <p:spPr>
          <a:xfrm>
            <a:off x="7068312" y="4590288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36</a:t>
            </a:r>
          </a:p>
        </p:txBody>
      </p:sp>
      <p:sp>
        <p:nvSpPr>
          <p:cNvPr id="63" name="rect-63"/>
          <p:cNvSpPr/>
          <p:nvPr/>
        </p:nvSpPr>
        <p:spPr>
          <a:xfrm>
            <a:off x="4251960" y="4919472"/>
            <a:ext cx="1005840" cy="2926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text-64"/>
          <p:cNvSpPr txBox="1"/>
          <p:nvPr/>
        </p:nvSpPr>
        <p:spPr>
          <a:xfrm>
            <a:off x="4325112" y="5001768"/>
            <a:ext cx="85953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C84A3A"/>
                </a:solidFill>
                <a:latin typeface="Malgun Gothic"/>
                <a:ea typeface="Malgun Gothic"/>
              </a:rPr>
              <a:t>고난도 구성</a:t>
            </a:r>
          </a:p>
        </p:txBody>
      </p:sp>
      <p:sp>
        <p:nvSpPr>
          <p:cNvPr id="65" name="rect-65"/>
          <p:cNvSpPr/>
          <p:nvPr/>
        </p:nvSpPr>
        <p:spPr>
          <a:xfrm>
            <a:off x="5422392" y="4919472"/>
            <a:ext cx="1005840" cy="2926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text-66"/>
          <p:cNvSpPr txBox="1"/>
          <p:nvPr/>
        </p:nvSpPr>
        <p:spPr>
          <a:xfrm>
            <a:off x="5495544" y="5001768"/>
            <a:ext cx="85953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1B8A8F"/>
                </a:solidFill>
                <a:latin typeface="Malgun Gothic"/>
                <a:ea typeface="Malgun Gothic"/>
              </a:rPr>
              <a:t>구간 보기</a:t>
            </a:r>
          </a:p>
        </p:txBody>
      </p:sp>
      <p:sp>
        <p:nvSpPr>
          <p:cNvPr id="67" name="rect-67"/>
          <p:cNvSpPr/>
          <p:nvPr/>
        </p:nvSpPr>
        <p:spPr>
          <a:xfrm>
            <a:off x="7818120" y="2971800"/>
            <a:ext cx="3401568" cy="24140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text-68"/>
          <p:cNvSpPr txBox="1"/>
          <p:nvPr/>
        </p:nvSpPr>
        <p:spPr>
          <a:xfrm>
            <a:off x="8046720" y="3200400"/>
            <a:ext cx="2889504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0B1F33"/>
                </a:solidFill>
                <a:latin typeface="Malgun Gothic"/>
                <a:ea typeface="Malgun Gothic"/>
              </a:rPr>
              <a:t>teacher signal 위치</a:t>
            </a:r>
          </a:p>
        </p:txBody>
      </p:sp>
      <p:sp>
        <p:nvSpPr>
          <p:cNvPr id="69" name="rect-69"/>
          <p:cNvSpPr/>
          <p:nvPr/>
        </p:nvSpPr>
        <p:spPr>
          <a:xfrm>
            <a:off x="8119872" y="3602736"/>
            <a:ext cx="1261872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rect-70"/>
          <p:cNvSpPr/>
          <p:nvPr/>
        </p:nvSpPr>
        <p:spPr>
          <a:xfrm>
            <a:off x="8119872" y="3602736"/>
            <a:ext cx="91440" cy="713232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text-71"/>
          <p:cNvSpPr txBox="1"/>
          <p:nvPr/>
        </p:nvSpPr>
        <p:spPr>
          <a:xfrm>
            <a:off x="8321040" y="3749040"/>
            <a:ext cx="932688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0B1F33"/>
                </a:solidFill>
                <a:latin typeface="Malgun Gothic"/>
                <a:ea typeface="Malgun Gothic"/>
              </a:rPr>
              <a:t>hard label</a:t>
            </a:r>
          </a:p>
        </p:txBody>
      </p:sp>
      <p:sp>
        <p:nvSpPr>
          <p:cNvPr id="72" name="text-72"/>
          <p:cNvSpPr txBox="1"/>
          <p:nvPr/>
        </p:nvSpPr>
        <p:spPr>
          <a:xfrm>
            <a:off x="8321040" y="4078224"/>
            <a:ext cx="932688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A / B / C / D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목표 유지</a:t>
            </a:r>
          </a:p>
        </p:txBody>
      </p:sp>
      <p:cxnSp>
        <p:nvCxnSpPr>
          <p:cNvPr id="73" name="line-73"/>
          <p:cNvCxnSpPr/>
          <p:nvPr/>
        </p:nvCxnSpPr>
        <p:spPr>
          <a:xfrm>
            <a:off x="9473184" y="3959352"/>
            <a:ext cx="356616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74" name="line-74"/>
          <p:cNvCxnSpPr/>
          <p:nvPr/>
        </p:nvCxnSpPr>
        <p:spPr>
          <a:xfrm>
            <a:off x="9738360" y="390448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75" name="line-75"/>
          <p:cNvCxnSpPr/>
          <p:nvPr/>
        </p:nvCxnSpPr>
        <p:spPr>
          <a:xfrm>
            <a:off x="9738360" y="39593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76" name="rect-76"/>
          <p:cNvSpPr/>
          <p:nvPr/>
        </p:nvSpPr>
        <p:spPr>
          <a:xfrm>
            <a:off x="9912096" y="3602736"/>
            <a:ext cx="987552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rect-77"/>
          <p:cNvSpPr/>
          <p:nvPr/>
        </p:nvSpPr>
        <p:spPr>
          <a:xfrm>
            <a:off x="9912096" y="3602736"/>
            <a:ext cx="91440" cy="713232"/>
          </a:xfrm>
          <a:prstGeom prst="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text-78"/>
          <p:cNvSpPr txBox="1"/>
          <p:nvPr/>
        </p:nvSpPr>
        <p:spPr>
          <a:xfrm>
            <a:off x="10113264" y="3749040"/>
            <a:ext cx="658368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C84A3A"/>
                </a:solidFill>
                <a:latin typeface="Malgun Gothic"/>
                <a:ea typeface="Malgun Gothic"/>
              </a:rPr>
              <a:t>soft score</a:t>
            </a:r>
          </a:p>
        </p:txBody>
      </p:sp>
      <p:sp>
        <p:nvSpPr>
          <p:cNvPr id="79" name="text-79"/>
          <p:cNvSpPr txBox="1"/>
          <p:nvPr/>
        </p:nvSpPr>
        <p:spPr>
          <a:xfrm>
            <a:off x="10113264" y="4078224"/>
            <a:ext cx="658368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4지선다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점수</a:t>
            </a:r>
          </a:p>
        </p:txBody>
      </p:sp>
      <p:sp>
        <p:nvSpPr>
          <p:cNvPr id="80" name="rect-80"/>
          <p:cNvSpPr/>
          <p:nvPr/>
        </p:nvSpPr>
        <p:spPr>
          <a:xfrm>
            <a:off x="8119872" y="4645152"/>
            <a:ext cx="114300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text-81"/>
          <p:cNvSpPr txBox="1"/>
          <p:nvPr/>
        </p:nvSpPr>
        <p:spPr>
          <a:xfrm>
            <a:off x="8193024" y="4727448"/>
            <a:ext cx="99669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C84A3A"/>
                </a:solidFill>
                <a:latin typeface="Malgun Gothic"/>
                <a:ea typeface="Malgun Gothic"/>
              </a:rPr>
              <a:t>KD soft score</a:t>
            </a:r>
          </a:p>
        </p:txBody>
      </p:sp>
      <p:sp>
        <p:nvSpPr>
          <p:cNvPr id="82" name="rect-82"/>
          <p:cNvSpPr/>
          <p:nvPr/>
        </p:nvSpPr>
        <p:spPr>
          <a:xfrm>
            <a:off x="9418320" y="4645152"/>
            <a:ext cx="114300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" name="text-83"/>
          <p:cNvSpPr txBox="1"/>
          <p:nvPr/>
        </p:nvSpPr>
        <p:spPr>
          <a:xfrm>
            <a:off x="9491472" y="4727448"/>
            <a:ext cx="99669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1B8A8F"/>
                </a:solidFill>
                <a:latin typeface="Malgun Gothic"/>
                <a:ea typeface="Malgun Gothic"/>
              </a:rPr>
              <a:t>G5 hard label 확인</a:t>
            </a:r>
          </a:p>
        </p:txBody>
      </p:sp>
      <p:sp>
        <p:nvSpPr>
          <p:cNvPr id="85" name="rect-8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text-8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87" name="text-8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88" name="text-8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데이터와 증강 절차</a:t>
            </a:r>
          </a:p>
        </p:txBody>
      </p:sp>
      <p:sp>
        <p:nvSpPr>
          <p:cNvPr id="89" name="text-8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원본 anchor | generated task 유형 | validation gate | teacher signal</a:t>
            </a:r>
          </a:p>
        </p:txBody>
      </p:sp>
      <p:cxnSp>
        <p:nvCxnSpPr>
          <p:cNvPr id="90" name="line-9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91" name="text-9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92" name="text-9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-7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548640" y="1444752"/>
            <a:ext cx="33832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-3"/>
          <p:cNvSpPr txBox="1"/>
          <p:nvPr/>
        </p:nvSpPr>
        <p:spPr>
          <a:xfrm>
            <a:off x="804672" y="1664208"/>
            <a:ext cx="27889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1B8A8F"/>
                </a:solidFill>
                <a:latin typeface="Malgun Gothic"/>
                <a:ea typeface="Malgun Gothic"/>
              </a:rPr>
              <a:t>B 계열: 판별형 점수화</a:t>
            </a:r>
          </a:p>
        </p:txBody>
      </p:sp>
      <p:sp>
        <p:nvSpPr>
          <p:cNvPr id="4" name="rect-4"/>
          <p:cNvSpPr/>
          <p:nvPr/>
        </p:nvSpPr>
        <p:spPr>
          <a:xfrm>
            <a:off x="868680" y="2066544"/>
            <a:ext cx="841248" cy="7680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ect-5"/>
          <p:cNvSpPr/>
          <p:nvPr/>
        </p:nvSpPr>
        <p:spPr>
          <a:xfrm>
            <a:off x="868680" y="2066544"/>
            <a:ext cx="91440" cy="768096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-6"/>
          <p:cNvSpPr txBox="1"/>
          <p:nvPr/>
        </p:nvSpPr>
        <p:spPr>
          <a:xfrm>
            <a:off x="1069848" y="2212848"/>
            <a:ext cx="51206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B0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1069848" y="2542032"/>
            <a:ext cx="512064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Embedding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점수</a:t>
            </a:r>
          </a:p>
        </p:txBody>
      </p:sp>
      <p:cxnSp>
        <p:nvCxnSpPr>
          <p:cNvPr id="8" name="line-8"/>
          <p:cNvCxnSpPr/>
          <p:nvPr/>
        </p:nvCxnSpPr>
        <p:spPr>
          <a:xfrm>
            <a:off x="1792224" y="2450592"/>
            <a:ext cx="292608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9" name="line-9"/>
          <p:cNvCxnSpPr/>
          <p:nvPr/>
        </p:nvCxnSpPr>
        <p:spPr>
          <a:xfrm>
            <a:off x="1993392" y="23957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0" name="line-10"/>
          <p:cNvCxnSpPr/>
          <p:nvPr/>
        </p:nvCxnSpPr>
        <p:spPr>
          <a:xfrm>
            <a:off x="1993392" y="245059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11" name="rect-11"/>
          <p:cNvSpPr/>
          <p:nvPr/>
        </p:nvSpPr>
        <p:spPr>
          <a:xfrm>
            <a:off x="2176272" y="2066544"/>
            <a:ext cx="1115568" cy="7680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-12"/>
          <p:cNvSpPr/>
          <p:nvPr/>
        </p:nvSpPr>
        <p:spPr>
          <a:xfrm>
            <a:off x="2176272" y="2066544"/>
            <a:ext cx="91440" cy="768096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-13"/>
          <p:cNvSpPr txBox="1"/>
          <p:nvPr/>
        </p:nvSpPr>
        <p:spPr>
          <a:xfrm>
            <a:off x="2377440" y="2212848"/>
            <a:ext cx="78638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7F63B8"/>
                </a:solidFill>
                <a:latin typeface="Malgun Gothic"/>
                <a:ea typeface="Malgun Gothic"/>
              </a:rPr>
              <a:t>B2</a:t>
            </a:r>
          </a:p>
        </p:txBody>
      </p:sp>
      <p:sp>
        <p:nvSpPr>
          <p:cNvPr id="14" name="text-14"/>
          <p:cNvSpPr txBox="1"/>
          <p:nvPr/>
        </p:nvSpPr>
        <p:spPr>
          <a:xfrm>
            <a:off x="2377440" y="2542032"/>
            <a:ext cx="786384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MLP scorer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재사용</a:t>
            </a:r>
          </a:p>
        </p:txBody>
      </p:sp>
      <p:sp>
        <p:nvSpPr>
          <p:cNvPr id="15" name="rect-15"/>
          <p:cNvSpPr/>
          <p:nvPr/>
        </p:nvSpPr>
        <p:spPr>
          <a:xfrm>
            <a:off x="1344168" y="3054096"/>
            <a:ext cx="1298448" cy="80467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-16"/>
          <p:cNvSpPr/>
          <p:nvPr/>
        </p:nvSpPr>
        <p:spPr>
          <a:xfrm>
            <a:off x="1344168" y="3054096"/>
            <a:ext cx="91440" cy="804672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-17"/>
          <p:cNvSpPr txBox="1"/>
          <p:nvPr/>
        </p:nvSpPr>
        <p:spPr>
          <a:xfrm>
            <a:off x="1545336" y="3200400"/>
            <a:ext cx="96926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3A9D5D"/>
                </a:solidFill>
                <a:latin typeface="Malgun Gothic"/>
                <a:ea typeface="Malgun Gothic"/>
              </a:rPr>
              <a:t>B3</a:t>
            </a:r>
          </a:p>
        </p:txBody>
      </p:sp>
      <p:sp>
        <p:nvSpPr>
          <p:cNvPr id="18" name="text-18"/>
          <p:cNvSpPr txBox="1"/>
          <p:nvPr/>
        </p:nvSpPr>
        <p:spPr>
          <a:xfrm>
            <a:off x="1545336" y="3529584"/>
            <a:ext cx="969264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Cross-encoder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FT 비활성</a:t>
            </a:r>
          </a:p>
        </p:txBody>
      </p:sp>
      <p:cxnSp>
        <p:nvCxnSpPr>
          <p:cNvPr id="19" name="line-19"/>
          <p:cNvCxnSpPr/>
          <p:nvPr/>
        </p:nvCxnSpPr>
        <p:spPr>
          <a:xfrm>
            <a:off x="1984248" y="2889504"/>
            <a:ext cx="0" cy="109728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0" name="line-20"/>
          <p:cNvCxnSpPr/>
          <p:nvPr/>
        </p:nvCxnSpPr>
        <p:spPr>
          <a:xfrm>
            <a:off x="1892808" y="294436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1" name="line-21"/>
          <p:cNvCxnSpPr/>
          <p:nvPr/>
        </p:nvCxnSpPr>
        <p:spPr>
          <a:xfrm>
            <a:off x="1892808" y="299923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2" name="text-22"/>
          <p:cNvSpPr txBox="1"/>
          <p:nvPr/>
        </p:nvSpPr>
        <p:spPr>
          <a:xfrm>
            <a:off x="868680" y="4352544"/>
            <a:ext cx="2578608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Accuracy 범위: 58.2% → 97.4%</a:t>
            </a:r>
          </a:p>
        </p:txBody>
      </p:sp>
      <p:sp>
        <p:nvSpPr>
          <p:cNvPr id="23" name="rect-23"/>
          <p:cNvSpPr/>
          <p:nvPr/>
        </p:nvSpPr>
        <p:spPr>
          <a:xfrm>
            <a:off x="868680" y="4736592"/>
            <a:ext cx="1005840" cy="2926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-24"/>
          <p:cNvSpPr txBox="1"/>
          <p:nvPr/>
        </p:nvSpPr>
        <p:spPr>
          <a:xfrm>
            <a:off x="941832" y="4818888"/>
            <a:ext cx="85953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1B8A8F"/>
                </a:solidFill>
                <a:latin typeface="Malgun Gothic"/>
                <a:ea typeface="Malgun Gothic"/>
              </a:rPr>
              <a:t>option 점수화</a:t>
            </a:r>
          </a:p>
        </p:txBody>
      </p:sp>
      <p:sp>
        <p:nvSpPr>
          <p:cNvPr id="25" name="rect-25"/>
          <p:cNvSpPr/>
          <p:nvPr/>
        </p:nvSpPr>
        <p:spPr>
          <a:xfrm>
            <a:off x="2039112" y="4736592"/>
            <a:ext cx="1005840" cy="2926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-26"/>
          <p:cNvSpPr txBox="1"/>
          <p:nvPr/>
        </p:nvSpPr>
        <p:spPr>
          <a:xfrm>
            <a:off x="2112264" y="4818888"/>
            <a:ext cx="85953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5F6B7A"/>
                </a:solidFill>
                <a:latin typeface="Malgun Gothic"/>
                <a:ea typeface="Malgun Gothic"/>
              </a:rPr>
              <a:t>생성 없음</a:t>
            </a:r>
          </a:p>
        </p:txBody>
      </p:sp>
      <p:sp>
        <p:nvSpPr>
          <p:cNvPr id="27" name="rect-27"/>
          <p:cNvSpPr/>
          <p:nvPr/>
        </p:nvSpPr>
        <p:spPr>
          <a:xfrm>
            <a:off x="4206240" y="1444752"/>
            <a:ext cx="379476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text-28"/>
          <p:cNvSpPr txBox="1"/>
          <p:nvPr/>
        </p:nvSpPr>
        <p:spPr>
          <a:xfrm>
            <a:off x="4462272" y="1664208"/>
            <a:ext cx="31546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3A9D5D"/>
                </a:solidFill>
                <a:latin typeface="Malgun Gothic"/>
                <a:ea typeface="Malgun Gothic"/>
              </a:rPr>
              <a:t>G 계열: local LM + adapter</a:t>
            </a:r>
          </a:p>
        </p:txBody>
      </p:sp>
      <p:sp>
        <p:nvSpPr>
          <p:cNvPr id="29" name="rect-29"/>
          <p:cNvSpPr/>
          <p:nvPr/>
        </p:nvSpPr>
        <p:spPr>
          <a:xfrm>
            <a:off x="4526280" y="2084832"/>
            <a:ext cx="1115568" cy="65836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rect-30"/>
          <p:cNvSpPr/>
          <p:nvPr/>
        </p:nvSpPr>
        <p:spPr>
          <a:xfrm>
            <a:off x="4526280" y="2084832"/>
            <a:ext cx="91440" cy="658368"/>
          </a:xfrm>
          <a:prstGeom prst="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-31"/>
          <p:cNvSpPr txBox="1"/>
          <p:nvPr/>
        </p:nvSpPr>
        <p:spPr>
          <a:xfrm>
            <a:off x="4727448" y="2231136"/>
            <a:ext cx="78638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C84A3A"/>
                </a:solidFill>
                <a:latin typeface="Malgun Gothic"/>
                <a:ea typeface="Malgun Gothic"/>
              </a:rPr>
              <a:t>G3</a:t>
            </a:r>
          </a:p>
        </p:txBody>
      </p:sp>
      <p:sp>
        <p:nvSpPr>
          <p:cNvPr id="32" name="text-32"/>
          <p:cNvSpPr txBox="1"/>
          <p:nvPr/>
        </p:nvSpPr>
        <p:spPr>
          <a:xfrm>
            <a:off x="4727448" y="2560320"/>
            <a:ext cx="786384" cy="5486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3B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LoRA KD</a:t>
            </a:r>
          </a:p>
        </p:txBody>
      </p:sp>
      <p:cxnSp>
        <p:nvCxnSpPr>
          <p:cNvPr id="33" name="line-33"/>
          <p:cNvCxnSpPr/>
          <p:nvPr/>
        </p:nvCxnSpPr>
        <p:spPr>
          <a:xfrm>
            <a:off x="5742432" y="2414016"/>
            <a:ext cx="438912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34" name="line-34"/>
          <p:cNvCxnSpPr/>
          <p:nvPr/>
        </p:nvCxnSpPr>
        <p:spPr>
          <a:xfrm>
            <a:off x="6089904" y="23591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35" name="line-35"/>
          <p:cNvCxnSpPr/>
          <p:nvPr/>
        </p:nvCxnSpPr>
        <p:spPr>
          <a:xfrm>
            <a:off x="6089904" y="241401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36" name="rect-36"/>
          <p:cNvSpPr/>
          <p:nvPr/>
        </p:nvSpPr>
        <p:spPr>
          <a:xfrm>
            <a:off x="6272784" y="2084832"/>
            <a:ext cx="1115568" cy="65836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rect-37"/>
          <p:cNvSpPr/>
          <p:nvPr/>
        </p:nvSpPr>
        <p:spPr>
          <a:xfrm>
            <a:off x="6272784" y="2084832"/>
            <a:ext cx="91440" cy="658368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text-38"/>
          <p:cNvSpPr txBox="1"/>
          <p:nvPr/>
        </p:nvSpPr>
        <p:spPr>
          <a:xfrm>
            <a:off x="6473952" y="2231136"/>
            <a:ext cx="78638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7F63B8"/>
                </a:solidFill>
                <a:latin typeface="Malgun Gothic"/>
                <a:ea typeface="Malgun Gothic"/>
              </a:rPr>
              <a:t>G4</a:t>
            </a:r>
          </a:p>
        </p:txBody>
      </p:sp>
      <p:sp>
        <p:nvSpPr>
          <p:cNvPr id="39" name="text-39"/>
          <p:cNvSpPr txBox="1"/>
          <p:nvPr/>
        </p:nvSpPr>
        <p:spPr>
          <a:xfrm>
            <a:off x="6473952" y="2560320"/>
            <a:ext cx="786384" cy="5486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같은 3B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4bit 로딩</a:t>
            </a:r>
          </a:p>
        </p:txBody>
      </p:sp>
      <p:sp>
        <p:nvSpPr>
          <p:cNvPr id="40" name="rect-40"/>
          <p:cNvSpPr/>
          <p:nvPr/>
        </p:nvSpPr>
        <p:spPr>
          <a:xfrm>
            <a:off x="5285232" y="3218688"/>
            <a:ext cx="1508760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rect-41"/>
          <p:cNvSpPr/>
          <p:nvPr/>
        </p:nvSpPr>
        <p:spPr>
          <a:xfrm>
            <a:off x="5285232" y="3218688"/>
            <a:ext cx="91440" cy="713232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-42"/>
          <p:cNvSpPr txBox="1"/>
          <p:nvPr/>
        </p:nvSpPr>
        <p:spPr>
          <a:xfrm>
            <a:off x="5486400" y="3364992"/>
            <a:ext cx="1179576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G5</a:t>
            </a:r>
          </a:p>
        </p:txBody>
      </p:sp>
      <p:sp>
        <p:nvSpPr>
          <p:cNvPr id="43" name="text-43"/>
          <p:cNvSpPr txBox="1"/>
          <p:nvPr/>
        </p:nvSpPr>
        <p:spPr>
          <a:xfrm>
            <a:off x="5486400" y="3694176"/>
            <a:ext cx="117957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0.5B / 1.5B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G1 SFT adapter</a:t>
            </a:r>
          </a:p>
        </p:txBody>
      </p:sp>
      <p:sp>
        <p:nvSpPr>
          <p:cNvPr id="44" name="text-44"/>
          <p:cNvSpPr txBox="1"/>
          <p:nvPr/>
        </p:nvSpPr>
        <p:spPr>
          <a:xfrm>
            <a:off x="4608576" y="4352544"/>
            <a:ext cx="2880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Accuracy: G3 99.2%, G5 1.5B 97.6%</a:t>
            </a:r>
          </a:p>
        </p:txBody>
      </p:sp>
      <p:sp>
        <p:nvSpPr>
          <p:cNvPr id="45" name="rect-45"/>
          <p:cNvSpPr/>
          <p:nvPr/>
        </p:nvSpPr>
        <p:spPr>
          <a:xfrm>
            <a:off x="4608576" y="4736592"/>
            <a:ext cx="1078992" cy="2926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-46"/>
          <p:cNvSpPr txBox="1"/>
          <p:nvPr/>
        </p:nvSpPr>
        <p:spPr>
          <a:xfrm>
            <a:off x="4681728" y="4818888"/>
            <a:ext cx="932688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1B8A8F"/>
                </a:solidFill>
                <a:latin typeface="Malgun Gothic"/>
                <a:ea typeface="Malgun Gothic"/>
              </a:rPr>
              <a:t>G5 SFT adapter</a:t>
            </a:r>
          </a:p>
        </p:txBody>
      </p:sp>
      <p:sp>
        <p:nvSpPr>
          <p:cNvPr id="47" name="rect-47"/>
          <p:cNvSpPr/>
          <p:nvPr/>
        </p:nvSpPr>
        <p:spPr>
          <a:xfrm>
            <a:off x="5852160" y="4736592"/>
            <a:ext cx="1078992" cy="2926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-48"/>
          <p:cNvSpPr txBox="1"/>
          <p:nvPr/>
        </p:nvSpPr>
        <p:spPr>
          <a:xfrm>
            <a:off x="5925312" y="4818888"/>
            <a:ext cx="932688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C84A3A"/>
                </a:solidFill>
                <a:latin typeface="Malgun Gothic"/>
                <a:ea typeface="Malgun Gothic"/>
              </a:rPr>
              <a:t>KD 별도 경로</a:t>
            </a:r>
          </a:p>
        </p:txBody>
      </p:sp>
      <p:sp>
        <p:nvSpPr>
          <p:cNvPr id="49" name="rect-49"/>
          <p:cNvSpPr/>
          <p:nvPr/>
        </p:nvSpPr>
        <p:spPr>
          <a:xfrm>
            <a:off x="8275320" y="1444752"/>
            <a:ext cx="310896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text-50"/>
          <p:cNvSpPr txBox="1"/>
          <p:nvPr/>
        </p:nvSpPr>
        <p:spPr>
          <a:xfrm>
            <a:off x="8531352" y="1664208"/>
            <a:ext cx="2514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E79A32"/>
                </a:solidFill>
                <a:latin typeface="Malgun Gothic"/>
                <a:ea typeface="Malgun Gothic"/>
              </a:rPr>
              <a:t>H 계열: routing policy</a:t>
            </a:r>
          </a:p>
        </p:txBody>
      </p:sp>
      <p:sp>
        <p:nvSpPr>
          <p:cNvPr id="51" name="rect-51"/>
          <p:cNvSpPr/>
          <p:nvPr/>
        </p:nvSpPr>
        <p:spPr>
          <a:xfrm>
            <a:off x="8613648" y="2048256"/>
            <a:ext cx="1005840" cy="64008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rect-52"/>
          <p:cNvSpPr/>
          <p:nvPr/>
        </p:nvSpPr>
        <p:spPr>
          <a:xfrm>
            <a:off x="8613648" y="2048256"/>
            <a:ext cx="91440" cy="640080"/>
          </a:xfrm>
          <a:prstGeom prst="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text-53"/>
          <p:cNvSpPr txBox="1"/>
          <p:nvPr/>
        </p:nvSpPr>
        <p:spPr>
          <a:xfrm>
            <a:off x="8814816" y="2194560"/>
            <a:ext cx="676656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E79A32"/>
                </a:solidFill>
                <a:latin typeface="Malgun Gothic"/>
                <a:ea typeface="Malgun Gothic"/>
              </a:rPr>
              <a:t>gate</a:t>
            </a:r>
          </a:p>
        </p:txBody>
      </p:sp>
      <p:sp>
        <p:nvSpPr>
          <p:cNvPr id="54" name="text-54"/>
          <p:cNvSpPr txBox="1"/>
          <p:nvPr/>
        </p:nvSpPr>
        <p:spPr>
          <a:xfrm>
            <a:off x="8814816" y="2523744"/>
            <a:ext cx="676656" cy="3657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B0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confidence</a:t>
            </a:r>
          </a:p>
        </p:txBody>
      </p:sp>
      <p:cxnSp>
        <p:nvCxnSpPr>
          <p:cNvPr id="55" name="line-55"/>
          <p:cNvCxnSpPr/>
          <p:nvPr/>
        </p:nvCxnSpPr>
        <p:spPr>
          <a:xfrm>
            <a:off x="9710928" y="1975104"/>
            <a:ext cx="365760" cy="23774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6" name="line-56"/>
          <p:cNvCxnSpPr/>
          <p:nvPr/>
        </p:nvCxnSpPr>
        <p:spPr>
          <a:xfrm>
            <a:off x="9985248" y="1920240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7" name="line-57"/>
          <p:cNvCxnSpPr/>
          <p:nvPr/>
        </p:nvCxnSpPr>
        <p:spPr>
          <a:xfrm>
            <a:off x="9985248" y="197510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58" name="rect-58"/>
          <p:cNvSpPr/>
          <p:nvPr/>
        </p:nvSpPr>
        <p:spPr>
          <a:xfrm>
            <a:off x="10149840" y="1737360"/>
            <a:ext cx="82296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rect-59"/>
          <p:cNvSpPr/>
          <p:nvPr/>
        </p:nvSpPr>
        <p:spPr>
          <a:xfrm>
            <a:off x="10149840" y="1737360"/>
            <a:ext cx="91440" cy="566928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text-60"/>
          <p:cNvSpPr txBox="1"/>
          <p:nvPr/>
        </p:nvSpPr>
        <p:spPr>
          <a:xfrm>
            <a:off x="10351008" y="1883664"/>
            <a:ext cx="493776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3A9D5D"/>
                </a:solidFill>
                <a:latin typeface="Malgun Gothic"/>
                <a:ea typeface="Malgun Gothic"/>
              </a:rPr>
              <a:t>B3</a:t>
            </a:r>
          </a:p>
        </p:txBody>
      </p:sp>
      <p:sp>
        <p:nvSpPr>
          <p:cNvPr id="61" name="text-61"/>
          <p:cNvSpPr txBox="1"/>
          <p:nvPr/>
        </p:nvSpPr>
        <p:spPr>
          <a:xfrm>
            <a:off x="10351008" y="2212848"/>
            <a:ext cx="493776" cy="-3657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94.4%</a:t>
            </a:r>
          </a:p>
        </p:txBody>
      </p:sp>
      <p:cxnSp>
        <p:nvCxnSpPr>
          <p:cNvPr id="62" name="line-62"/>
          <p:cNvCxnSpPr/>
          <p:nvPr/>
        </p:nvCxnSpPr>
        <p:spPr>
          <a:xfrm>
            <a:off x="9710928" y="2505456"/>
            <a:ext cx="365760" cy="256032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63" name="line-63"/>
          <p:cNvCxnSpPr/>
          <p:nvPr/>
        </p:nvCxnSpPr>
        <p:spPr>
          <a:xfrm>
            <a:off x="9985248" y="270662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64" name="line-64"/>
          <p:cNvCxnSpPr/>
          <p:nvPr/>
        </p:nvCxnSpPr>
        <p:spPr>
          <a:xfrm>
            <a:off x="9985248" y="276148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65" name="rect-65"/>
          <p:cNvSpPr/>
          <p:nvPr/>
        </p:nvSpPr>
        <p:spPr>
          <a:xfrm>
            <a:off x="10149840" y="2578608"/>
            <a:ext cx="82296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rect-66"/>
          <p:cNvSpPr/>
          <p:nvPr/>
        </p:nvSpPr>
        <p:spPr>
          <a:xfrm>
            <a:off x="10149840" y="2578608"/>
            <a:ext cx="91440" cy="566928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text-67"/>
          <p:cNvSpPr txBox="1"/>
          <p:nvPr/>
        </p:nvSpPr>
        <p:spPr>
          <a:xfrm>
            <a:off x="10351008" y="2724912"/>
            <a:ext cx="493776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G5</a:t>
            </a:r>
          </a:p>
        </p:txBody>
      </p:sp>
      <p:sp>
        <p:nvSpPr>
          <p:cNvPr id="68" name="text-68"/>
          <p:cNvSpPr txBox="1"/>
          <p:nvPr/>
        </p:nvSpPr>
        <p:spPr>
          <a:xfrm>
            <a:off x="10351008" y="3054096"/>
            <a:ext cx="493776" cy="-3657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2.0%</a:t>
            </a:r>
          </a:p>
        </p:txBody>
      </p:sp>
      <p:sp>
        <p:nvSpPr>
          <p:cNvPr id="69" name="text-69"/>
          <p:cNvSpPr txBox="1"/>
          <p:nvPr/>
        </p:nvSpPr>
        <p:spPr>
          <a:xfrm>
            <a:off x="8613648" y="4334256"/>
            <a:ext cx="20574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0B1F33"/>
                </a:solidFill>
                <a:latin typeface="Malgun Gothic"/>
                <a:ea typeface="Malgun Gothic"/>
              </a:rPr>
              <a:t>H1 Accuracy 97.6%</a:t>
            </a:r>
          </a:p>
        </p:txBody>
      </p:sp>
      <p:sp>
        <p:nvSpPr>
          <p:cNvPr id="70" name="rect-70"/>
          <p:cNvSpPr/>
          <p:nvPr/>
        </p:nvSpPr>
        <p:spPr>
          <a:xfrm>
            <a:off x="8613648" y="4736592"/>
            <a:ext cx="932688" cy="2926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ext-71"/>
          <p:cNvSpPr txBox="1"/>
          <p:nvPr/>
        </p:nvSpPr>
        <p:spPr>
          <a:xfrm>
            <a:off x="8668512" y="4818888"/>
            <a:ext cx="822960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E79A32"/>
                </a:solidFill>
                <a:latin typeface="Malgun Gothic"/>
                <a:ea typeface="Malgun Gothic"/>
              </a:rPr>
              <a:t>routing 후보</a:t>
            </a:r>
          </a:p>
        </p:txBody>
      </p:sp>
      <p:sp>
        <p:nvSpPr>
          <p:cNvPr id="72" name="rect-72"/>
          <p:cNvSpPr/>
          <p:nvPr/>
        </p:nvSpPr>
        <p:spPr>
          <a:xfrm>
            <a:off x="9674352" y="4736592"/>
            <a:ext cx="932688" cy="2926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text-73"/>
          <p:cNvSpPr txBox="1"/>
          <p:nvPr/>
        </p:nvSpPr>
        <p:spPr>
          <a:xfrm>
            <a:off x="9729216" y="4818888"/>
            <a:ext cx="822960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5F6B7A"/>
                </a:solidFill>
                <a:latin typeface="Malgun Gothic"/>
                <a:ea typeface="Malgun Gothic"/>
              </a:rPr>
              <a:t>cost sweep 후속</a:t>
            </a:r>
          </a:p>
        </p:txBody>
      </p:sp>
      <p:sp>
        <p:nvSpPr>
          <p:cNvPr id="75" name="rect-7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text-7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77" name="text-7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78" name="text-7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모델군 구조 지도</a:t>
            </a:r>
          </a:p>
        </p:txBody>
      </p:sp>
      <p:sp>
        <p:nvSpPr>
          <p:cNvPr id="79" name="text-7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B/G/H 계열 | 구성 요소 상태 | evaluation mode</a:t>
            </a:r>
          </a:p>
        </p:txBody>
      </p:sp>
      <p:cxnSp>
        <p:nvCxnSpPr>
          <p:cNvPr id="80" name="line-8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81" name="text-8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82" name="text-8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-6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566928" y="1481328"/>
            <a:ext cx="5029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-3"/>
          <p:cNvSpPr txBox="1"/>
          <p:nvPr/>
        </p:nvSpPr>
        <p:spPr>
          <a:xfrm>
            <a:off x="822960" y="1719072"/>
            <a:ext cx="448056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0B1F33"/>
                </a:solidFill>
                <a:latin typeface="Malgun Gothic"/>
                <a:ea typeface="Malgun Gothic"/>
              </a:rPr>
              <a:t>학습 목표 흐름</a:t>
            </a:r>
          </a:p>
        </p:txBody>
      </p:sp>
      <p:sp>
        <p:nvSpPr>
          <p:cNvPr id="4" name="rect-4"/>
          <p:cNvSpPr/>
          <p:nvPr/>
        </p:nvSpPr>
        <p:spPr>
          <a:xfrm>
            <a:off x="868680" y="2157984"/>
            <a:ext cx="1170432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ect-5"/>
          <p:cNvSpPr/>
          <p:nvPr/>
        </p:nvSpPr>
        <p:spPr>
          <a:xfrm>
            <a:off x="868680" y="2157984"/>
            <a:ext cx="91440" cy="713232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-6"/>
          <p:cNvSpPr txBox="1"/>
          <p:nvPr/>
        </p:nvSpPr>
        <p:spPr>
          <a:xfrm>
            <a:off x="1069848" y="2304288"/>
            <a:ext cx="841248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3A9D5D"/>
                </a:solidFill>
                <a:latin typeface="Malgun Gothic"/>
                <a:ea typeface="Malgun Gothic"/>
              </a:rPr>
              <a:t>SFT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1069848" y="2633472"/>
            <a:ext cx="841248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assistant 출력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completion CE</a:t>
            </a:r>
          </a:p>
        </p:txBody>
      </p:sp>
      <p:cxnSp>
        <p:nvCxnSpPr>
          <p:cNvPr id="8" name="line-8"/>
          <p:cNvCxnSpPr/>
          <p:nvPr/>
        </p:nvCxnSpPr>
        <p:spPr>
          <a:xfrm>
            <a:off x="2139696" y="2514600"/>
            <a:ext cx="384048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9" name="line-9"/>
          <p:cNvCxnSpPr/>
          <p:nvPr/>
        </p:nvCxnSpPr>
        <p:spPr>
          <a:xfrm>
            <a:off x="2432304" y="245973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0" name="line-10"/>
          <p:cNvCxnSpPr/>
          <p:nvPr/>
        </p:nvCxnSpPr>
        <p:spPr>
          <a:xfrm>
            <a:off x="2432304" y="2514600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11" name="rect-11"/>
          <p:cNvSpPr/>
          <p:nvPr/>
        </p:nvSpPr>
        <p:spPr>
          <a:xfrm>
            <a:off x="2615184" y="2157984"/>
            <a:ext cx="1115568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-12"/>
          <p:cNvSpPr/>
          <p:nvPr/>
        </p:nvSpPr>
        <p:spPr>
          <a:xfrm>
            <a:off x="2615184" y="2157984"/>
            <a:ext cx="91440" cy="713232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-13"/>
          <p:cNvSpPr txBox="1"/>
          <p:nvPr/>
        </p:nvSpPr>
        <p:spPr>
          <a:xfrm>
            <a:off x="2816352" y="2304288"/>
            <a:ext cx="78638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3A9D5D"/>
                </a:solidFill>
                <a:latin typeface="Malgun Gothic"/>
                <a:ea typeface="Malgun Gothic"/>
              </a:rPr>
              <a:t>LoRA</a:t>
            </a:r>
          </a:p>
        </p:txBody>
      </p:sp>
      <p:sp>
        <p:nvSpPr>
          <p:cNvPr id="14" name="text-14"/>
          <p:cNvSpPr txBox="1"/>
          <p:nvPr/>
        </p:nvSpPr>
        <p:spPr>
          <a:xfrm>
            <a:off x="2816352" y="2633472"/>
            <a:ext cx="78638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adapter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업데이트</a:t>
            </a:r>
          </a:p>
        </p:txBody>
      </p:sp>
      <p:sp>
        <p:nvSpPr>
          <p:cNvPr id="15" name="rect-15"/>
          <p:cNvSpPr/>
          <p:nvPr/>
        </p:nvSpPr>
        <p:spPr>
          <a:xfrm>
            <a:off x="4096512" y="2157984"/>
            <a:ext cx="1078992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-16"/>
          <p:cNvSpPr/>
          <p:nvPr/>
        </p:nvSpPr>
        <p:spPr>
          <a:xfrm>
            <a:off x="4096512" y="2157984"/>
            <a:ext cx="91440" cy="713232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-17"/>
          <p:cNvSpPr txBox="1"/>
          <p:nvPr/>
        </p:nvSpPr>
        <p:spPr>
          <a:xfrm>
            <a:off x="4297680" y="2304288"/>
            <a:ext cx="749808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G5</a:t>
            </a:r>
          </a:p>
        </p:txBody>
      </p:sp>
      <p:sp>
        <p:nvSpPr>
          <p:cNvPr id="18" name="text-18"/>
          <p:cNvSpPr txBox="1"/>
          <p:nvPr/>
        </p:nvSpPr>
        <p:spPr>
          <a:xfrm>
            <a:off x="4297680" y="2633472"/>
            <a:ext cx="749808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G1 SFT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확인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896112" y="3218688"/>
            <a:ext cx="438912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C84A3A"/>
                </a:solidFill>
                <a:latin typeface="Malgun Gothic"/>
                <a:ea typeface="Malgun Gothic"/>
              </a:rPr>
              <a:t>G3 KD 목표 = completion CE + 0.5 × KL(teacher A/B/C/D)</a:t>
            </a:r>
          </a:p>
        </p:txBody>
      </p:sp>
      <p:sp>
        <p:nvSpPr>
          <p:cNvPr id="20" name="rect-20"/>
          <p:cNvSpPr/>
          <p:nvPr/>
        </p:nvSpPr>
        <p:spPr>
          <a:xfrm>
            <a:off x="5852160" y="1481328"/>
            <a:ext cx="5413248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1"/>
          <p:cNvSpPr txBox="1"/>
          <p:nvPr/>
        </p:nvSpPr>
        <p:spPr>
          <a:xfrm>
            <a:off x="6108192" y="1719072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0B1F33"/>
                </a:solidFill>
                <a:latin typeface="Malgun Gothic"/>
                <a:ea typeface="Malgun Gothic"/>
              </a:rPr>
              <a:t>추론과 answer contract</a:t>
            </a:r>
          </a:p>
        </p:txBody>
      </p:sp>
      <p:sp>
        <p:nvSpPr>
          <p:cNvPr id="22" name="rect-22"/>
          <p:cNvSpPr/>
          <p:nvPr/>
        </p:nvSpPr>
        <p:spPr>
          <a:xfrm>
            <a:off x="6199632" y="2157984"/>
            <a:ext cx="1060704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ect-23"/>
          <p:cNvSpPr/>
          <p:nvPr/>
        </p:nvSpPr>
        <p:spPr>
          <a:xfrm>
            <a:off x="6199632" y="2157984"/>
            <a:ext cx="91440" cy="713232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-24"/>
          <p:cNvSpPr txBox="1"/>
          <p:nvPr/>
        </p:nvSpPr>
        <p:spPr>
          <a:xfrm>
            <a:off x="6400800" y="2304288"/>
            <a:ext cx="7315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7F63B8"/>
                </a:solidFill>
                <a:latin typeface="Malgun Gothic"/>
                <a:ea typeface="Malgun Gothic"/>
              </a:rPr>
              <a:t>prompt</a:t>
            </a:r>
          </a:p>
        </p:txBody>
      </p:sp>
      <p:sp>
        <p:nvSpPr>
          <p:cNvPr id="25" name="text-25"/>
          <p:cNvSpPr txBox="1"/>
          <p:nvPr/>
        </p:nvSpPr>
        <p:spPr>
          <a:xfrm>
            <a:off x="6400800" y="2633472"/>
            <a:ext cx="731520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MCQ +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형식</a:t>
            </a:r>
          </a:p>
        </p:txBody>
      </p:sp>
      <p:cxnSp>
        <p:nvCxnSpPr>
          <p:cNvPr id="26" name="line-26"/>
          <p:cNvCxnSpPr/>
          <p:nvPr/>
        </p:nvCxnSpPr>
        <p:spPr>
          <a:xfrm>
            <a:off x="7351776" y="2514600"/>
            <a:ext cx="347472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7" name="line-27"/>
          <p:cNvCxnSpPr/>
          <p:nvPr/>
        </p:nvCxnSpPr>
        <p:spPr>
          <a:xfrm>
            <a:off x="7607808" y="245973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8" name="line-28"/>
          <p:cNvCxnSpPr/>
          <p:nvPr/>
        </p:nvCxnSpPr>
        <p:spPr>
          <a:xfrm>
            <a:off x="7607808" y="2514600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9" name="rect-29"/>
          <p:cNvSpPr/>
          <p:nvPr/>
        </p:nvSpPr>
        <p:spPr>
          <a:xfrm>
            <a:off x="7790688" y="2157984"/>
            <a:ext cx="1078992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rect-30"/>
          <p:cNvSpPr/>
          <p:nvPr/>
        </p:nvSpPr>
        <p:spPr>
          <a:xfrm>
            <a:off x="7790688" y="2157984"/>
            <a:ext cx="91440" cy="713232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-31"/>
          <p:cNvSpPr txBox="1"/>
          <p:nvPr/>
        </p:nvSpPr>
        <p:spPr>
          <a:xfrm>
            <a:off x="7991856" y="2304288"/>
            <a:ext cx="749808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7F63B8"/>
                </a:solidFill>
                <a:latin typeface="Malgun Gothic"/>
                <a:ea typeface="Malgun Gothic"/>
              </a:rPr>
              <a:t>LM</a:t>
            </a:r>
          </a:p>
        </p:txBody>
      </p:sp>
      <p:sp>
        <p:nvSpPr>
          <p:cNvPr id="32" name="text-32"/>
          <p:cNvSpPr txBox="1"/>
          <p:nvPr/>
        </p:nvSpPr>
        <p:spPr>
          <a:xfrm>
            <a:off x="7991856" y="2633472"/>
            <a:ext cx="749808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결정적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생성</a:t>
            </a:r>
          </a:p>
        </p:txBody>
      </p:sp>
      <p:cxnSp>
        <p:nvCxnSpPr>
          <p:cNvPr id="33" name="line-33"/>
          <p:cNvCxnSpPr/>
          <p:nvPr/>
        </p:nvCxnSpPr>
        <p:spPr>
          <a:xfrm>
            <a:off x="8961120" y="2514600"/>
            <a:ext cx="347472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34" name="line-34"/>
          <p:cNvCxnSpPr/>
          <p:nvPr/>
        </p:nvCxnSpPr>
        <p:spPr>
          <a:xfrm>
            <a:off x="9217152" y="245973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35" name="line-35"/>
          <p:cNvCxnSpPr/>
          <p:nvPr/>
        </p:nvCxnSpPr>
        <p:spPr>
          <a:xfrm>
            <a:off x="9217152" y="2514600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36" name="rect-36"/>
          <p:cNvSpPr/>
          <p:nvPr/>
        </p:nvSpPr>
        <p:spPr>
          <a:xfrm>
            <a:off x="9400032" y="2157984"/>
            <a:ext cx="1280160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rect-37"/>
          <p:cNvSpPr/>
          <p:nvPr/>
        </p:nvSpPr>
        <p:spPr>
          <a:xfrm>
            <a:off x="9400032" y="2157984"/>
            <a:ext cx="91440" cy="713232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text-38"/>
          <p:cNvSpPr txBox="1"/>
          <p:nvPr/>
        </p:nvSpPr>
        <p:spPr>
          <a:xfrm>
            <a:off x="9601200" y="2304288"/>
            <a:ext cx="950976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7F63B8"/>
                </a:solidFill>
                <a:latin typeface="Malgun Gothic"/>
                <a:ea typeface="Malgun Gothic"/>
              </a:rPr>
              <a:t>parser</a:t>
            </a:r>
          </a:p>
        </p:txBody>
      </p:sp>
      <p:sp>
        <p:nvSpPr>
          <p:cNvPr id="39" name="text-39"/>
          <p:cNvSpPr txBox="1"/>
          <p:nvPr/>
        </p:nvSpPr>
        <p:spPr>
          <a:xfrm>
            <a:off x="9601200" y="2633472"/>
            <a:ext cx="95097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엄격 +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fallback</a:t>
            </a:r>
          </a:p>
        </p:txBody>
      </p:sp>
      <p:sp>
        <p:nvSpPr>
          <p:cNvPr id="40" name="rect-40"/>
          <p:cNvSpPr/>
          <p:nvPr/>
        </p:nvSpPr>
        <p:spPr>
          <a:xfrm>
            <a:off x="6199632" y="3136392"/>
            <a:ext cx="1408176" cy="329184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-41"/>
          <p:cNvSpPr txBox="1"/>
          <p:nvPr/>
        </p:nvSpPr>
        <p:spPr>
          <a:xfrm>
            <a:off x="6291072" y="3227832"/>
            <a:ext cx="122529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Accuracy 지표</a:t>
            </a:r>
          </a:p>
        </p:txBody>
      </p:sp>
      <p:sp>
        <p:nvSpPr>
          <p:cNvPr id="42" name="rect-42"/>
          <p:cNvSpPr/>
          <p:nvPr/>
        </p:nvSpPr>
        <p:spPr>
          <a:xfrm>
            <a:off x="7790688" y="3136392"/>
            <a:ext cx="1408176" cy="329184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43"/>
          <p:cNvSpPr txBox="1"/>
          <p:nvPr/>
        </p:nvSpPr>
        <p:spPr>
          <a:xfrm>
            <a:off x="7882128" y="3227832"/>
            <a:ext cx="122529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strict parsing 지표</a:t>
            </a:r>
          </a:p>
        </p:txBody>
      </p:sp>
      <p:sp>
        <p:nvSpPr>
          <p:cNvPr id="44" name="rect-44"/>
          <p:cNvSpPr/>
          <p:nvPr/>
        </p:nvSpPr>
        <p:spPr>
          <a:xfrm>
            <a:off x="566928" y="3977640"/>
            <a:ext cx="106984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-45"/>
          <p:cNvSpPr txBox="1"/>
          <p:nvPr/>
        </p:nvSpPr>
        <p:spPr>
          <a:xfrm>
            <a:off x="822960" y="4187952"/>
            <a:ext cx="38404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0B1F33"/>
                </a:solidFill>
                <a:latin typeface="Malgun Gothic"/>
                <a:ea typeface="Malgun Gothic"/>
              </a:rPr>
              <a:t>지표 그룹</a:t>
            </a:r>
          </a:p>
        </p:txBody>
      </p:sp>
      <p:sp>
        <p:nvSpPr>
          <p:cNvPr id="46" name="rect-46"/>
          <p:cNvSpPr/>
          <p:nvPr/>
        </p:nvSpPr>
        <p:spPr>
          <a:xfrm>
            <a:off x="868680" y="4608576"/>
            <a:ext cx="1325880" cy="4937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-47"/>
          <p:cNvSpPr txBox="1"/>
          <p:nvPr/>
        </p:nvSpPr>
        <p:spPr>
          <a:xfrm>
            <a:off x="941832" y="4690872"/>
            <a:ext cx="1170432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48" name="text-48"/>
          <p:cNvSpPr txBox="1"/>
          <p:nvPr/>
        </p:nvSpPr>
        <p:spPr>
          <a:xfrm>
            <a:off x="941832" y="4855464"/>
            <a:ext cx="1170432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>
                <a:solidFill>
                  <a:srgbClr val="5F6B7A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49" name="rect-49"/>
          <p:cNvSpPr/>
          <p:nvPr/>
        </p:nvSpPr>
        <p:spPr>
          <a:xfrm>
            <a:off x="2313432" y="4608576"/>
            <a:ext cx="1325880" cy="4937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text-50"/>
          <p:cNvSpPr txBox="1"/>
          <p:nvPr/>
        </p:nvSpPr>
        <p:spPr>
          <a:xfrm>
            <a:off x="2386584" y="4690872"/>
            <a:ext cx="1170432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C84A3A"/>
                </a:solidFill>
                <a:latin typeface="Malgun Gothic"/>
                <a:ea typeface="Malgun Gothic"/>
              </a:rPr>
              <a:t>task slice</a:t>
            </a:r>
          </a:p>
        </p:txBody>
      </p:sp>
      <p:sp>
        <p:nvSpPr>
          <p:cNvPr id="51" name="text-51"/>
          <p:cNvSpPr txBox="1"/>
          <p:nvPr/>
        </p:nvSpPr>
        <p:spPr>
          <a:xfrm>
            <a:off x="2386584" y="4855464"/>
            <a:ext cx="1170432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>
                <a:solidFill>
                  <a:srgbClr val="5F6B7A"/>
                </a:solidFill>
                <a:latin typeface="Malgun Gothic"/>
                <a:ea typeface="Malgun Gothic"/>
              </a:rPr>
              <a:t>원본/Synonym/Antonym/Context Cloze</a:t>
            </a:r>
          </a:p>
        </p:txBody>
      </p:sp>
      <p:sp>
        <p:nvSpPr>
          <p:cNvPr id="52" name="rect-52"/>
          <p:cNvSpPr/>
          <p:nvPr/>
        </p:nvSpPr>
        <p:spPr>
          <a:xfrm>
            <a:off x="3758184" y="4608576"/>
            <a:ext cx="1325880" cy="4937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text-53"/>
          <p:cNvSpPr txBox="1"/>
          <p:nvPr/>
        </p:nvSpPr>
        <p:spPr>
          <a:xfrm>
            <a:off x="3831336" y="4690872"/>
            <a:ext cx="1170432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ECE</a:t>
            </a:r>
          </a:p>
        </p:txBody>
      </p:sp>
      <p:sp>
        <p:nvSpPr>
          <p:cNvPr id="54" name="text-54"/>
          <p:cNvSpPr txBox="1"/>
          <p:nvPr/>
        </p:nvSpPr>
        <p:spPr>
          <a:xfrm>
            <a:off x="3831336" y="4855464"/>
            <a:ext cx="1170432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>
                <a:solidFill>
                  <a:srgbClr val="5F6B7A"/>
                </a:solidFill>
                <a:latin typeface="Malgun Gothic"/>
                <a:ea typeface="Malgun Gothic"/>
              </a:rPr>
              <a:t>confidence</a:t>
            </a:r>
          </a:p>
        </p:txBody>
      </p:sp>
      <p:sp>
        <p:nvSpPr>
          <p:cNvPr id="55" name="rect-55"/>
          <p:cNvSpPr/>
          <p:nvPr/>
        </p:nvSpPr>
        <p:spPr>
          <a:xfrm>
            <a:off x="5202936" y="4608576"/>
            <a:ext cx="1325880" cy="4937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-56"/>
          <p:cNvSpPr txBox="1"/>
          <p:nvPr/>
        </p:nvSpPr>
        <p:spPr>
          <a:xfrm>
            <a:off x="5276088" y="4690872"/>
            <a:ext cx="1170432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strict parsing</a:t>
            </a:r>
          </a:p>
        </p:txBody>
      </p:sp>
      <p:sp>
        <p:nvSpPr>
          <p:cNvPr id="57" name="text-57"/>
          <p:cNvSpPr txBox="1"/>
          <p:nvPr/>
        </p:nvSpPr>
        <p:spPr>
          <a:xfrm>
            <a:off x="5276088" y="4855464"/>
            <a:ext cx="1170432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>
                <a:solidFill>
                  <a:srgbClr val="5F6B7A"/>
                </a:solidFill>
                <a:latin typeface="Malgun Gothic"/>
                <a:ea typeface="Malgun Gothic"/>
              </a:rPr>
              <a:t>형식</a:t>
            </a:r>
          </a:p>
        </p:txBody>
      </p:sp>
      <p:sp>
        <p:nvSpPr>
          <p:cNvPr id="58" name="rect-58"/>
          <p:cNvSpPr/>
          <p:nvPr/>
        </p:nvSpPr>
        <p:spPr>
          <a:xfrm>
            <a:off x="6647688" y="4608576"/>
            <a:ext cx="1325880" cy="4937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text-59"/>
          <p:cNvSpPr txBox="1"/>
          <p:nvPr/>
        </p:nvSpPr>
        <p:spPr>
          <a:xfrm>
            <a:off x="6720840" y="4690872"/>
            <a:ext cx="1170432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p50 latency</a:t>
            </a:r>
          </a:p>
        </p:txBody>
      </p:sp>
      <p:sp>
        <p:nvSpPr>
          <p:cNvPr id="60" name="text-60"/>
          <p:cNvSpPr txBox="1"/>
          <p:nvPr/>
        </p:nvSpPr>
        <p:spPr>
          <a:xfrm>
            <a:off x="6720840" y="4855464"/>
            <a:ext cx="1170432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>
                <a:solidFill>
                  <a:srgbClr val="5F6B7A"/>
                </a:solidFill>
                <a:latin typeface="Malgun Gothic"/>
                <a:ea typeface="Malgun Gothic"/>
              </a:rPr>
              <a:t>runtime</a:t>
            </a:r>
          </a:p>
        </p:txBody>
      </p:sp>
      <p:sp>
        <p:nvSpPr>
          <p:cNvPr id="61" name="rect-61"/>
          <p:cNvSpPr/>
          <p:nvPr/>
        </p:nvSpPr>
        <p:spPr>
          <a:xfrm>
            <a:off x="8092440" y="4608576"/>
            <a:ext cx="1325880" cy="4937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text-62"/>
          <p:cNvSpPr txBox="1"/>
          <p:nvPr/>
        </p:nvSpPr>
        <p:spPr>
          <a:xfrm>
            <a:off x="8165592" y="4690872"/>
            <a:ext cx="1170432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RAM/VRAM</a:t>
            </a:r>
          </a:p>
        </p:txBody>
      </p:sp>
      <p:sp>
        <p:nvSpPr>
          <p:cNvPr id="63" name="text-63"/>
          <p:cNvSpPr txBox="1"/>
          <p:nvPr/>
        </p:nvSpPr>
        <p:spPr>
          <a:xfrm>
            <a:off x="8165592" y="4855464"/>
            <a:ext cx="1170432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>
                <a:solidFill>
                  <a:srgbClr val="5F6B7A"/>
                </a:solidFill>
                <a:latin typeface="Malgun Gothic"/>
                <a:ea typeface="Malgun Gothic"/>
              </a:rPr>
              <a:t>사용량</a:t>
            </a:r>
          </a:p>
        </p:txBody>
      </p:sp>
      <p:sp>
        <p:nvSpPr>
          <p:cNvPr id="64" name="rect-64"/>
          <p:cNvSpPr/>
          <p:nvPr/>
        </p:nvSpPr>
        <p:spPr>
          <a:xfrm>
            <a:off x="9537192" y="4608576"/>
            <a:ext cx="1325880" cy="4937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text-65"/>
          <p:cNvSpPr txBox="1"/>
          <p:nvPr/>
        </p:nvSpPr>
        <p:spPr>
          <a:xfrm>
            <a:off x="9610344" y="4690872"/>
            <a:ext cx="1170432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paired statistics</a:t>
            </a:r>
          </a:p>
        </p:txBody>
      </p:sp>
      <p:sp>
        <p:nvSpPr>
          <p:cNvPr id="66" name="text-66"/>
          <p:cNvSpPr txBox="1"/>
          <p:nvPr/>
        </p:nvSpPr>
        <p:spPr>
          <a:xfrm>
            <a:off x="9610344" y="4855464"/>
            <a:ext cx="1170432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>
                <a:solidFill>
                  <a:srgbClr val="5F6B7A"/>
                </a:solidFill>
                <a:latin typeface="Malgun Gothic"/>
                <a:ea typeface="Malgun Gothic"/>
              </a:rPr>
              <a:t>동일 500문항</a:t>
            </a:r>
          </a:p>
        </p:txBody>
      </p:sp>
      <p:sp>
        <p:nvSpPr>
          <p:cNvPr id="68" name="rect-6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ext-69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70" name="text-70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71" name="text-71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목표 함수·추론·지표 절차</a:t>
            </a:r>
          </a:p>
        </p:txBody>
      </p:sp>
      <p:sp>
        <p:nvSpPr>
          <p:cNvPr id="72" name="text-72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학습 목표 | answer contract | 결정적 추론 | 집계 지표</a:t>
            </a:r>
          </a:p>
        </p:txBody>
      </p:sp>
      <p:cxnSp>
        <p:nvCxnSpPr>
          <p:cNvPr id="73" name="line-73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74" name="text-74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75" name="text-75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-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566928" y="1444752"/>
            <a:ext cx="5440680" cy="4462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566928" y="1444752"/>
            <a:ext cx="82296" cy="4462272"/>
          </a:xfrm>
          <a:prstGeom prst="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749808" y="1563624"/>
            <a:ext cx="512064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0B1F33"/>
                </a:solidFill>
                <a:latin typeface="Malgun Gothic"/>
                <a:ea typeface="Malgun Gothic"/>
              </a:rPr>
              <a:t>raw final과 Check-500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749808" y="1810512"/>
            <a:ext cx="5120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E79A32"/>
                </a:solidFill>
                <a:latin typeface="Malgun Gothic"/>
                <a:ea typeface="Malgun Gothic"/>
              </a:rPr>
              <a:t>평가 난이도 근거</a:t>
            </a:r>
          </a:p>
        </p:txBody>
      </p:sp>
      <p:pic>
        <p:nvPicPr>
          <p:cNvPr id="6" name="13_final_vs_check500_accuracy" descr="13_final_vs_check500_accuracy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768096" y="2487342"/>
            <a:ext cx="5038344" cy="281600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-7"/>
          <p:cNvSpPr/>
          <p:nvPr/>
        </p:nvSpPr>
        <p:spPr>
          <a:xfrm>
            <a:off x="6199632" y="1444752"/>
            <a:ext cx="5440680" cy="4462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-8"/>
          <p:cNvSpPr/>
          <p:nvPr/>
        </p:nvSpPr>
        <p:spPr>
          <a:xfrm>
            <a:off x="6199632" y="1444752"/>
            <a:ext cx="82296" cy="4462272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-9"/>
          <p:cNvSpPr txBox="1"/>
          <p:nvPr/>
        </p:nvSpPr>
        <p:spPr>
          <a:xfrm>
            <a:off x="6382512" y="1563624"/>
            <a:ext cx="512064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0B1F33"/>
                </a:solidFill>
                <a:latin typeface="Malgun Gothic"/>
                <a:ea typeface="Malgun Gothic"/>
              </a:rPr>
              <a:t>방법론 Accuracy 격차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6382512" y="1810512"/>
            <a:ext cx="5120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B0/B2/B3/G 계열 대비</a:t>
            </a:r>
          </a:p>
        </p:txBody>
      </p:sp>
      <p:pic>
        <p:nvPicPr>
          <p:cNvPr id="11" name="01_check500_methodology_accuracy" descr="01_check500_methodology_accuracy.png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 b="0" l="0" r="0" t="0"/>
          <a:stretch>
            <a:fillRect/>
          </a:stretch>
        </p:blipFill>
        <p:spPr>
          <a:xfrm>
            <a:off x="6400800" y="2489073"/>
            <a:ext cx="5038344" cy="281254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-1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-14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16" name="text-16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시각 근거: 평가 난이도와 방법론 격차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raw saturation | Check-500 대비 | 방법론 격차</a:t>
            </a:r>
          </a:p>
        </p:txBody>
      </p:sp>
      <p:cxnSp>
        <p:nvCxnSpPr>
          <p:cNvPr id="18" name="line-18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9" name="text-19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20" name="text-20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-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566928" y="1444752"/>
            <a:ext cx="5440680" cy="4462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566928" y="1444752"/>
            <a:ext cx="82296" cy="4462272"/>
          </a:xfrm>
          <a:prstGeom prst="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749808" y="1563624"/>
            <a:ext cx="512064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0B1F33"/>
                </a:solidFill>
                <a:latin typeface="Malgun Gothic"/>
                <a:ea typeface="Malgun Gothic"/>
              </a:rPr>
              <a:t>Antonym hard slice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749808" y="1810512"/>
            <a:ext cx="5120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C84A3A"/>
                </a:solidFill>
                <a:latin typeface="Malgun Gothic"/>
                <a:ea typeface="Malgun Gothic"/>
              </a:rPr>
              <a:t>평균 뒤의 취약점</a:t>
            </a:r>
          </a:p>
        </p:txBody>
      </p:sp>
      <p:pic>
        <p:nvPicPr>
          <p:cNvPr id="6" name="04_check500_antonym_hard_slice" descr="04_check500_antonym_hard_slice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768096" y="2489073"/>
            <a:ext cx="5038344" cy="28125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-7"/>
          <p:cNvSpPr/>
          <p:nvPr/>
        </p:nvSpPr>
        <p:spPr>
          <a:xfrm>
            <a:off x="6199632" y="1444752"/>
            <a:ext cx="5440680" cy="4462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-8"/>
          <p:cNvSpPr/>
          <p:nvPr/>
        </p:nvSpPr>
        <p:spPr>
          <a:xfrm>
            <a:off x="6199632" y="1444752"/>
            <a:ext cx="82296" cy="4462272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-9"/>
          <p:cNvSpPr txBox="1"/>
          <p:nvPr/>
        </p:nvSpPr>
        <p:spPr>
          <a:xfrm>
            <a:off x="6382512" y="1563624"/>
            <a:ext cx="512064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0B1F33"/>
                </a:solidFill>
                <a:latin typeface="Malgun Gothic"/>
                <a:ea typeface="Malgun Gothic"/>
              </a:rPr>
              <a:t>Accuracy-latency-memory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6382512" y="1810512"/>
            <a:ext cx="5120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deployment boundary</a:t>
            </a:r>
          </a:p>
        </p:txBody>
      </p:sp>
      <p:pic>
        <p:nvPicPr>
          <p:cNvPr id="11" name="02_check500_accuracy_latency_memory_frontier" descr="02_check500_accuracy_latency_memory_frontier.png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 b="0" l="0" r="0" t="0"/>
          <a:stretch>
            <a:fillRect/>
          </a:stretch>
        </p:blipFill>
        <p:spPr>
          <a:xfrm>
            <a:off x="6400800" y="2478582"/>
            <a:ext cx="5038344" cy="283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-1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-14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16" name="text-16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시각 근거: hard slice와 deployability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Antonym 고난도 | latency-memory boundary</a:t>
            </a:r>
          </a:p>
        </p:txBody>
      </p:sp>
      <p:cxnSp>
        <p:nvCxnSpPr>
          <p:cNvPr id="18" name="line-18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9" name="text-19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20" name="text-20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-6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85800" y="1463040"/>
            <a:ext cx="2057400" cy="89611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-3"/>
          <p:cNvSpPr txBox="1"/>
          <p:nvPr/>
        </p:nvSpPr>
        <p:spPr>
          <a:xfrm>
            <a:off x="822960" y="1581912"/>
            <a:ext cx="17830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전체 메타데이터 행</a:t>
            </a:r>
          </a:p>
        </p:txBody>
      </p:sp>
      <p:sp>
        <p:nvSpPr>
          <p:cNvPr id="4" name="text-4"/>
          <p:cNvSpPr txBox="1"/>
          <p:nvPr/>
        </p:nvSpPr>
        <p:spPr>
          <a:xfrm>
            <a:off x="822960" y="1792224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600" b="1">
                <a:solidFill>
                  <a:srgbClr val="1B8A8F"/>
                </a:solidFill>
                <a:latin typeface="Malgun Gothic"/>
                <a:ea typeface="Malgun Gothic"/>
              </a:rPr>
              <a:t>7534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822960" y="2121408"/>
            <a:ext cx="1783080" cy="13716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train/dev/test 유지</a:t>
            </a:r>
          </a:p>
        </p:txBody>
      </p:sp>
      <p:sp>
        <p:nvSpPr>
          <p:cNvPr id="6" name="rect-6"/>
          <p:cNvSpPr/>
          <p:nvPr/>
        </p:nvSpPr>
        <p:spPr>
          <a:xfrm>
            <a:off x="2907792" y="1463040"/>
            <a:ext cx="2057400" cy="89611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-7"/>
          <p:cNvSpPr txBox="1"/>
          <p:nvPr/>
        </p:nvSpPr>
        <p:spPr>
          <a:xfrm>
            <a:off x="3044952" y="1581912"/>
            <a:ext cx="17830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Check test rows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3044952" y="1792224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600" b="1">
                <a:solidFill>
                  <a:srgbClr val="E79A32"/>
                </a:solidFill>
                <a:latin typeface="Malgun Gothic"/>
                <a:ea typeface="Malgun Gothic"/>
              </a:rPr>
              <a:t>500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3044952" y="2121408"/>
            <a:ext cx="1783080" cy="13716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발표용 부분집합</a:t>
            </a:r>
          </a:p>
        </p:txBody>
      </p:sp>
      <p:sp>
        <p:nvSpPr>
          <p:cNvPr id="10" name="rect-10"/>
          <p:cNvSpPr/>
          <p:nvPr/>
        </p:nvSpPr>
        <p:spPr>
          <a:xfrm>
            <a:off x="5129784" y="1463040"/>
            <a:ext cx="2057400" cy="89611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1"/>
          <p:cNvSpPr txBox="1"/>
          <p:nvPr/>
        </p:nvSpPr>
        <p:spPr>
          <a:xfrm>
            <a:off x="5266944" y="1581912"/>
            <a:ext cx="17830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원본 test rows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5266944" y="1792224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600" b="1">
                <a:solidFill>
                  <a:srgbClr val="3A9D5D"/>
                </a:solidFill>
                <a:latin typeface="Malgun Gothic"/>
                <a:ea typeface="Malgun Gothic"/>
              </a:rPr>
              <a:t>388</a:t>
            </a:r>
          </a:p>
        </p:txBody>
      </p:sp>
      <p:sp>
        <p:nvSpPr>
          <p:cNvPr id="13" name="text-13"/>
          <p:cNvSpPr txBox="1"/>
          <p:nvPr/>
        </p:nvSpPr>
        <p:spPr>
          <a:xfrm>
            <a:off x="5266944" y="2121408"/>
            <a:ext cx="1783080" cy="13716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원본 GT 항목</a:t>
            </a:r>
          </a:p>
        </p:txBody>
      </p:sp>
      <p:sp>
        <p:nvSpPr>
          <p:cNvPr id="14" name="rect-14"/>
          <p:cNvSpPr/>
          <p:nvPr/>
        </p:nvSpPr>
        <p:spPr>
          <a:xfrm>
            <a:off x="7351776" y="1463040"/>
            <a:ext cx="2057400" cy="89611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15"/>
          <p:cNvSpPr txBox="1"/>
          <p:nvPr/>
        </p:nvSpPr>
        <p:spPr>
          <a:xfrm>
            <a:off x="7488936" y="1581912"/>
            <a:ext cx="17830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generated rows</a:t>
            </a:r>
          </a:p>
        </p:txBody>
      </p:sp>
      <p:sp>
        <p:nvSpPr>
          <p:cNvPr id="16" name="text-16"/>
          <p:cNvSpPr txBox="1"/>
          <p:nvPr/>
        </p:nvSpPr>
        <p:spPr>
          <a:xfrm>
            <a:off x="7488936" y="1792224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600" b="1">
                <a:solidFill>
                  <a:srgbClr val="7F63B8"/>
                </a:solidFill>
                <a:latin typeface="Malgun Gothic"/>
                <a:ea typeface="Malgun Gothic"/>
              </a:rPr>
              <a:t>112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7488936" y="2121408"/>
            <a:ext cx="1783080" cy="13716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judge 통과 항목</a:t>
            </a:r>
          </a:p>
        </p:txBody>
      </p:sp>
      <p:sp>
        <p:nvSpPr>
          <p:cNvPr id="18" name="rect-18"/>
          <p:cNvSpPr/>
          <p:nvPr/>
        </p:nvSpPr>
        <p:spPr>
          <a:xfrm>
            <a:off x="9573768" y="1463040"/>
            <a:ext cx="2057400" cy="89611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-19"/>
          <p:cNvSpPr txBox="1"/>
          <p:nvPr/>
        </p:nvSpPr>
        <p:spPr>
          <a:xfrm>
            <a:off x="9710928" y="1581912"/>
            <a:ext cx="17830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No-API 실행</a:t>
            </a:r>
          </a:p>
        </p:txBody>
      </p:sp>
      <p:sp>
        <p:nvSpPr>
          <p:cNvPr id="20" name="text-20"/>
          <p:cNvSpPr txBox="1"/>
          <p:nvPr/>
        </p:nvSpPr>
        <p:spPr>
          <a:xfrm>
            <a:off x="9710928" y="1792224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600" b="1">
                <a:solidFill>
                  <a:srgbClr val="C84A3A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21" name="text-21"/>
          <p:cNvSpPr txBox="1"/>
          <p:nvPr/>
        </p:nvSpPr>
        <p:spPr>
          <a:xfrm>
            <a:off x="9710928" y="2121408"/>
            <a:ext cx="1783080" cy="13716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local 전용 모델</a:t>
            </a:r>
          </a:p>
        </p:txBody>
      </p:sp>
      <p:sp>
        <p:nvSpPr>
          <p:cNvPr id="22" name="rect-22"/>
          <p:cNvSpPr/>
          <p:nvPr/>
        </p:nvSpPr>
        <p:spPr>
          <a:xfrm>
            <a:off x="685800" y="2697480"/>
            <a:ext cx="544068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-23"/>
          <p:cNvSpPr txBox="1"/>
          <p:nvPr/>
        </p:nvSpPr>
        <p:spPr>
          <a:xfrm>
            <a:off x="932688" y="2907792"/>
            <a:ext cx="489204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0B1F33"/>
                </a:solidFill>
                <a:latin typeface="Malgun Gothic"/>
                <a:ea typeface="Malgun Gothic"/>
              </a:rPr>
              <a:t>통제 확인용 분할 유지</a:t>
            </a:r>
          </a:p>
        </p:txBody>
      </p:sp>
      <p:sp>
        <p:nvSpPr>
          <p:cNvPr id="24" name="text-24"/>
          <p:cNvSpPr txBox="1"/>
          <p:nvPr/>
        </p:nvSpPr>
        <p:spPr>
          <a:xfrm>
            <a:off x="932688" y="3364992"/>
            <a:ext cx="15544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학습</a:t>
            </a:r>
          </a:p>
        </p:txBody>
      </p:sp>
      <p:sp>
        <p:nvSpPr>
          <p:cNvPr id="25" name="rect-25"/>
          <p:cNvSpPr/>
          <p:nvPr/>
        </p:nvSpPr>
        <p:spPr>
          <a:xfrm>
            <a:off x="2624328" y="3383280"/>
            <a:ext cx="2788920" cy="164592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rect-26"/>
          <p:cNvSpPr/>
          <p:nvPr/>
        </p:nvSpPr>
        <p:spPr>
          <a:xfrm>
            <a:off x="2624328" y="3383280"/>
            <a:ext cx="2142219" cy="164592"/>
          </a:xfrm>
          <a:prstGeom prst="round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ext-27"/>
          <p:cNvSpPr txBox="1"/>
          <p:nvPr/>
        </p:nvSpPr>
        <p:spPr>
          <a:xfrm>
            <a:off x="6601968" y="3364992"/>
            <a:ext cx="5029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5787</a:t>
            </a:r>
          </a:p>
        </p:txBody>
      </p:sp>
      <p:sp>
        <p:nvSpPr>
          <p:cNvPr id="28" name="text-28"/>
          <p:cNvSpPr txBox="1"/>
          <p:nvPr/>
        </p:nvSpPr>
        <p:spPr>
          <a:xfrm>
            <a:off x="932688" y="3803904"/>
            <a:ext cx="15544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검증</a:t>
            </a:r>
          </a:p>
        </p:txBody>
      </p:sp>
      <p:sp>
        <p:nvSpPr>
          <p:cNvPr id="29" name="rect-29"/>
          <p:cNvSpPr/>
          <p:nvPr/>
        </p:nvSpPr>
        <p:spPr>
          <a:xfrm>
            <a:off x="2624328" y="3822192"/>
            <a:ext cx="2788920" cy="164592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rect-30"/>
          <p:cNvSpPr/>
          <p:nvPr/>
        </p:nvSpPr>
        <p:spPr>
          <a:xfrm>
            <a:off x="2624328" y="3822192"/>
            <a:ext cx="461612" cy="164592"/>
          </a:xfrm>
          <a:prstGeom prst="round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-31"/>
          <p:cNvSpPr txBox="1"/>
          <p:nvPr/>
        </p:nvSpPr>
        <p:spPr>
          <a:xfrm>
            <a:off x="6601968" y="3803904"/>
            <a:ext cx="5029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1247</a:t>
            </a:r>
          </a:p>
        </p:txBody>
      </p:sp>
      <p:sp>
        <p:nvSpPr>
          <p:cNvPr id="32" name="text-32"/>
          <p:cNvSpPr txBox="1"/>
          <p:nvPr/>
        </p:nvSpPr>
        <p:spPr>
          <a:xfrm>
            <a:off x="932688" y="4242816"/>
            <a:ext cx="15544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평가</a:t>
            </a:r>
          </a:p>
        </p:txBody>
      </p:sp>
      <p:sp>
        <p:nvSpPr>
          <p:cNvPr id="33" name="rect-33"/>
          <p:cNvSpPr/>
          <p:nvPr/>
        </p:nvSpPr>
        <p:spPr>
          <a:xfrm>
            <a:off x="2624328" y="4261104"/>
            <a:ext cx="2788920" cy="164592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rect-34"/>
          <p:cNvSpPr/>
          <p:nvPr/>
        </p:nvSpPr>
        <p:spPr>
          <a:xfrm>
            <a:off x="2624328" y="4261104"/>
            <a:ext cx="185089" cy="164592"/>
          </a:xfrm>
          <a:prstGeom prst="round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text-35"/>
          <p:cNvSpPr txBox="1"/>
          <p:nvPr/>
        </p:nvSpPr>
        <p:spPr>
          <a:xfrm>
            <a:off x="6601968" y="4242816"/>
            <a:ext cx="5029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500</a:t>
            </a:r>
          </a:p>
        </p:txBody>
      </p:sp>
      <p:sp>
        <p:nvSpPr>
          <p:cNvPr id="36" name="rect-36"/>
          <p:cNvSpPr/>
          <p:nvPr/>
        </p:nvSpPr>
        <p:spPr>
          <a:xfrm>
            <a:off x="932688" y="4846320"/>
            <a:ext cx="1298448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-37"/>
          <p:cNvSpPr txBox="1"/>
          <p:nvPr/>
        </p:nvSpPr>
        <p:spPr>
          <a:xfrm>
            <a:off x="1005840" y="4928616"/>
            <a:ext cx="115214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1B8A8F"/>
                </a:solidFill>
                <a:latin typeface="Malgun Gothic"/>
                <a:ea typeface="Malgun Gothic"/>
              </a:rPr>
              <a:t>train/dev 유지</a:t>
            </a:r>
          </a:p>
        </p:txBody>
      </p:sp>
      <p:sp>
        <p:nvSpPr>
          <p:cNvPr id="38" name="rect-38"/>
          <p:cNvSpPr/>
          <p:nvPr/>
        </p:nvSpPr>
        <p:spPr>
          <a:xfrm>
            <a:off x="2322576" y="4846320"/>
            <a:ext cx="1298448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-39"/>
          <p:cNvSpPr txBox="1"/>
          <p:nvPr/>
        </p:nvSpPr>
        <p:spPr>
          <a:xfrm>
            <a:off x="2395728" y="4928616"/>
            <a:ext cx="115214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E79A32"/>
                </a:solidFill>
                <a:latin typeface="Malgun Gothic"/>
                <a:ea typeface="Malgun Gothic"/>
              </a:rPr>
              <a:t>test-only 비교</a:t>
            </a:r>
          </a:p>
        </p:txBody>
      </p:sp>
      <p:sp>
        <p:nvSpPr>
          <p:cNvPr id="40" name="rect-40"/>
          <p:cNvSpPr/>
          <p:nvPr/>
        </p:nvSpPr>
        <p:spPr>
          <a:xfrm>
            <a:off x="3712464" y="4846320"/>
            <a:ext cx="1298448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-41"/>
          <p:cNvSpPr txBox="1"/>
          <p:nvPr/>
        </p:nvSpPr>
        <p:spPr>
          <a:xfrm>
            <a:off x="3785616" y="4928616"/>
            <a:ext cx="115214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7F63B8"/>
                </a:solidFill>
                <a:latin typeface="Malgun Gothic"/>
                <a:ea typeface="Malgun Gothic"/>
              </a:rPr>
              <a:t>B0/B2 조건 유지</a:t>
            </a:r>
          </a:p>
        </p:txBody>
      </p:sp>
      <p:sp>
        <p:nvSpPr>
          <p:cNvPr id="42" name="rect-42"/>
          <p:cNvSpPr/>
          <p:nvPr/>
        </p:nvSpPr>
        <p:spPr>
          <a:xfrm>
            <a:off x="6446520" y="2697480"/>
            <a:ext cx="480060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43"/>
          <p:cNvSpPr txBox="1"/>
          <p:nvPr/>
        </p:nvSpPr>
        <p:spPr>
          <a:xfrm>
            <a:off x="6693408" y="2907792"/>
            <a:ext cx="43434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0B1F33"/>
                </a:solidFill>
                <a:latin typeface="Malgun Gothic"/>
                <a:ea typeface="Malgun Gothic"/>
              </a:rPr>
              <a:t>평가 task 구성</a:t>
            </a:r>
          </a:p>
        </p:txBody>
      </p:sp>
      <p:sp>
        <p:nvSpPr>
          <p:cNvPr id="44" name="text-44"/>
          <p:cNvSpPr txBox="1"/>
          <p:nvPr/>
        </p:nvSpPr>
        <p:spPr>
          <a:xfrm>
            <a:off x="6693408" y="3364992"/>
            <a:ext cx="15544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Raw Meaning Selection</a:t>
            </a:r>
          </a:p>
        </p:txBody>
      </p:sp>
      <p:sp>
        <p:nvSpPr>
          <p:cNvPr id="45" name="rect-45"/>
          <p:cNvSpPr/>
          <p:nvPr/>
        </p:nvSpPr>
        <p:spPr>
          <a:xfrm>
            <a:off x="8385048" y="3383280"/>
            <a:ext cx="2194560" cy="164592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rect-46"/>
          <p:cNvSpPr/>
          <p:nvPr/>
        </p:nvSpPr>
        <p:spPr>
          <a:xfrm>
            <a:off x="8385048" y="3383280"/>
            <a:ext cx="1702979" cy="164592"/>
          </a:xfrm>
          <a:prstGeom prst="round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ext-47"/>
          <p:cNvSpPr txBox="1"/>
          <p:nvPr/>
        </p:nvSpPr>
        <p:spPr>
          <a:xfrm>
            <a:off x="12362688" y="3364992"/>
            <a:ext cx="5029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388</a:t>
            </a:r>
          </a:p>
        </p:txBody>
      </p:sp>
      <p:sp>
        <p:nvSpPr>
          <p:cNvPr id="48" name="text-48"/>
          <p:cNvSpPr txBox="1"/>
          <p:nvPr/>
        </p:nvSpPr>
        <p:spPr>
          <a:xfrm>
            <a:off x="6693408" y="3767328"/>
            <a:ext cx="15544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Synonym Selection</a:t>
            </a:r>
          </a:p>
        </p:txBody>
      </p:sp>
      <p:sp>
        <p:nvSpPr>
          <p:cNvPr id="49" name="rect-49"/>
          <p:cNvSpPr/>
          <p:nvPr/>
        </p:nvSpPr>
        <p:spPr>
          <a:xfrm>
            <a:off x="8385048" y="3785616"/>
            <a:ext cx="2194560" cy="164592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rect-50"/>
          <p:cNvSpPr/>
          <p:nvPr/>
        </p:nvSpPr>
        <p:spPr>
          <a:xfrm>
            <a:off x="8385048" y="3785616"/>
            <a:ext cx="175565" cy="164592"/>
          </a:xfrm>
          <a:prstGeom prst="round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-51"/>
          <p:cNvSpPr txBox="1"/>
          <p:nvPr/>
        </p:nvSpPr>
        <p:spPr>
          <a:xfrm>
            <a:off x="12362688" y="3767328"/>
            <a:ext cx="5029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52" name="text-52"/>
          <p:cNvSpPr txBox="1"/>
          <p:nvPr/>
        </p:nvSpPr>
        <p:spPr>
          <a:xfrm>
            <a:off x="6693408" y="4169664"/>
            <a:ext cx="15544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Context Cloze</a:t>
            </a:r>
          </a:p>
        </p:txBody>
      </p:sp>
      <p:sp>
        <p:nvSpPr>
          <p:cNvPr id="53" name="rect-53"/>
          <p:cNvSpPr/>
          <p:nvPr/>
        </p:nvSpPr>
        <p:spPr>
          <a:xfrm>
            <a:off x="8385048" y="4187952"/>
            <a:ext cx="2194560" cy="164592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rect-54"/>
          <p:cNvSpPr/>
          <p:nvPr/>
        </p:nvSpPr>
        <p:spPr>
          <a:xfrm>
            <a:off x="8385048" y="4187952"/>
            <a:ext cx="158008" cy="164592"/>
          </a:xfrm>
          <a:prstGeom prst="round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text-55"/>
          <p:cNvSpPr txBox="1"/>
          <p:nvPr/>
        </p:nvSpPr>
        <p:spPr>
          <a:xfrm>
            <a:off x="12362688" y="4169664"/>
            <a:ext cx="5029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36</a:t>
            </a:r>
          </a:p>
        </p:txBody>
      </p:sp>
      <p:sp>
        <p:nvSpPr>
          <p:cNvPr id="56" name="text-56"/>
          <p:cNvSpPr txBox="1"/>
          <p:nvPr/>
        </p:nvSpPr>
        <p:spPr>
          <a:xfrm>
            <a:off x="6693408" y="4572000"/>
            <a:ext cx="15544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Sense Disambiguation</a:t>
            </a:r>
          </a:p>
        </p:txBody>
      </p:sp>
      <p:sp>
        <p:nvSpPr>
          <p:cNvPr id="57" name="rect-57"/>
          <p:cNvSpPr/>
          <p:nvPr/>
        </p:nvSpPr>
        <p:spPr>
          <a:xfrm>
            <a:off x="8385048" y="4590288"/>
            <a:ext cx="2194560" cy="164592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rect-58"/>
          <p:cNvSpPr/>
          <p:nvPr/>
        </p:nvSpPr>
        <p:spPr>
          <a:xfrm>
            <a:off x="8385048" y="4590288"/>
            <a:ext cx="96561" cy="164592"/>
          </a:xfrm>
          <a:prstGeom prst="round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text-59"/>
          <p:cNvSpPr txBox="1"/>
          <p:nvPr/>
        </p:nvSpPr>
        <p:spPr>
          <a:xfrm>
            <a:off x="12362688" y="4572000"/>
            <a:ext cx="5029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60" name="text-60"/>
          <p:cNvSpPr txBox="1"/>
          <p:nvPr/>
        </p:nvSpPr>
        <p:spPr>
          <a:xfrm>
            <a:off x="6693408" y="4974336"/>
            <a:ext cx="155448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Antonym Selection</a:t>
            </a:r>
          </a:p>
        </p:txBody>
      </p:sp>
      <p:sp>
        <p:nvSpPr>
          <p:cNvPr id="61" name="rect-61"/>
          <p:cNvSpPr/>
          <p:nvPr/>
        </p:nvSpPr>
        <p:spPr>
          <a:xfrm>
            <a:off x="8385048" y="4992624"/>
            <a:ext cx="2194560" cy="164592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rect-62"/>
          <p:cNvSpPr/>
          <p:nvPr/>
        </p:nvSpPr>
        <p:spPr>
          <a:xfrm>
            <a:off x="8385048" y="4992624"/>
            <a:ext cx="61448" cy="164592"/>
          </a:xfrm>
          <a:prstGeom prst="round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text-63"/>
          <p:cNvSpPr txBox="1"/>
          <p:nvPr/>
        </p:nvSpPr>
        <p:spPr>
          <a:xfrm>
            <a:off x="12362688" y="4974336"/>
            <a:ext cx="5029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5" name="rect-6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text-66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67" name="text-67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8" name="text-68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평가 세트 근거</a:t>
            </a:r>
          </a:p>
        </p:txBody>
      </p:sp>
      <p:sp>
        <p:nvSpPr>
          <p:cNvPr id="69" name="text-69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500개 test items | raw/generated 혼합 | task slice 구성</a:t>
            </a:r>
          </a:p>
        </p:txBody>
      </p:sp>
      <p:cxnSp>
        <p:nvCxnSpPr>
          <p:cNvPr id="70" name="line-70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71" name="text-71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72" name="text-7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-7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594360" y="1463040"/>
            <a:ext cx="3474720" cy="4407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-3"/>
          <p:cNvSpPr txBox="1"/>
          <p:nvPr/>
        </p:nvSpPr>
        <p:spPr>
          <a:xfrm>
            <a:off x="841248" y="1682496"/>
            <a:ext cx="283464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0B1F33"/>
                </a:solidFill>
                <a:latin typeface="Malgun Gothic"/>
                <a:ea typeface="Malgun Gothic"/>
              </a:rPr>
              <a:t>평가 구성</a:t>
            </a:r>
          </a:p>
        </p:txBody>
      </p:sp>
      <p:sp>
        <p:nvSpPr>
          <p:cNvPr id="4" name="rect-4"/>
          <p:cNvSpPr/>
          <p:nvPr/>
        </p:nvSpPr>
        <p:spPr>
          <a:xfrm>
            <a:off x="896112" y="2029968"/>
            <a:ext cx="2670048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ect-5"/>
          <p:cNvSpPr/>
          <p:nvPr/>
        </p:nvSpPr>
        <p:spPr>
          <a:xfrm>
            <a:off x="896112" y="2029968"/>
            <a:ext cx="91440" cy="713232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-6"/>
          <p:cNvSpPr txBox="1"/>
          <p:nvPr/>
        </p:nvSpPr>
        <p:spPr>
          <a:xfrm>
            <a:off x="1097280" y="2176272"/>
            <a:ext cx="234086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1. train/dev 유지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1097280" y="2505456"/>
            <a:ext cx="234086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학습 5787 / 검증 1247</a:t>
            </a:r>
          </a:p>
        </p:txBody>
      </p:sp>
      <p:sp>
        <p:nvSpPr>
          <p:cNvPr id="8" name="rect-8"/>
          <p:cNvSpPr/>
          <p:nvPr/>
        </p:nvSpPr>
        <p:spPr>
          <a:xfrm>
            <a:off x="896112" y="2816352"/>
            <a:ext cx="2670048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-9"/>
          <p:cNvSpPr/>
          <p:nvPr/>
        </p:nvSpPr>
        <p:spPr>
          <a:xfrm>
            <a:off x="896112" y="2816352"/>
            <a:ext cx="91440" cy="713232"/>
          </a:xfrm>
          <a:prstGeom prst="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-10"/>
          <p:cNvSpPr txBox="1"/>
          <p:nvPr/>
        </p:nvSpPr>
        <p:spPr>
          <a:xfrm>
            <a:off x="1097280" y="2962656"/>
            <a:ext cx="234086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E79A32"/>
                </a:solidFill>
                <a:latin typeface="Malgun Gothic"/>
                <a:ea typeface="Malgun Gothic"/>
              </a:rPr>
              <a:t>2. 평가 부분집합 선택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1097280" y="3291840"/>
            <a:ext cx="234086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평가 500개, seed 고정</a:t>
            </a:r>
          </a:p>
        </p:txBody>
      </p:sp>
      <p:sp>
        <p:nvSpPr>
          <p:cNvPr id="12" name="rect-12"/>
          <p:cNvSpPr/>
          <p:nvPr/>
        </p:nvSpPr>
        <p:spPr>
          <a:xfrm>
            <a:off x="896112" y="3602736"/>
            <a:ext cx="2670048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-13"/>
          <p:cNvSpPr/>
          <p:nvPr/>
        </p:nvSpPr>
        <p:spPr>
          <a:xfrm>
            <a:off x="896112" y="3602736"/>
            <a:ext cx="91440" cy="713232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-14"/>
          <p:cNvSpPr txBox="1"/>
          <p:nvPr/>
        </p:nvSpPr>
        <p:spPr>
          <a:xfrm>
            <a:off x="1097280" y="3749040"/>
            <a:ext cx="234086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3A9D5D"/>
                </a:solidFill>
                <a:latin typeface="Malgun Gothic"/>
                <a:ea typeface="Malgun Gothic"/>
              </a:rPr>
              <a:t>3. 출처 혼합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1097280" y="4078224"/>
            <a:ext cx="234086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raw 388 + generated 112</a:t>
            </a:r>
          </a:p>
        </p:txBody>
      </p:sp>
      <p:sp>
        <p:nvSpPr>
          <p:cNvPr id="16" name="rect-16"/>
          <p:cNvSpPr/>
          <p:nvPr/>
        </p:nvSpPr>
        <p:spPr>
          <a:xfrm>
            <a:off x="896112" y="4389120"/>
            <a:ext cx="2670048" cy="713232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ect-17"/>
          <p:cNvSpPr/>
          <p:nvPr/>
        </p:nvSpPr>
        <p:spPr>
          <a:xfrm>
            <a:off x="896112" y="4389120"/>
            <a:ext cx="91440" cy="713232"/>
          </a:xfrm>
          <a:prstGeom prst="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-18"/>
          <p:cNvSpPr txBox="1"/>
          <p:nvPr/>
        </p:nvSpPr>
        <p:spPr>
          <a:xfrm>
            <a:off x="1097280" y="4535424"/>
            <a:ext cx="234086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C84A3A"/>
                </a:solidFill>
                <a:latin typeface="Malgun Gothic"/>
                <a:ea typeface="Malgun Gothic"/>
              </a:rPr>
              <a:t>4. evaluation only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1097280" y="4864608"/>
            <a:ext cx="234086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No-API call / No-Retrain</a:t>
            </a:r>
          </a:p>
        </p:txBody>
      </p:sp>
      <p:sp>
        <p:nvSpPr>
          <p:cNvPr id="20" name="rect-20"/>
          <p:cNvSpPr/>
          <p:nvPr/>
        </p:nvSpPr>
        <p:spPr>
          <a:xfrm>
            <a:off x="896112" y="5248656"/>
            <a:ext cx="804672" cy="2743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1"/>
          <p:cNvSpPr txBox="1"/>
          <p:nvPr/>
        </p:nvSpPr>
        <p:spPr>
          <a:xfrm>
            <a:off x="950976" y="5321808"/>
            <a:ext cx="694944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C84A3A"/>
                </a:solidFill>
                <a:latin typeface="Malgun Gothic"/>
                <a:ea typeface="Malgun Gothic"/>
              </a:rPr>
              <a:t>확인 전용</a:t>
            </a:r>
          </a:p>
        </p:txBody>
      </p:sp>
      <p:sp>
        <p:nvSpPr>
          <p:cNvPr id="22" name="rect-22"/>
          <p:cNvSpPr/>
          <p:nvPr/>
        </p:nvSpPr>
        <p:spPr>
          <a:xfrm>
            <a:off x="1773936" y="5248656"/>
            <a:ext cx="804672" cy="2743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-23"/>
          <p:cNvSpPr txBox="1"/>
          <p:nvPr/>
        </p:nvSpPr>
        <p:spPr>
          <a:xfrm>
            <a:off x="1828800" y="5321808"/>
            <a:ext cx="694944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E79A32"/>
                </a:solidFill>
                <a:latin typeface="Malgun Gothic"/>
                <a:ea typeface="Malgun Gothic"/>
              </a:rPr>
              <a:t>고정 seed</a:t>
            </a:r>
          </a:p>
        </p:txBody>
      </p:sp>
      <p:sp>
        <p:nvSpPr>
          <p:cNvPr id="24" name="rect-24"/>
          <p:cNvSpPr/>
          <p:nvPr/>
        </p:nvSpPr>
        <p:spPr>
          <a:xfrm>
            <a:off x="2651760" y="5248656"/>
            <a:ext cx="804672" cy="27432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25"/>
          <p:cNvSpPr txBox="1"/>
          <p:nvPr/>
        </p:nvSpPr>
        <p:spPr>
          <a:xfrm>
            <a:off x="2706624" y="5321808"/>
            <a:ext cx="694944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1B8A8F"/>
                </a:solidFill>
                <a:latin typeface="Malgun Gothic"/>
                <a:ea typeface="Malgun Gothic"/>
              </a:rPr>
              <a:t>local 평가</a:t>
            </a:r>
          </a:p>
        </p:txBody>
      </p:sp>
      <p:sp>
        <p:nvSpPr>
          <p:cNvPr id="26" name="rect-26"/>
          <p:cNvSpPr/>
          <p:nvPr/>
        </p:nvSpPr>
        <p:spPr>
          <a:xfrm>
            <a:off x="4370832" y="1463040"/>
            <a:ext cx="3337560" cy="4407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-27"/>
          <p:cNvSpPr txBox="1"/>
          <p:nvPr/>
        </p:nvSpPr>
        <p:spPr>
          <a:xfrm>
            <a:off x="4617720" y="1682496"/>
            <a:ext cx="2788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0B1F33"/>
                </a:solidFill>
                <a:latin typeface="Malgun Gothic"/>
                <a:ea typeface="Malgun Gothic"/>
              </a:rPr>
              <a:t>hard label distribution</a:t>
            </a:r>
          </a:p>
        </p:txBody>
      </p:sp>
      <p:sp>
        <p:nvSpPr>
          <p:cNvPr id="28" name="text-28"/>
          <p:cNvSpPr txBox="1"/>
          <p:nvPr/>
        </p:nvSpPr>
        <p:spPr>
          <a:xfrm>
            <a:off x="4645152" y="2148840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A</a:t>
            </a:r>
          </a:p>
        </p:txBody>
      </p:sp>
      <p:sp>
        <p:nvSpPr>
          <p:cNvPr id="29" name="rect-29"/>
          <p:cNvSpPr/>
          <p:nvPr/>
        </p:nvSpPr>
        <p:spPr>
          <a:xfrm>
            <a:off x="5998464" y="2167128"/>
            <a:ext cx="1371600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rect-30"/>
          <p:cNvSpPr/>
          <p:nvPr/>
        </p:nvSpPr>
        <p:spPr>
          <a:xfrm>
            <a:off x="5998464" y="2167128"/>
            <a:ext cx="518465" cy="146304"/>
          </a:xfrm>
          <a:prstGeom prst="round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-31"/>
          <p:cNvSpPr txBox="1"/>
          <p:nvPr/>
        </p:nvSpPr>
        <p:spPr>
          <a:xfrm>
            <a:off x="7461504" y="2148840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189</a:t>
            </a:r>
          </a:p>
        </p:txBody>
      </p:sp>
      <p:sp>
        <p:nvSpPr>
          <p:cNvPr id="32" name="text-32"/>
          <p:cNvSpPr txBox="1"/>
          <p:nvPr/>
        </p:nvSpPr>
        <p:spPr>
          <a:xfrm>
            <a:off x="4645152" y="2496312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33" name="rect-33"/>
          <p:cNvSpPr/>
          <p:nvPr/>
        </p:nvSpPr>
        <p:spPr>
          <a:xfrm>
            <a:off x="5998464" y="2514600"/>
            <a:ext cx="1371600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rect-34"/>
          <p:cNvSpPr/>
          <p:nvPr/>
        </p:nvSpPr>
        <p:spPr>
          <a:xfrm>
            <a:off x="5998464" y="2514600"/>
            <a:ext cx="353873" cy="146304"/>
          </a:xfrm>
          <a:prstGeom prst="round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text-35"/>
          <p:cNvSpPr txBox="1"/>
          <p:nvPr/>
        </p:nvSpPr>
        <p:spPr>
          <a:xfrm>
            <a:off x="7461504" y="2496312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129</a:t>
            </a:r>
          </a:p>
        </p:txBody>
      </p:sp>
      <p:sp>
        <p:nvSpPr>
          <p:cNvPr id="36" name="text-36"/>
          <p:cNvSpPr txBox="1"/>
          <p:nvPr/>
        </p:nvSpPr>
        <p:spPr>
          <a:xfrm>
            <a:off x="4645152" y="2843784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C</a:t>
            </a:r>
          </a:p>
        </p:txBody>
      </p:sp>
      <p:sp>
        <p:nvSpPr>
          <p:cNvPr id="37" name="rect-37"/>
          <p:cNvSpPr/>
          <p:nvPr/>
        </p:nvSpPr>
        <p:spPr>
          <a:xfrm>
            <a:off x="5998464" y="2862072"/>
            <a:ext cx="1371600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rect-38"/>
          <p:cNvSpPr/>
          <p:nvPr/>
        </p:nvSpPr>
        <p:spPr>
          <a:xfrm>
            <a:off x="5998464" y="2862072"/>
            <a:ext cx="219456" cy="146304"/>
          </a:xfrm>
          <a:prstGeom prst="round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-39"/>
          <p:cNvSpPr txBox="1"/>
          <p:nvPr/>
        </p:nvSpPr>
        <p:spPr>
          <a:xfrm>
            <a:off x="7461504" y="2843784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80</a:t>
            </a:r>
          </a:p>
        </p:txBody>
      </p:sp>
      <p:sp>
        <p:nvSpPr>
          <p:cNvPr id="40" name="text-40"/>
          <p:cNvSpPr txBox="1"/>
          <p:nvPr/>
        </p:nvSpPr>
        <p:spPr>
          <a:xfrm>
            <a:off x="4645152" y="3191256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D</a:t>
            </a:r>
          </a:p>
        </p:txBody>
      </p:sp>
      <p:sp>
        <p:nvSpPr>
          <p:cNvPr id="41" name="rect-41"/>
          <p:cNvSpPr/>
          <p:nvPr/>
        </p:nvSpPr>
        <p:spPr>
          <a:xfrm>
            <a:off x="5998464" y="3209544"/>
            <a:ext cx="1371600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rect-42"/>
          <p:cNvSpPr/>
          <p:nvPr/>
        </p:nvSpPr>
        <p:spPr>
          <a:xfrm>
            <a:off x="5998464" y="3209544"/>
            <a:ext cx="279806" cy="146304"/>
          </a:xfrm>
          <a:prstGeom prst="round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text-43"/>
          <p:cNvSpPr txBox="1"/>
          <p:nvPr/>
        </p:nvSpPr>
        <p:spPr>
          <a:xfrm>
            <a:off x="7461504" y="3191256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102</a:t>
            </a:r>
          </a:p>
        </p:txBody>
      </p:sp>
      <p:cxnSp>
        <p:nvCxnSpPr>
          <p:cNvPr id="44" name="line-44"/>
          <p:cNvCxnSpPr/>
          <p:nvPr/>
        </p:nvCxnSpPr>
        <p:spPr>
          <a:xfrm>
            <a:off x="4572000" y="3730752"/>
            <a:ext cx="2788920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45" name="rect-45"/>
          <p:cNvSpPr/>
          <p:nvPr/>
        </p:nvSpPr>
        <p:spPr>
          <a:xfrm>
            <a:off x="4617720" y="3977640"/>
            <a:ext cx="896112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-46"/>
          <p:cNvSpPr txBox="1"/>
          <p:nvPr/>
        </p:nvSpPr>
        <p:spPr>
          <a:xfrm>
            <a:off x="4672584" y="4059936"/>
            <a:ext cx="78638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3A9D5D"/>
                </a:solidFill>
                <a:latin typeface="Malgun Gothic"/>
                <a:ea typeface="Malgun Gothic"/>
              </a:rPr>
              <a:t>원본 균형</a:t>
            </a:r>
          </a:p>
        </p:txBody>
      </p:sp>
      <p:sp>
        <p:nvSpPr>
          <p:cNvPr id="47" name="rect-47"/>
          <p:cNvSpPr/>
          <p:nvPr/>
        </p:nvSpPr>
        <p:spPr>
          <a:xfrm>
            <a:off x="5568696" y="3977640"/>
            <a:ext cx="896112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-48"/>
          <p:cNvSpPr txBox="1"/>
          <p:nvPr/>
        </p:nvSpPr>
        <p:spPr>
          <a:xfrm>
            <a:off x="5623560" y="4059936"/>
            <a:ext cx="78638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C84A3A"/>
                </a:solidFill>
                <a:latin typeface="Malgun Gothic"/>
                <a:ea typeface="Malgun Gothic"/>
              </a:rPr>
              <a:t>생성 고난도</a:t>
            </a:r>
          </a:p>
        </p:txBody>
      </p:sp>
      <p:sp>
        <p:nvSpPr>
          <p:cNvPr id="49" name="rect-49"/>
          <p:cNvSpPr/>
          <p:nvPr/>
        </p:nvSpPr>
        <p:spPr>
          <a:xfrm>
            <a:off x="6519672" y="3977640"/>
            <a:ext cx="896112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text-50"/>
          <p:cNvSpPr txBox="1"/>
          <p:nvPr/>
        </p:nvSpPr>
        <p:spPr>
          <a:xfrm>
            <a:off x="6574536" y="4059936"/>
            <a:ext cx="78638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600" b="1">
                <a:solidFill>
                  <a:srgbClr val="5F6B7A"/>
                </a:solidFill>
                <a:latin typeface="Malgun Gothic"/>
                <a:ea typeface="Malgun Gothic"/>
              </a:rPr>
              <a:t>집계만 사용</a:t>
            </a:r>
          </a:p>
        </p:txBody>
      </p:sp>
      <p:sp>
        <p:nvSpPr>
          <p:cNvPr id="51" name="text-51"/>
          <p:cNvSpPr txBox="1"/>
          <p:nvPr/>
        </p:nvSpPr>
        <p:spPr>
          <a:xfrm>
            <a:off x="4617720" y="5029200"/>
            <a:ext cx="269748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집계 라벨 보기</a:t>
            </a:r>
          </a:p>
        </p:txBody>
      </p:sp>
      <p:sp>
        <p:nvSpPr>
          <p:cNvPr id="52" name="rect-52"/>
          <p:cNvSpPr/>
          <p:nvPr/>
        </p:nvSpPr>
        <p:spPr>
          <a:xfrm>
            <a:off x="8010144" y="1463040"/>
            <a:ext cx="3520440" cy="4407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text-53"/>
          <p:cNvSpPr txBox="1"/>
          <p:nvPr/>
        </p:nvSpPr>
        <p:spPr>
          <a:xfrm>
            <a:off x="8257032" y="1682496"/>
            <a:ext cx="2880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100" b="1">
                <a:solidFill>
                  <a:srgbClr val="0B1F33"/>
                </a:solidFill>
                <a:latin typeface="Malgun Gothic"/>
                <a:ea typeface="Malgun Gothic"/>
              </a:rPr>
              <a:t>generated slice 점검</a:t>
            </a:r>
          </a:p>
        </p:txBody>
      </p:sp>
      <p:sp>
        <p:nvSpPr>
          <p:cNvPr id="54" name="text-54"/>
          <p:cNvSpPr txBox="1"/>
          <p:nvPr/>
        </p:nvSpPr>
        <p:spPr>
          <a:xfrm>
            <a:off x="8275320" y="2139696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Synonym</a:t>
            </a:r>
          </a:p>
        </p:txBody>
      </p:sp>
      <p:sp>
        <p:nvSpPr>
          <p:cNvPr id="55" name="rect-55"/>
          <p:cNvSpPr/>
          <p:nvPr/>
        </p:nvSpPr>
        <p:spPr>
          <a:xfrm>
            <a:off x="9628632" y="2157984"/>
            <a:ext cx="1261872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rect-56"/>
          <p:cNvSpPr/>
          <p:nvPr/>
        </p:nvSpPr>
        <p:spPr>
          <a:xfrm>
            <a:off x="9628632" y="2157984"/>
            <a:ext cx="1261872" cy="146304"/>
          </a:xfrm>
          <a:prstGeom prst="round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text-57"/>
          <p:cNvSpPr txBox="1"/>
          <p:nvPr/>
        </p:nvSpPr>
        <p:spPr>
          <a:xfrm>
            <a:off x="10981944" y="2139696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A 40/40</a:t>
            </a:r>
          </a:p>
        </p:txBody>
      </p:sp>
      <p:sp>
        <p:nvSpPr>
          <p:cNvPr id="58" name="text-58"/>
          <p:cNvSpPr txBox="1"/>
          <p:nvPr/>
        </p:nvSpPr>
        <p:spPr>
          <a:xfrm>
            <a:off x="8275320" y="2505456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Sense Disambiguation</a:t>
            </a:r>
          </a:p>
        </p:txBody>
      </p:sp>
      <p:sp>
        <p:nvSpPr>
          <p:cNvPr id="59" name="rect-59"/>
          <p:cNvSpPr/>
          <p:nvPr/>
        </p:nvSpPr>
        <p:spPr>
          <a:xfrm>
            <a:off x="9628632" y="2523744"/>
            <a:ext cx="1261872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ect-60"/>
          <p:cNvSpPr/>
          <p:nvPr/>
        </p:nvSpPr>
        <p:spPr>
          <a:xfrm>
            <a:off x="9628632" y="2523744"/>
            <a:ext cx="1261872" cy="146304"/>
          </a:xfrm>
          <a:prstGeom prst="round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ext-61"/>
          <p:cNvSpPr txBox="1"/>
          <p:nvPr/>
        </p:nvSpPr>
        <p:spPr>
          <a:xfrm>
            <a:off x="10981944" y="2505456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A 22/22</a:t>
            </a:r>
          </a:p>
        </p:txBody>
      </p:sp>
      <p:sp>
        <p:nvSpPr>
          <p:cNvPr id="62" name="text-62"/>
          <p:cNvSpPr txBox="1"/>
          <p:nvPr/>
        </p:nvSpPr>
        <p:spPr>
          <a:xfrm>
            <a:off x="8275320" y="2871216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Context Cloze</a:t>
            </a:r>
          </a:p>
        </p:txBody>
      </p:sp>
      <p:sp>
        <p:nvSpPr>
          <p:cNvPr id="63" name="rect-63"/>
          <p:cNvSpPr/>
          <p:nvPr/>
        </p:nvSpPr>
        <p:spPr>
          <a:xfrm>
            <a:off x="9628632" y="2889504"/>
            <a:ext cx="1261872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rect-64"/>
          <p:cNvSpPr/>
          <p:nvPr/>
        </p:nvSpPr>
        <p:spPr>
          <a:xfrm>
            <a:off x="9628632" y="2889504"/>
            <a:ext cx="1191768" cy="146304"/>
          </a:xfrm>
          <a:prstGeom prst="round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text-65"/>
          <p:cNvSpPr txBox="1"/>
          <p:nvPr/>
        </p:nvSpPr>
        <p:spPr>
          <a:xfrm>
            <a:off x="10981944" y="2871216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A 34/36</a:t>
            </a:r>
          </a:p>
        </p:txBody>
      </p:sp>
      <p:sp>
        <p:nvSpPr>
          <p:cNvPr id="66" name="text-66"/>
          <p:cNvSpPr txBox="1"/>
          <p:nvPr/>
        </p:nvSpPr>
        <p:spPr>
          <a:xfrm>
            <a:off x="8275320" y="3236976"/>
            <a:ext cx="1234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Antonym</a:t>
            </a:r>
          </a:p>
        </p:txBody>
      </p:sp>
      <p:sp>
        <p:nvSpPr>
          <p:cNvPr id="67" name="rect-67"/>
          <p:cNvSpPr/>
          <p:nvPr/>
        </p:nvSpPr>
        <p:spPr>
          <a:xfrm>
            <a:off x="9628632" y="3255264"/>
            <a:ext cx="1261872" cy="146304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rect-68"/>
          <p:cNvSpPr/>
          <p:nvPr/>
        </p:nvSpPr>
        <p:spPr>
          <a:xfrm>
            <a:off x="9628632" y="3255264"/>
            <a:ext cx="1261872" cy="146304"/>
          </a:xfrm>
          <a:prstGeom prst="round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ext-69"/>
          <p:cNvSpPr txBox="1"/>
          <p:nvPr/>
        </p:nvSpPr>
        <p:spPr>
          <a:xfrm>
            <a:off x="10981944" y="3236976"/>
            <a:ext cx="6400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n=14</a:t>
            </a:r>
          </a:p>
        </p:txBody>
      </p:sp>
      <p:sp>
        <p:nvSpPr>
          <p:cNvPr id="70" name="rect-70"/>
          <p:cNvSpPr/>
          <p:nvPr/>
        </p:nvSpPr>
        <p:spPr>
          <a:xfrm>
            <a:off x="8302752" y="3840480"/>
            <a:ext cx="804672" cy="365760"/>
          </a:xfrm>
          <a:prstGeom prst="roundRect">
            <a:avLst/>
          </a:prstGeom>
          <a:solidFill>
            <a:srgbClr val="FFF8F2"/>
          </a:solidFill>
          <a:ln w="9525">
            <a:solidFill>
              <a:srgbClr val="F2D0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ext-71"/>
          <p:cNvSpPr txBox="1"/>
          <p:nvPr/>
        </p:nvSpPr>
        <p:spPr>
          <a:xfrm>
            <a:off x="8375904" y="3941064"/>
            <a:ext cx="640080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C84A3A"/>
                </a:solidFill>
                <a:latin typeface="Malgun Gothic"/>
                <a:ea typeface="Malgun Gothic"/>
              </a:rPr>
              <a:t>고난도</a:t>
            </a:r>
          </a:p>
        </p:txBody>
      </p:sp>
      <p:sp>
        <p:nvSpPr>
          <p:cNvPr id="72" name="rect-72"/>
          <p:cNvSpPr/>
          <p:nvPr/>
        </p:nvSpPr>
        <p:spPr>
          <a:xfrm>
            <a:off x="9217152" y="3840480"/>
            <a:ext cx="804672" cy="36576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text-73"/>
          <p:cNvSpPr txBox="1"/>
          <p:nvPr/>
        </p:nvSpPr>
        <p:spPr>
          <a:xfrm>
            <a:off x="9290304" y="3941064"/>
            <a:ext cx="640080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최종 아님</a:t>
            </a:r>
          </a:p>
        </p:txBody>
      </p:sp>
      <p:sp>
        <p:nvSpPr>
          <p:cNvPr id="74" name="rect-74"/>
          <p:cNvSpPr/>
          <p:nvPr/>
        </p:nvSpPr>
        <p:spPr>
          <a:xfrm>
            <a:off x="10131552" y="3840480"/>
            <a:ext cx="804672" cy="365760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text-75"/>
          <p:cNvSpPr txBox="1"/>
          <p:nvPr/>
        </p:nvSpPr>
        <p:spPr>
          <a:xfrm>
            <a:off x="10204704" y="3941064"/>
            <a:ext cx="640080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균형 보완</a:t>
            </a:r>
          </a:p>
        </p:txBody>
      </p:sp>
      <p:sp>
        <p:nvSpPr>
          <p:cNvPr id="76" name="text-76"/>
          <p:cNvSpPr txBox="1"/>
          <p:nvPr/>
        </p:nvSpPr>
        <p:spPr>
          <a:xfrm>
            <a:off x="8275320" y="5010912"/>
            <a:ext cx="2852928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5F6B7A"/>
                </a:solidFill>
                <a:latin typeface="Malgun Gothic"/>
                <a:ea typeface="Malgun Gothic"/>
              </a:rPr>
              <a:t>generated slice 범위</a:t>
            </a:r>
          </a:p>
        </p:txBody>
      </p:sp>
      <p:sp>
        <p:nvSpPr>
          <p:cNvPr id="78" name="rect-7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text-79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80" name="text-80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25</a:t>
            </a:r>
          </a:p>
        </p:txBody>
      </p:sp>
      <p:sp>
        <p:nvSpPr>
          <p:cNvPr id="81" name="text-81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평가 부분집합 시각 점검</a:t>
            </a:r>
          </a:p>
        </p:txBody>
      </p:sp>
      <p:sp>
        <p:nvSpPr>
          <p:cNvPr id="82" name="text-82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통제 부분집합 | hard label distribution | generated slice 점검</a:t>
            </a:r>
          </a:p>
        </p:txBody>
      </p:sp>
      <p:cxnSp>
        <p:nvCxnSpPr>
          <p:cNvPr id="83" name="line-83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84" name="text-84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85" name="text-85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-9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40080" y="1417320"/>
            <a:ext cx="107899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640080" y="1417320"/>
            <a:ext cx="91440" cy="1444752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841248" y="1554480"/>
            <a:ext cx="749808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1B8A8F"/>
                </a:solidFill>
                <a:latin typeface="Malgun Gothic"/>
                <a:ea typeface="Malgun Gothic"/>
              </a:rPr>
              <a:t>B0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1581912" y="1572768"/>
            <a:ext cx="96469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Embedding 유사도 기준선</a:t>
            </a:r>
          </a:p>
        </p:txBody>
      </p:sp>
      <p:sp>
        <p:nvSpPr>
          <p:cNvPr id="6" name="rect-6"/>
          <p:cNvSpPr/>
          <p:nvPr/>
        </p:nvSpPr>
        <p:spPr>
          <a:xfrm>
            <a:off x="8833104" y="1892808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-7"/>
          <p:cNvSpPr txBox="1"/>
          <p:nvPr/>
        </p:nvSpPr>
        <p:spPr>
          <a:xfrm>
            <a:off x="8906256" y="1947672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8906256" y="2048256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63.0%</a:t>
            </a:r>
          </a:p>
        </p:txBody>
      </p:sp>
      <p:sp>
        <p:nvSpPr>
          <p:cNvPr id="9" name="rect-9"/>
          <p:cNvSpPr/>
          <p:nvPr/>
        </p:nvSpPr>
        <p:spPr>
          <a:xfrm>
            <a:off x="9656064" y="1892808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10"/>
          <p:cNvSpPr txBox="1"/>
          <p:nvPr/>
        </p:nvSpPr>
        <p:spPr>
          <a:xfrm>
            <a:off x="9729216" y="1947672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p50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9729216" y="2048256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20ms</a:t>
            </a:r>
          </a:p>
        </p:txBody>
      </p:sp>
      <p:sp>
        <p:nvSpPr>
          <p:cNvPr id="12" name="rect-12"/>
          <p:cNvSpPr/>
          <p:nvPr/>
        </p:nvSpPr>
        <p:spPr>
          <a:xfrm>
            <a:off x="10479024" y="1892808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3"/>
          <p:cNvSpPr txBox="1"/>
          <p:nvPr/>
        </p:nvSpPr>
        <p:spPr>
          <a:xfrm>
            <a:off x="10552176" y="1947672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adapter</a:t>
            </a:r>
          </a:p>
        </p:txBody>
      </p:sp>
      <p:sp>
        <p:nvSpPr>
          <p:cNvPr id="14" name="text-14"/>
          <p:cNvSpPr txBox="1"/>
          <p:nvPr/>
        </p:nvSpPr>
        <p:spPr>
          <a:xfrm>
            <a:off x="10552176" y="2048256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15" name="rect-15"/>
          <p:cNvSpPr/>
          <p:nvPr/>
        </p:nvSpPr>
        <p:spPr>
          <a:xfrm>
            <a:off x="896112" y="245059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text-16"/>
          <p:cNvSpPr txBox="1"/>
          <p:nvPr/>
        </p:nvSpPr>
        <p:spPr>
          <a:xfrm>
            <a:off x="969264" y="257860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문제/option</a:t>
            </a:r>
          </a:p>
        </p:txBody>
      </p:sp>
      <p:cxnSp>
        <p:nvCxnSpPr>
          <p:cNvPr id="17" name="line-17"/>
          <p:cNvCxnSpPr/>
          <p:nvPr/>
        </p:nvCxnSpPr>
        <p:spPr>
          <a:xfrm>
            <a:off x="3369564" y="2734056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8" name="line-18"/>
          <p:cNvCxnSpPr/>
          <p:nvPr/>
        </p:nvCxnSpPr>
        <p:spPr>
          <a:xfrm>
            <a:off x="3378708" y="267919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9" name="line-19"/>
          <p:cNvCxnSpPr/>
          <p:nvPr/>
        </p:nvCxnSpPr>
        <p:spPr>
          <a:xfrm>
            <a:off x="3378708" y="273405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0" name="rect-20"/>
          <p:cNvSpPr/>
          <p:nvPr/>
        </p:nvSpPr>
        <p:spPr>
          <a:xfrm>
            <a:off x="3506724" y="245059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1"/>
          <p:cNvSpPr txBox="1"/>
          <p:nvPr/>
        </p:nvSpPr>
        <p:spPr>
          <a:xfrm>
            <a:off x="3579876" y="257860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문장 Embedding</a:t>
            </a:r>
          </a:p>
        </p:txBody>
      </p:sp>
      <p:cxnSp>
        <p:nvCxnSpPr>
          <p:cNvPr id="22" name="line-22"/>
          <p:cNvCxnSpPr/>
          <p:nvPr/>
        </p:nvCxnSpPr>
        <p:spPr>
          <a:xfrm>
            <a:off x="5980176" y="2734056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3" name="line-23"/>
          <p:cNvCxnSpPr/>
          <p:nvPr/>
        </p:nvCxnSpPr>
        <p:spPr>
          <a:xfrm>
            <a:off x="5989320" y="267919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4" name="line-24"/>
          <p:cNvCxnSpPr/>
          <p:nvPr/>
        </p:nvCxnSpPr>
        <p:spPr>
          <a:xfrm>
            <a:off x="5989320" y="273405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5" name="rect-25"/>
          <p:cNvSpPr/>
          <p:nvPr/>
        </p:nvSpPr>
        <p:spPr>
          <a:xfrm>
            <a:off x="6117336" y="245059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-26"/>
          <p:cNvSpPr txBox="1"/>
          <p:nvPr/>
        </p:nvSpPr>
        <p:spPr>
          <a:xfrm>
            <a:off x="6190488" y="257860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유사도 점수</a:t>
            </a:r>
          </a:p>
        </p:txBody>
      </p:sp>
      <p:cxnSp>
        <p:nvCxnSpPr>
          <p:cNvPr id="27" name="line-27"/>
          <p:cNvCxnSpPr/>
          <p:nvPr/>
        </p:nvCxnSpPr>
        <p:spPr>
          <a:xfrm>
            <a:off x="8590788" y="2734056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8" name="line-28"/>
          <p:cNvCxnSpPr/>
          <p:nvPr/>
        </p:nvCxnSpPr>
        <p:spPr>
          <a:xfrm>
            <a:off x="8599932" y="267919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9" name="line-29"/>
          <p:cNvCxnSpPr/>
          <p:nvPr/>
        </p:nvCxnSpPr>
        <p:spPr>
          <a:xfrm>
            <a:off x="8599932" y="273405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30" name="rect-30"/>
          <p:cNvSpPr/>
          <p:nvPr/>
        </p:nvSpPr>
        <p:spPr>
          <a:xfrm>
            <a:off x="8727948" y="245059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-31"/>
          <p:cNvSpPr txBox="1"/>
          <p:nvPr/>
        </p:nvSpPr>
        <p:spPr>
          <a:xfrm>
            <a:off x="8801100" y="257860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argmax 답안</a:t>
            </a:r>
          </a:p>
        </p:txBody>
      </p:sp>
      <p:sp>
        <p:nvSpPr>
          <p:cNvPr id="32" name="rect-32"/>
          <p:cNvSpPr/>
          <p:nvPr/>
        </p:nvSpPr>
        <p:spPr>
          <a:xfrm>
            <a:off x="640080" y="2971800"/>
            <a:ext cx="107899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-33"/>
          <p:cNvSpPr/>
          <p:nvPr/>
        </p:nvSpPr>
        <p:spPr>
          <a:xfrm>
            <a:off x="640080" y="2971800"/>
            <a:ext cx="91440" cy="1444752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text-34"/>
          <p:cNvSpPr txBox="1"/>
          <p:nvPr/>
        </p:nvSpPr>
        <p:spPr>
          <a:xfrm>
            <a:off x="841248" y="3108960"/>
            <a:ext cx="749808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7F63B8"/>
                </a:solidFill>
                <a:latin typeface="Malgun Gothic"/>
                <a:ea typeface="Malgun Gothic"/>
              </a:rPr>
              <a:t>B2</a:t>
            </a:r>
          </a:p>
        </p:txBody>
      </p:sp>
      <p:sp>
        <p:nvSpPr>
          <p:cNvPr id="35" name="text-35"/>
          <p:cNvSpPr txBox="1"/>
          <p:nvPr/>
        </p:nvSpPr>
        <p:spPr>
          <a:xfrm>
            <a:off x="1581912" y="3127248"/>
            <a:ext cx="96469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Embedding 특징값 + 재사용 scorer</a:t>
            </a:r>
          </a:p>
        </p:txBody>
      </p:sp>
      <p:sp>
        <p:nvSpPr>
          <p:cNvPr id="36" name="rect-36"/>
          <p:cNvSpPr/>
          <p:nvPr/>
        </p:nvSpPr>
        <p:spPr>
          <a:xfrm>
            <a:off x="8833104" y="3447288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-37"/>
          <p:cNvSpPr txBox="1"/>
          <p:nvPr/>
        </p:nvSpPr>
        <p:spPr>
          <a:xfrm>
            <a:off x="8906256" y="3502152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38" name="text-38"/>
          <p:cNvSpPr txBox="1"/>
          <p:nvPr/>
        </p:nvSpPr>
        <p:spPr>
          <a:xfrm>
            <a:off x="8906256" y="3602736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58.2%</a:t>
            </a:r>
          </a:p>
        </p:txBody>
      </p:sp>
      <p:sp>
        <p:nvSpPr>
          <p:cNvPr id="39" name="rect-39"/>
          <p:cNvSpPr/>
          <p:nvPr/>
        </p:nvSpPr>
        <p:spPr>
          <a:xfrm>
            <a:off x="9656064" y="3447288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-40"/>
          <p:cNvSpPr txBox="1"/>
          <p:nvPr/>
        </p:nvSpPr>
        <p:spPr>
          <a:xfrm>
            <a:off x="9729216" y="3502152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p50</a:t>
            </a:r>
          </a:p>
        </p:txBody>
      </p:sp>
      <p:sp>
        <p:nvSpPr>
          <p:cNvPr id="41" name="text-41"/>
          <p:cNvSpPr txBox="1"/>
          <p:nvPr/>
        </p:nvSpPr>
        <p:spPr>
          <a:xfrm>
            <a:off x="9729216" y="3602736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20ms</a:t>
            </a:r>
          </a:p>
        </p:txBody>
      </p:sp>
      <p:sp>
        <p:nvSpPr>
          <p:cNvPr id="42" name="rect-42"/>
          <p:cNvSpPr/>
          <p:nvPr/>
        </p:nvSpPr>
        <p:spPr>
          <a:xfrm>
            <a:off x="10479024" y="3447288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43"/>
          <p:cNvSpPr txBox="1"/>
          <p:nvPr/>
        </p:nvSpPr>
        <p:spPr>
          <a:xfrm>
            <a:off x="10552176" y="3502152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학습</a:t>
            </a:r>
          </a:p>
        </p:txBody>
      </p:sp>
      <p:sp>
        <p:nvSpPr>
          <p:cNvPr id="44" name="text-44"/>
          <p:cNvSpPr txBox="1"/>
          <p:nvPr/>
        </p:nvSpPr>
        <p:spPr>
          <a:xfrm>
            <a:off x="10552176" y="3602736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재사용</a:t>
            </a:r>
          </a:p>
        </p:txBody>
      </p:sp>
      <p:sp>
        <p:nvSpPr>
          <p:cNvPr id="45" name="rect-45"/>
          <p:cNvSpPr/>
          <p:nvPr/>
        </p:nvSpPr>
        <p:spPr>
          <a:xfrm>
            <a:off x="896112" y="400507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-46"/>
          <p:cNvSpPr txBox="1"/>
          <p:nvPr/>
        </p:nvSpPr>
        <p:spPr>
          <a:xfrm>
            <a:off x="969264" y="413308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문제/option</a:t>
            </a:r>
          </a:p>
        </p:txBody>
      </p:sp>
      <p:cxnSp>
        <p:nvCxnSpPr>
          <p:cNvPr id="47" name="line-47"/>
          <p:cNvCxnSpPr/>
          <p:nvPr/>
        </p:nvCxnSpPr>
        <p:spPr>
          <a:xfrm>
            <a:off x="3369564" y="4288536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48" name="line-48"/>
          <p:cNvCxnSpPr/>
          <p:nvPr/>
        </p:nvCxnSpPr>
        <p:spPr>
          <a:xfrm>
            <a:off x="3378708" y="423367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49" name="line-49"/>
          <p:cNvCxnSpPr/>
          <p:nvPr/>
        </p:nvCxnSpPr>
        <p:spPr>
          <a:xfrm>
            <a:off x="3378708" y="428853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50" name="rect-50"/>
          <p:cNvSpPr/>
          <p:nvPr/>
        </p:nvSpPr>
        <p:spPr>
          <a:xfrm>
            <a:off x="3506724" y="400507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text-51"/>
          <p:cNvSpPr txBox="1"/>
          <p:nvPr/>
        </p:nvSpPr>
        <p:spPr>
          <a:xfrm>
            <a:off x="3579876" y="413308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Embedding 특징값</a:t>
            </a:r>
          </a:p>
        </p:txBody>
      </p:sp>
      <p:cxnSp>
        <p:nvCxnSpPr>
          <p:cNvPr id="52" name="line-52"/>
          <p:cNvCxnSpPr/>
          <p:nvPr/>
        </p:nvCxnSpPr>
        <p:spPr>
          <a:xfrm>
            <a:off x="5980176" y="4288536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3" name="line-53"/>
          <p:cNvCxnSpPr/>
          <p:nvPr/>
        </p:nvCxnSpPr>
        <p:spPr>
          <a:xfrm>
            <a:off x="5989320" y="423367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4" name="line-54"/>
          <p:cNvCxnSpPr/>
          <p:nvPr/>
        </p:nvCxnSpPr>
        <p:spPr>
          <a:xfrm>
            <a:off x="5989320" y="428853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55" name="rect-55"/>
          <p:cNvSpPr/>
          <p:nvPr/>
        </p:nvSpPr>
        <p:spPr>
          <a:xfrm>
            <a:off x="6117336" y="400507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-56"/>
          <p:cNvSpPr txBox="1"/>
          <p:nvPr/>
        </p:nvSpPr>
        <p:spPr>
          <a:xfrm>
            <a:off x="6190488" y="413308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기존 MLP scorer</a:t>
            </a:r>
          </a:p>
        </p:txBody>
      </p:sp>
      <p:cxnSp>
        <p:nvCxnSpPr>
          <p:cNvPr id="57" name="line-57"/>
          <p:cNvCxnSpPr/>
          <p:nvPr/>
        </p:nvCxnSpPr>
        <p:spPr>
          <a:xfrm>
            <a:off x="8590788" y="4288536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8" name="line-58"/>
          <p:cNvCxnSpPr/>
          <p:nvPr/>
        </p:nvCxnSpPr>
        <p:spPr>
          <a:xfrm>
            <a:off x="8599932" y="423367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9" name="line-59"/>
          <p:cNvCxnSpPr/>
          <p:nvPr/>
        </p:nvCxnSpPr>
        <p:spPr>
          <a:xfrm>
            <a:off x="8599932" y="428853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60" name="rect-60"/>
          <p:cNvSpPr/>
          <p:nvPr/>
        </p:nvSpPr>
        <p:spPr>
          <a:xfrm>
            <a:off x="8727948" y="400507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text-61"/>
          <p:cNvSpPr txBox="1"/>
          <p:nvPr/>
        </p:nvSpPr>
        <p:spPr>
          <a:xfrm>
            <a:off x="8801100" y="413308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argmax 답안</a:t>
            </a:r>
          </a:p>
        </p:txBody>
      </p:sp>
      <p:sp>
        <p:nvSpPr>
          <p:cNvPr id="62" name="rect-62"/>
          <p:cNvSpPr/>
          <p:nvPr/>
        </p:nvSpPr>
        <p:spPr>
          <a:xfrm>
            <a:off x="640080" y="4526280"/>
            <a:ext cx="107899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rect-63"/>
          <p:cNvSpPr/>
          <p:nvPr/>
        </p:nvSpPr>
        <p:spPr>
          <a:xfrm>
            <a:off x="640080" y="4526280"/>
            <a:ext cx="91440" cy="1444752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text-64"/>
          <p:cNvSpPr txBox="1"/>
          <p:nvPr/>
        </p:nvSpPr>
        <p:spPr>
          <a:xfrm>
            <a:off x="841248" y="4663440"/>
            <a:ext cx="749808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3A9D5D"/>
                </a:solidFill>
                <a:latin typeface="Malgun Gothic"/>
                <a:ea typeface="Malgun Gothic"/>
              </a:rPr>
              <a:t>B3</a:t>
            </a:r>
          </a:p>
        </p:txBody>
      </p:sp>
      <p:sp>
        <p:nvSpPr>
          <p:cNvPr id="65" name="text-65"/>
          <p:cNvSpPr txBox="1"/>
          <p:nvPr/>
        </p:nvSpPr>
        <p:spPr>
          <a:xfrm>
            <a:off x="1581912" y="4681728"/>
            <a:ext cx="96469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문제-option Cross-encoder</a:t>
            </a:r>
          </a:p>
        </p:txBody>
      </p:sp>
      <p:sp>
        <p:nvSpPr>
          <p:cNvPr id="66" name="rect-66"/>
          <p:cNvSpPr/>
          <p:nvPr/>
        </p:nvSpPr>
        <p:spPr>
          <a:xfrm>
            <a:off x="8833104" y="5001768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text-67"/>
          <p:cNvSpPr txBox="1"/>
          <p:nvPr/>
        </p:nvSpPr>
        <p:spPr>
          <a:xfrm>
            <a:off x="8906256" y="5056632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68" name="text-68"/>
          <p:cNvSpPr txBox="1"/>
          <p:nvPr/>
        </p:nvSpPr>
        <p:spPr>
          <a:xfrm>
            <a:off x="8906256" y="5157216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97.4%</a:t>
            </a:r>
          </a:p>
        </p:txBody>
      </p:sp>
      <p:sp>
        <p:nvSpPr>
          <p:cNvPr id="69" name="rect-69"/>
          <p:cNvSpPr/>
          <p:nvPr/>
        </p:nvSpPr>
        <p:spPr>
          <a:xfrm>
            <a:off x="9656064" y="5001768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text-70"/>
          <p:cNvSpPr txBox="1"/>
          <p:nvPr/>
        </p:nvSpPr>
        <p:spPr>
          <a:xfrm>
            <a:off x="9729216" y="5056632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p50</a:t>
            </a:r>
          </a:p>
        </p:txBody>
      </p:sp>
      <p:sp>
        <p:nvSpPr>
          <p:cNvPr id="71" name="text-71"/>
          <p:cNvSpPr txBox="1"/>
          <p:nvPr/>
        </p:nvSpPr>
        <p:spPr>
          <a:xfrm>
            <a:off x="9729216" y="5157216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23ms</a:t>
            </a:r>
          </a:p>
        </p:txBody>
      </p:sp>
      <p:sp>
        <p:nvSpPr>
          <p:cNvPr id="72" name="rect-72"/>
          <p:cNvSpPr/>
          <p:nvPr/>
        </p:nvSpPr>
        <p:spPr>
          <a:xfrm>
            <a:off x="10479024" y="5001768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text-73"/>
          <p:cNvSpPr txBox="1"/>
          <p:nvPr/>
        </p:nvSpPr>
        <p:spPr>
          <a:xfrm>
            <a:off x="10552176" y="5056632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adapter</a:t>
            </a:r>
          </a:p>
        </p:txBody>
      </p:sp>
      <p:sp>
        <p:nvSpPr>
          <p:cNvPr id="74" name="text-74"/>
          <p:cNvSpPr txBox="1"/>
          <p:nvPr/>
        </p:nvSpPr>
        <p:spPr>
          <a:xfrm>
            <a:off x="10552176" y="5157216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75" name="rect-75"/>
          <p:cNvSpPr/>
          <p:nvPr/>
        </p:nvSpPr>
        <p:spPr>
          <a:xfrm>
            <a:off x="896112" y="555955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text-76"/>
          <p:cNvSpPr txBox="1"/>
          <p:nvPr/>
        </p:nvSpPr>
        <p:spPr>
          <a:xfrm>
            <a:off x="969264" y="568756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문제 + option</a:t>
            </a:r>
          </a:p>
        </p:txBody>
      </p:sp>
      <p:cxnSp>
        <p:nvCxnSpPr>
          <p:cNvPr id="77" name="line-77"/>
          <p:cNvCxnSpPr/>
          <p:nvPr/>
        </p:nvCxnSpPr>
        <p:spPr>
          <a:xfrm>
            <a:off x="3369564" y="5843016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78" name="line-78"/>
          <p:cNvCxnSpPr/>
          <p:nvPr/>
        </p:nvCxnSpPr>
        <p:spPr>
          <a:xfrm>
            <a:off x="3378708" y="57881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79" name="line-79"/>
          <p:cNvCxnSpPr/>
          <p:nvPr/>
        </p:nvCxnSpPr>
        <p:spPr>
          <a:xfrm>
            <a:off x="3378708" y="584301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80" name="rect-80"/>
          <p:cNvSpPr/>
          <p:nvPr/>
        </p:nvSpPr>
        <p:spPr>
          <a:xfrm>
            <a:off x="3506724" y="555955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text-81"/>
          <p:cNvSpPr txBox="1"/>
          <p:nvPr/>
        </p:nvSpPr>
        <p:spPr>
          <a:xfrm>
            <a:off x="3579876" y="568756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Cross-encoder</a:t>
            </a:r>
          </a:p>
        </p:txBody>
      </p:sp>
      <p:cxnSp>
        <p:nvCxnSpPr>
          <p:cNvPr id="82" name="line-82"/>
          <p:cNvCxnSpPr/>
          <p:nvPr/>
        </p:nvCxnSpPr>
        <p:spPr>
          <a:xfrm>
            <a:off x="5980176" y="5843016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83" name="line-83"/>
          <p:cNvCxnSpPr/>
          <p:nvPr/>
        </p:nvCxnSpPr>
        <p:spPr>
          <a:xfrm>
            <a:off x="5989320" y="57881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84" name="line-84"/>
          <p:cNvCxnSpPr/>
          <p:nvPr/>
        </p:nvCxnSpPr>
        <p:spPr>
          <a:xfrm>
            <a:off x="5989320" y="584301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85" name="rect-85"/>
          <p:cNvSpPr/>
          <p:nvPr/>
        </p:nvSpPr>
        <p:spPr>
          <a:xfrm>
            <a:off x="6117336" y="555955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text-86"/>
          <p:cNvSpPr txBox="1"/>
          <p:nvPr/>
        </p:nvSpPr>
        <p:spPr>
          <a:xfrm>
            <a:off x="6190488" y="568756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pairwise 점수</a:t>
            </a:r>
          </a:p>
        </p:txBody>
      </p:sp>
      <p:cxnSp>
        <p:nvCxnSpPr>
          <p:cNvPr id="87" name="line-87"/>
          <p:cNvCxnSpPr/>
          <p:nvPr/>
        </p:nvCxnSpPr>
        <p:spPr>
          <a:xfrm>
            <a:off x="8590788" y="5843016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88" name="line-88"/>
          <p:cNvCxnSpPr/>
          <p:nvPr/>
        </p:nvCxnSpPr>
        <p:spPr>
          <a:xfrm>
            <a:off x="8599932" y="57881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89" name="line-89"/>
          <p:cNvCxnSpPr/>
          <p:nvPr/>
        </p:nvCxnSpPr>
        <p:spPr>
          <a:xfrm>
            <a:off x="8599932" y="584301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90" name="rect-90"/>
          <p:cNvSpPr/>
          <p:nvPr/>
        </p:nvSpPr>
        <p:spPr>
          <a:xfrm>
            <a:off x="8727948" y="5559552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text-91"/>
          <p:cNvSpPr txBox="1"/>
          <p:nvPr/>
        </p:nvSpPr>
        <p:spPr>
          <a:xfrm>
            <a:off x="8801100" y="5687568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ranked answer</a:t>
            </a:r>
          </a:p>
        </p:txBody>
      </p:sp>
      <p:sp>
        <p:nvSpPr>
          <p:cNvPr id="93" name="rect-9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text-94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95" name="text-95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96" name="text-96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모델 구조: B0 / B2 / B3</a:t>
            </a:r>
          </a:p>
        </p:txBody>
      </p:sp>
      <p:sp>
        <p:nvSpPr>
          <p:cNvPr id="97" name="text-97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판별형 계열 | 모델별 흐름 | adapter 없음</a:t>
            </a:r>
          </a:p>
        </p:txBody>
      </p:sp>
      <p:cxnSp>
        <p:nvCxnSpPr>
          <p:cNvPr id="98" name="line-98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99" name="text-99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00" name="text-100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-6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40080" y="1536192"/>
            <a:ext cx="10789920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640080" y="1536192"/>
            <a:ext cx="91440" cy="1874520"/>
          </a:xfrm>
          <a:prstGeom prst="rect">
            <a:avLst/>
          </a:prstGeom>
          <a:solidFill>
            <a:srgbClr val="C84A3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841248" y="1673352"/>
            <a:ext cx="749808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C84A3A"/>
                </a:solidFill>
                <a:latin typeface="Malgun Gothic"/>
                <a:ea typeface="Malgun Gothic"/>
              </a:rPr>
              <a:t>G3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1581912" y="1691640"/>
            <a:ext cx="96469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Qwen 3B local LM + 기존 LoRA adapter</a:t>
            </a:r>
          </a:p>
        </p:txBody>
      </p:sp>
      <p:sp>
        <p:nvSpPr>
          <p:cNvPr id="6" name="rect-6"/>
          <p:cNvSpPr/>
          <p:nvPr/>
        </p:nvSpPr>
        <p:spPr>
          <a:xfrm>
            <a:off x="8833104" y="2011680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-7"/>
          <p:cNvSpPr txBox="1"/>
          <p:nvPr/>
        </p:nvSpPr>
        <p:spPr>
          <a:xfrm>
            <a:off x="8906256" y="2066544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8906256" y="2167128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C84A3A"/>
                </a:solidFill>
                <a:latin typeface="Malgun Gothic"/>
                <a:ea typeface="Malgun Gothic"/>
              </a:rPr>
              <a:t>99.2%</a:t>
            </a:r>
          </a:p>
        </p:txBody>
      </p:sp>
      <p:sp>
        <p:nvSpPr>
          <p:cNvPr id="9" name="rect-9"/>
          <p:cNvSpPr/>
          <p:nvPr/>
        </p:nvSpPr>
        <p:spPr>
          <a:xfrm>
            <a:off x="9656064" y="2011680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10"/>
          <p:cNvSpPr txBox="1"/>
          <p:nvPr/>
        </p:nvSpPr>
        <p:spPr>
          <a:xfrm>
            <a:off x="9729216" y="2066544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p50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9729216" y="2167128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C84A3A"/>
                </a:solidFill>
                <a:latin typeface="Malgun Gothic"/>
                <a:ea typeface="Malgun Gothic"/>
              </a:rPr>
              <a:t>2.52s</a:t>
            </a:r>
          </a:p>
        </p:txBody>
      </p:sp>
      <p:sp>
        <p:nvSpPr>
          <p:cNvPr id="12" name="rect-12"/>
          <p:cNvSpPr/>
          <p:nvPr/>
        </p:nvSpPr>
        <p:spPr>
          <a:xfrm>
            <a:off x="10479024" y="2011680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3"/>
          <p:cNvSpPr txBox="1"/>
          <p:nvPr/>
        </p:nvSpPr>
        <p:spPr>
          <a:xfrm>
            <a:off x="10552176" y="2066544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RAM</a:t>
            </a:r>
          </a:p>
        </p:txBody>
      </p:sp>
      <p:sp>
        <p:nvSpPr>
          <p:cNvPr id="14" name="text-14"/>
          <p:cNvSpPr txBox="1"/>
          <p:nvPr/>
        </p:nvSpPr>
        <p:spPr>
          <a:xfrm>
            <a:off x="10552176" y="2167128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C84A3A"/>
                </a:solidFill>
                <a:latin typeface="Malgun Gothic"/>
                <a:ea typeface="Malgun Gothic"/>
              </a:rPr>
              <a:t>5.8GB</a:t>
            </a:r>
          </a:p>
        </p:txBody>
      </p:sp>
      <p:sp>
        <p:nvSpPr>
          <p:cNvPr id="15" name="rect-15"/>
          <p:cNvSpPr/>
          <p:nvPr/>
        </p:nvSpPr>
        <p:spPr>
          <a:xfrm>
            <a:off x="896112" y="2569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text-16"/>
          <p:cNvSpPr txBox="1"/>
          <p:nvPr/>
        </p:nvSpPr>
        <p:spPr>
          <a:xfrm>
            <a:off x="969264" y="2697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MCQ prompt</a:t>
            </a:r>
          </a:p>
        </p:txBody>
      </p:sp>
      <p:cxnSp>
        <p:nvCxnSpPr>
          <p:cNvPr id="17" name="line-17"/>
          <p:cNvCxnSpPr/>
          <p:nvPr/>
        </p:nvCxnSpPr>
        <p:spPr>
          <a:xfrm>
            <a:off x="3369564" y="2852928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8" name="line-18"/>
          <p:cNvCxnSpPr/>
          <p:nvPr/>
        </p:nvCxnSpPr>
        <p:spPr>
          <a:xfrm>
            <a:off x="3378708" y="27980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9" name="line-19"/>
          <p:cNvCxnSpPr/>
          <p:nvPr/>
        </p:nvCxnSpPr>
        <p:spPr>
          <a:xfrm>
            <a:off x="3378708" y="28529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0" name="rect-20"/>
          <p:cNvSpPr/>
          <p:nvPr/>
        </p:nvSpPr>
        <p:spPr>
          <a:xfrm>
            <a:off x="3506724" y="2569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1"/>
          <p:cNvSpPr txBox="1"/>
          <p:nvPr/>
        </p:nvSpPr>
        <p:spPr>
          <a:xfrm>
            <a:off x="3579876" y="2697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Qwen 3B 기반 모델</a:t>
            </a:r>
          </a:p>
        </p:txBody>
      </p:sp>
      <p:cxnSp>
        <p:nvCxnSpPr>
          <p:cNvPr id="22" name="line-22"/>
          <p:cNvCxnSpPr/>
          <p:nvPr/>
        </p:nvCxnSpPr>
        <p:spPr>
          <a:xfrm>
            <a:off x="5980176" y="2852928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3" name="line-23"/>
          <p:cNvCxnSpPr/>
          <p:nvPr/>
        </p:nvCxnSpPr>
        <p:spPr>
          <a:xfrm>
            <a:off x="5989320" y="27980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4" name="line-24"/>
          <p:cNvCxnSpPr/>
          <p:nvPr/>
        </p:nvCxnSpPr>
        <p:spPr>
          <a:xfrm>
            <a:off x="5989320" y="28529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5" name="rect-25"/>
          <p:cNvSpPr/>
          <p:nvPr/>
        </p:nvSpPr>
        <p:spPr>
          <a:xfrm>
            <a:off x="6117336" y="2569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-26"/>
          <p:cNvSpPr txBox="1"/>
          <p:nvPr/>
        </p:nvSpPr>
        <p:spPr>
          <a:xfrm>
            <a:off x="6190488" y="2697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LoRA 최종 adapter</a:t>
            </a:r>
          </a:p>
        </p:txBody>
      </p:sp>
      <p:cxnSp>
        <p:nvCxnSpPr>
          <p:cNvPr id="27" name="line-27"/>
          <p:cNvCxnSpPr/>
          <p:nvPr/>
        </p:nvCxnSpPr>
        <p:spPr>
          <a:xfrm>
            <a:off x="8590788" y="2852928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8" name="line-28"/>
          <p:cNvCxnSpPr/>
          <p:nvPr/>
        </p:nvCxnSpPr>
        <p:spPr>
          <a:xfrm>
            <a:off x="8599932" y="27980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9" name="line-29"/>
          <p:cNvCxnSpPr/>
          <p:nvPr/>
        </p:nvCxnSpPr>
        <p:spPr>
          <a:xfrm>
            <a:off x="8599932" y="28529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30" name="rect-30"/>
          <p:cNvSpPr/>
          <p:nvPr/>
        </p:nvSpPr>
        <p:spPr>
          <a:xfrm>
            <a:off x="8727948" y="2569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-31"/>
          <p:cNvSpPr txBox="1"/>
          <p:nvPr/>
        </p:nvSpPr>
        <p:spPr>
          <a:xfrm>
            <a:off x="8801100" y="2697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구조화 답안</a:t>
            </a:r>
          </a:p>
        </p:txBody>
      </p:sp>
      <p:sp>
        <p:nvSpPr>
          <p:cNvPr id="32" name="rect-32"/>
          <p:cNvSpPr/>
          <p:nvPr/>
        </p:nvSpPr>
        <p:spPr>
          <a:xfrm>
            <a:off x="640080" y="3822192"/>
            <a:ext cx="10789920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-33"/>
          <p:cNvSpPr/>
          <p:nvPr/>
        </p:nvSpPr>
        <p:spPr>
          <a:xfrm>
            <a:off x="640080" y="3822192"/>
            <a:ext cx="91440" cy="1874520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text-34"/>
          <p:cNvSpPr txBox="1"/>
          <p:nvPr/>
        </p:nvSpPr>
        <p:spPr>
          <a:xfrm>
            <a:off x="841248" y="3959352"/>
            <a:ext cx="749808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7F63B8"/>
                </a:solidFill>
                <a:latin typeface="Malgun Gothic"/>
                <a:ea typeface="Malgun Gothic"/>
              </a:rPr>
              <a:t>G4</a:t>
            </a:r>
          </a:p>
        </p:txBody>
      </p:sp>
      <p:sp>
        <p:nvSpPr>
          <p:cNvPr id="35" name="text-35"/>
          <p:cNvSpPr txBox="1"/>
          <p:nvPr/>
        </p:nvSpPr>
        <p:spPr>
          <a:xfrm>
            <a:off x="1581912" y="3977640"/>
            <a:ext cx="96469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Qwen 3B 4bit 로딩 + 같은 adapter 경로</a:t>
            </a:r>
          </a:p>
        </p:txBody>
      </p:sp>
      <p:sp>
        <p:nvSpPr>
          <p:cNvPr id="36" name="rect-36"/>
          <p:cNvSpPr/>
          <p:nvPr/>
        </p:nvSpPr>
        <p:spPr>
          <a:xfrm>
            <a:off x="8833104" y="4297680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-37"/>
          <p:cNvSpPr txBox="1"/>
          <p:nvPr/>
        </p:nvSpPr>
        <p:spPr>
          <a:xfrm>
            <a:off x="8906256" y="4352544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38" name="text-38"/>
          <p:cNvSpPr txBox="1"/>
          <p:nvPr/>
        </p:nvSpPr>
        <p:spPr>
          <a:xfrm>
            <a:off x="8906256" y="4453128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97.4%</a:t>
            </a:r>
          </a:p>
        </p:txBody>
      </p:sp>
      <p:sp>
        <p:nvSpPr>
          <p:cNvPr id="39" name="rect-39"/>
          <p:cNvSpPr/>
          <p:nvPr/>
        </p:nvSpPr>
        <p:spPr>
          <a:xfrm>
            <a:off x="9656064" y="4297680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-40"/>
          <p:cNvSpPr txBox="1"/>
          <p:nvPr/>
        </p:nvSpPr>
        <p:spPr>
          <a:xfrm>
            <a:off x="9729216" y="4352544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p50</a:t>
            </a:r>
          </a:p>
        </p:txBody>
      </p:sp>
      <p:sp>
        <p:nvSpPr>
          <p:cNvPr id="41" name="text-41"/>
          <p:cNvSpPr txBox="1"/>
          <p:nvPr/>
        </p:nvSpPr>
        <p:spPr>
          <a:xfrm>
            <a:off x="9729216" y="4453128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1.85s</a:t>
            </a:r>
          </a:p>
        </p:txBody>
      </p:sp>
      <p:sp>
        <p:nvSpPr>
          <p:cNvPr id="42" name="rect-42"/>
          <p:cNvSpPr/>
          <p:nvPr/>
        </p:nvSpPr>
        <p:spPr>
          <a:xfrm>
            <a:off x="10479024" y="4297680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43"/>
          <p:cNvSpPr txBox="1"/>
          <p:nvPr/>
        </p:nvSpPr>
        <p:spPr>
          <a:xfrm>
            <a:off x="10552176" y="4352544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RAM</a:t>
            </a:r>
          </a:p>
        </p:txBody>
      </p:sp>
      <p:sp>
        <p:nvSpPr>
          <p:cNvPr id="44" name="text-44"/>
          <p:cNvSpPr txBox="1"/>
          <p:nvPr/>
        </p:nvSpPr>
        <p:spPr>
          <a:xfrm>
            <a:off x="10552176" y="4453128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2.2GB</a:t>
            </a:r>
          </a:p>
        </p:txBody>
      </p:sp>
      <p:sp>
        <p:nvSpPr>
          <p:cNvPr id="45" name="rect-45"/>
          <p:cNvSpPr/>
          <p:nvPr/>
        </p:nvSpPr>
        <p:spPr>
          <a:xfrm>
            <a:off x="896112" y="4855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-46"/>
          <p:cNvSpPr txBox="1"/>
          <p:nvPr/>
        </p:nvSpPr>
        <p:spPr>
          <a:xfrm>
            <a:off x="969264" y="4983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MCQ prompt</a:t>
            </a:r>
          </a:p>
        </p:txBody>
      </p:sp>
      <p:cxnSp>
        <p:nvCxnSpPr>
          <p:cNvPr id="47" name="line-47"/>
          <p:cNvCxnSpPr/>
          <p:nvPr/>
        </p:nvCxnSpPr>
        <p:spPr>
          <a:xfrm>
            <a:off x="3369564" y="5138928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48" name="line-48"/>
          <p:cNvCxnSpPr/>
          <p:nvPr/>
        </p:nvCxnSpPr>
        <p:spPr>
          <a:xfrm>
            <a:off x="3378708" y="50840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49" name="line-49"/>
          <p:cNvCxnSpPr/>
          <p:nvPr/>
        </p:nvCxnSpPr>
        <p:spPr>
          <a:xfrm>
            <a:off x="3378708" y="51389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50" name="rect-50"/>
          <p:cNvSpPr/>
          <p:nvPr/>
        </p:nvSpPr>
        <p:spPr>
          <a:xfrm>
            <a:off x="3506724" y="4855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text-51"/>
          <p:cNvSpPr txBox="1"/>
          <p:nvPr/>
        </p:nvSpPr>
        <p:spPr>
          <a:xfrm>
            <a:off x="3579876" y="4983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4bit 로딩 기반 모델</a:t>
            </a:r>
          </a:p>
        </p:txBody>
      </p:sp>
      <p:cxnSp>
        <p:nvCxnSpPr>
          <p:cNvPr id="52" name="line-52"/>
          <p:cNvCxnSpPr/>
          <p:nvPr/>
        </p:nvCxnSpPr>
        <p:spPr>
          <a:xfrm>
            <a:off x="5980176" y="5138928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3" name="line-53"/>
          <p:cNvCxnSpPr/>
          <p:nvPr/>
        </p:nvCxnSpPr>
        <p:spPr>
          <a:xfrm>
            <a:off x="5989320" y="50840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4" name="line-54"/>
          <p:cNvCxnSpPr/>
          <p:nvPr/>
        </p:nvCxnSpPr>
        <p:spPr>
          <a:xfrm>
            <a:off x="5989320" y="51389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55" name="rect-55"/>
          <p:cNvSpPr/>
          <p:nvPr/>
        </p:nvSpPr>
        <p:spPr>
          <a:xfrm>
            <a:off x="6117336" y="4855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-56"/>
          <p:cNvSpPr txBox="1"/>
          <p:nvPr/>
        </p:nvSpPr>
        <p:spPr>
          <a:xfrm>
            <a:off x="6190488" y="4983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LoRA adapter 병합 경로</a:t>
            </a:r>
          </a:p>
        </p:txBody>
      </p:sp>
      <p:cxnSp>
        <p:nvCxnSpPr>
          <p:cNvPr id="57" name="line-57"/>
          <p:cNvCxnSpPr/>
          <p:nvPr/>
        </p:nvCxnSpPr>
        <p:spPr>
          <a:xfrm>
            <a:off x="8590788" y="5138928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8" name="line-58"/>
          <p:cNvCxnSpPr/>
          <p:nvPr/>
        </p:nvCxnSpPr>
        <p:spPr>
          <a:xfrm>
            <a:off x="8599932" y="50840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9" name="line-59"/>
          <p:cNvCxnSpPr/>
          <p:nvPr/>
        </p:nvCxnSpPr>
        <p:spPr>
          <a:xfrm>
            <a:off x="8599932" y="51389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60" name="rect-60"/>
          <p:cNvSpPr/>
          <p:nvPr/>
        </p:nvSpPr>
        <p:spPr>
          <a:xfrm>
            <a:off x="8727948" y="4855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text-61"/>
          <p:cNvSpPr txBox="1"/>
          <p:nvPr/>
        </p:nvSpPr>
        <p:spPr>
          <a:xfrm>
            <a:off x="8801100" y="4983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구조화 답안</a:t>
            </a:r>
          </a:p>
        </p:txBody>
      </p:sp>
      <p:sp>
        <p:nvSpPr>
          <p:cNvPr id="63" name="rect-6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text-64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65" name="text-65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27</a:t>
            </a:r>
          </a:p>
        </p:txBody>
      </p:sp>
      <p:sp>
        <p:nvSpPr>
          <p:cNvPr id="66" name="text-66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모델 구조: G3 / G4</a:t>
            </a:r>
          </a:p>
        </p:txBody>
      </p:sp>
      <p:sp>
        <p:nvSpPr>
          <p:cNvPr id="67" name="text-67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3B local LM | LoRA adapter | 4bit 로딩</a:t>
            </a:r>
          </a:p>
        </p:txBody>
      </p:sp>
      <p:cxnSp>
        <p:nvCxnSpPr>
          <p:cNvPr id="68" name="line-68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69" name="text-69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70" name="text-70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-6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40080" y="1572768"/>
            <a:ext cx="1078992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640080" y="1572768"/>
            <a:ext cx="91440" cy="1847088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841248" y="1709928"/>
            <a:ext cx="749808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3A9D5D"/>
                </a:solidFill>
                <a:latin typeface="Malgun Gothic"/>
                <a:ea typeface="Malgun Gothic"/>
              </a:rPr>
              <a:t>G5 0.5B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1581912" y="1728216"/>
            <a:ext cx="96469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가장 작은 local student + LoRA adapter</a:t>
            </a:r>
          </a:p>
        </p:txBody>
      </p:sp>
      <p:sp>
        <p:nvSpPr>
          <p:cNvPr id="6" name="rect-6"/>
          <p:cNvSpPr/>
          <p:nvPr/>
        </p:nvSpPr>
        <p:spPr>
          <a:xfrm>
            <a:off x="8833104" y="2048256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-7"/>
          <p:cNvSpPr txBox="1"/>
          <p:nvPr/>
        </p:nvSpPr>
        <p:spPr>
          <a:xfrm>
            <a:off x="8906256" y="2103120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8906256" y="2203704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96.6%</a:t>
            </a:r>
          </a:p>
        </p:txBody>
      </p:sp>
      <p:sp>
        <p:nvSpPr>
          <p:cNvPr id="9" name="rect-9"/>
          <p:cNvSpPr/>
          <p:nvPr/>
        </p:nvSpPr>
        <p:spPr>
          <a:xfrm>
            <a:off x="9656064" y="2048256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10"/>
          <p:cNvSpPr txBox="1"/>
          <p:nvPr/>
        </p:nvSpPr>
        <p:spPr>
          <a:xfrm>
            <a:off x="9729216" y="2103120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p50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9729216" y="2203704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302ms</a:t>
            </a:r>
          </a:p>
        </p:txBody>
      </p:sp>
      <p:sp>
        <p:nvSpPr>
          <p:cNvPr id="12" name="rect-12"/>
          <p:cNvSpPr/>
          <p:nvPr/>
        </p:nvSpPr>
        <p:spPr>
          <a:xfrm>
            <a:off x="10479024" y="2048256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3"/>
          <p:cNvSpPr txBox="1"/>
          <p:nvPr/>
        </p:nvSpPr>
        <p:spPr>
          <a:xfrm>
            <a:off x="10552176" y="2103120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RAM</a:t>
            </a:r>
          </a:p>
        </p:txBody>
      </p:sp>
      <p:sp>
        <p:nvSpPr>
          <p:cNvPr id="14" name="text-14"/>
          <p:cNvSpPr txBox="1"/>
          <p:nvPr/>
        </p:nvSpPr>
        <p:spPr>
          <a:xfrm>
            <a:off x="10552176" y="2203704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987MB</a:t>
            </a:r>
          </a:p>
        </p:txBody>
      </p:sp>
      <p:sp>
        <p:nvSpPr>
          <p:cNvPr id="15" name="rect-15"/>
          <p:cNvSpPr/>
          <p:nvPr/>
        </p:nvSpPr>
        <p:spPr>
          <a:xfrm>
            <a:off x="896112" y="2606040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text-16"/>
          <p:cNvSpPr txBox="1"/>
          <p:nvPr/>
        </p:nvSpPr>
        <p:spPr>
          <a:xfrm>
            <a:off x="969264" y="2734056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MCQ prompt</a:t>
            </a:r>
          </a:p>
        </p:txBody>
      </p:sp>
      <p:cxnSp>
        <p:nvCxnSpPr>
          <p:cNvPr id="17" name="line-17"/>
          <p:cNvCxnSpPr/>
          <p:nvPr/>
        </p:nvCxnSpPr>
        <p:spPr>
          <a:xfrm>
            <a:off x="3369564" y="2889504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8" name="line-18"/>
          <p:cNvCxnSpPr/>
          <p:nvPr/>
        </p:nvCxnSpPr>
        <p:spPr>
          <a:xfrm>
            <a:off x="3378708" y="2834640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9" name="line-19"/>
          <p:cNvCxnSpPr/>
          <p:nvPr/>
        </p:nvCxnSpPr>
        <p:spPr>
          <a:xfrm>
            <a:off x="3378708" y="288950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0" name="rect-20"/>
          <p:cNvSpPr/>
          <p:nvPr/>
        </p:nvSpPr>
        <p:spPr>
          <a:xfrm>
            <a:off x="3506724" y="2606040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1"/>
          <p:cNvSpPr txBox="1"/>
          <p:nvPr/>
        </p:nvSpPr>
        <p:spPr>
          <a:xfrm>
            <a:off x="3579876" y="2734056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Qwen 0.5B 기반 모델</a:t>
            </a:r>
          </a:p>
        </p:txBody>
      </p:sp>
      <p:cxnSp>
        <p:nvCxnSpPr>
          <p:cNvPr id="22" name="line-22"/>
          <p:cNvCxnSpPr/>
          <p:nvPr/>
        </p:nvCxnSpPr>
        <p:spPr>
          <a:xfrm>
            <a:off x="5980176" y="2889504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3" name="line-23"/>
          <p:cNvCxnSpPr/>
          <p:nvPr/>
        </p:nvCxnSpPr>
        <p:spPr>
          <a:xfrm>
            <a:off x="5989320" y="2834640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4" name="line-24"/>
          <p:cNvCxnSpPr/>
          <p:nvPr/>
        </p:nvCxnSpPr>
        <p:spPr>
          <a:xfrm>
            <a:off x="5989320" y="288950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5" name="rect-25"/>
          <p:cNvSpPr/>
          <p:nvPr/>
        </p:nvSpPr>
        <p:spPr>
          <a:xfrm>
            <a:off x="6117336" y="2606040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-26"/>
          <p:cNvSpPr txBox="1"/>
          <p:nvPr/>
        </p:nvSpPr>
        <p:spPr>
          <a:xfrm>
            <a:off x="6190488" y="2734056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G1 LoRA adapter</a:t>
            </a:r>
          </a:p>
        </p:txBody>
      </p:sp>
      <p:cxnSp>
        <p:nvCxnSpPr>
          <p:cNvPr id="27" name="line-27"/>
          <p:cNvCxnSpPr/>
          <p:nvPr/>
        </p:nvCxnSpPr>
        <p:spPr>
          <a:xfrm>
            <a:off x="8590788" y="2889504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8" name="line-28"/>
          <p:cNvCxnSpPr/>
          <p:nvPr/>
        </p:nvCxnSpPr>
        <p:spPr>
          <a:xfrm>
            <a:off x="8599932" y="2834640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9" name="line-29"/>
          <p:cNvCxnSpPr/>
          <p:nvPr/>
        </p:nvCxnSpPr>
        <p:spPr>
          <a:xfrm>
            <a:off x="8599932" y="288950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30" name="rect-30"/>
          <p:cNvSpPr/>
          <p:nvPr/>
        </p:nvSpPr>
        <p:spPr>
          <a:xfrm>
            <a:off x="8727948" y="2606040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-31"/>
          <p:cNvSpPr txBox="1"/>
          <p:nvPr/>
        </p:nvSpPr>
        <p:spPr>
          <a:xfrm>
            <a:off x="8801100" y="2734056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answer contract</a:t>
            </a:r>
          </a:p>
        </p:txBody>
      </p:sp>
      <p:sp>
        <p:nvSpPr>
          <p:cNvPr id="32" name="rect-32"/>
          <p:cNvSpPr/>
          <p:nvPr/>
        </p:nvSpPr>
        <p:spPr>
          <a:xfrm>
            <a:off x="640080" y="3822192"/>
            <a:ext cx="1078992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-33"/>
          <p:cNvSpPr/>
          <p:nvPr/>
        </p:nvSpPr>
        <p:spPr>
          <a:xfrm>
            <a:off x="640080" y="3822192"/>
            <a:ext cx="91440" cy="1847088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text-34"/>
          <p:cNvSpPr txBox="1"/>
          <p:nvPr/>
        </p:nvSpPr>
        <p:spPr>
          <a:xfrm>
            <a:off x="841248" y="3959352"/>
            <a:ext cx="749808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1B8A8F"/>
                </a:solidFill>
                <a:latin typeface="Malgun Gothic"/>
                <a:ea typeface="Malgun Gothic"/>
              </a:rPr>
              <a:t>G5 1.5B</a:t>
            </a:r>
          </a:p>
        </p:txBody>
      </p:sp>
      <p:sp>
        <p:nvSpPr>
          <p:cNvPr id="35" name="text-35"/>
          <p:cNvSpPr txBox="1"/>
          <p:nvPr/>
        </p:nvSpPr>
        <p:spPr>
          <a:xfrm>
            <a:off x="1581912" y="3977640"/>
            <a:ext cx="96469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0B1F33"/>
                </a:solidFill>
                <a:latin typeface="Malgun Gothic"/>
                <a:ea typeface="Malgun Gothic"/>
              </a:rPr>
              <a:t>소형 local student + LoRA adapter</a:t>
            </a:r>
          </a:p>
        </p:txBody>
      </p:sp>
      <p:sp>
        <p:nvSpPr>
          <p:cNvPr id="36" name="rect-36"/>
          <p:cNvSpPr/>
          <p:nvPr/>
        </p:nvSpPr>
        <p:spPr>
          <a:xfrm>
            <a:off x="8833104" y="4297680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-37"/>
          <p:cNvSpPr txBox="1"/>
          <p:nvPr/>
        </p:nvSpPr>
        <p:spPr>
          <a:xfrm>
            <a:off x="8906256" y="4352544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38" name="text-38"/>
          <p:cNvSpPr txBox="1"/>
          <p:nvPr/>
        </p:nvSpPr>
        <p:spPr>
          <a:xfrm>
            <a:off x="8906256" y="4453128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97.6%</a:t>
            </a:r>
          </a:p>
        </p:txBody>
      </p:sp>
      <p:sp>
        <p:nvSpPr>
          <p:cNvPr id="39" name="rect-39"/>
          <p:cNvSpPr/>
          <p:nvPr/>
        </p:nvSpPr>
        <p:spPr>
          <a:xfrm>
            <a:off x="9656064" y="4297680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-40"/>
          <p:cNvSpPr txBox="1"/>
          <p:nvPr/>
        </p:nvSpPr>
        <p:spPr>
          <a:xfrm>
            <a:off x="9729216" y="4352544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p50</a:t>
            </a:r>
          </a:p>
        </p:txBody>
      </p:sp>
      <p:sp>
        <p:nvSpPr>
          <p:cNvPr id="41" name="text-41"/>
          <p:cNvSpPr txBox="1"/>
          <p:nvPr/>
        </p:nvSpPr>
        <p:spPr>
          <a:xfrm>
            <a:off x="9729216" y="4453128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341ms</a:t>
            </a:r>
          </a:p>
        </p:txBody>
      </p:sp>
      <p:sp>
        <p:nvSpPr>
          <p:cNvPr id="42" name="rect-42"/>
          <p:cNvSpPr/>
          <p:nvPr/>
        </p:nvSpPr>
        <p:spPr>
          <a:xfrm>
            <a:off x="10479024" y="4297680"/>
            <a:ext cx="7315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43"/>
          <p:cNvSpPr txBox="1"/>
          <p:nvPr/>
        </p:nvSpPr>
        <p:spPr>
          <a:xfrm>
            <a:off x="10552176" y="4352544"/>
            <a:ext cx="5852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RAM</a:t>
            </a:r>
          </a:p>
        </p:txBody>
      </p:sp>
      <p:sp>
        <p:nvSpPr>
          <p:cNvPr id="44" name="text-44"/>
          <p:cNvSpPr txBox="1"/>
          <p:nvPr/>
        </p:nvSpPr>
        <p:spPr>
          <a:xfrm>
            <a:off x="10552176" y="4453128"/>
            <a:ext cx="5852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2.9GB</a:t>
            </a:r>
          </a:p>
        </p:txBody>
      </p:sp>
      <p:sp>
        <p:nvSpPr>
          <p:cNvPr id="45" name="rect-45"/>
          <p:cNvSpPr/>
          <p:nvPr/>
        </p:nvSpPr>
        <p:spPr>
          <a:xfrm>
            <a:off x="896112" y="4855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-46"/>
          <p:cNvSpPr txBox="1"/>
          <p:nvPr/>
        </p:nvSpPr>
        <p:spPr>
          <a:xfrm>
            <a:off x="969264" y="4983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MCQ prompt</a:t>
            </a:r>
          </a:p>
        </p:txBody>
      </p:sp>
      <p:cxnSp>
        <p:nvCxnSpPr>
          <p:cNvPr id="47" name="line-47"/>
          <p:cNvCxnSpPr/>
          <p:nvPr/>
        </p:nvCxnSpPr>
        <p:spPr>
          <a:xfrm>
            <a:off x="3369564" y="5138928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48" name="line-48"/>
          <p:cNvCxnSpPr/>
          <p:nvPr/>
        </p:nvCxnSpPr>
        <p:spPr>
          <a:xfrm>
            <a:off x="3378708" y="50840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49" name="line-49"/>
          <p:cNvCxnSpPr/>
          <p:nvPr/>
        </p:nvCxnSpPr>
        <p:spPr>
          <a:xfrm>
            <a:off x="3378708" y="51389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50" name="rect-50"/>
          <p:cNvSpPr/>
          <p:nvPr/>
        </p:nvSpPr>
        <p:spPr>
          <a:xfrm>
            <a:off x="3506724" y="4855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text-51"/>
          <p:cNvSpPr txBox="1"/>
          <p:nvPr/>
        </p:nvSpPr>
        <p:spPr>
          <a:xfrm>
            <a:off x="3579876" y="4983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Qwen 1.5B 기반 모델</a:t>
            </a:r>
          </a:p>
        </p:txBody>
      </p:sp>
      <p:cxnSp>
        <p:nvCxnSpPr>
          <p:cNvPr id="52" name="line-52"/>
          <p:cNvCxnSpPr/>
          <p:nvPr/>
        </p:nvCxnSpPr>
        <p:spPr>
          <a:xfrm>
            <a:off x="5980176" y="5138928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3" name="line-53"/>
          <p:cNvCxnSpPr/>
          <p:nvPr/>
        </p:nvCxnSpPr>
        <p:spPr>
          <a:xfrm>
            <a:off x="5989320" y="50840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4" name="line-54"/>
          <p:cNvCxnSpPr/>
          <p:nvPr/>
        </p:nvCxnSpPr>
        <p:spPr>
          <a:xfrm>
            <a:off x="5989320" y="51389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55" name="rect-55"/>
          <p:cNvSpPr/>
          <p:nvPr/>
        </p:nvSpPr>
        <p:spPr>
          <a:xfrm>
            <a:off x="6117336" y="4855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-56"/>
          <p:cNvSpPr txBox="1"/>
          <p:nvPr/>
        </p:nvSpPr>
        <p:spPr>
          <a:xfrm>
            <a:off x="6190488" y="4983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G1 LoRA adapter</a:t>
            </a:r>
          </a:p>
        </p:txBody>
      </p:sp>
      <p:cxnSp>
        <p:nvCxnSpPr>
          <p:cNvPr id="57" name="line-57"/>
          <p:cNvCxnSpPr/>
          <p:nvPr/>
        </p:nvCxnSpPr>
        <p:spPr>
          <a:xfrm>
            <a:off x="8590788" y="5138928"/>
            <a:ext cx="100584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8" name="line-58"/>
          <p:cNvCxnSpPr/>
          <p:nvPr/>
        </p:nvCxnSpPr>
        <p:spPr>
          <a:xfrm>
            <a:off x="8599932" y="50840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59" name="line-59"/>
          <p:cNvCxnSpPr/>
          <p:nvPr/>
        </p:nvCxnSpPr>
        <p:spPr>
          <a:xfrm>
            <a:off x="8599932" y="513892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60" name="rect-60"/>
          <p:cNvSpPr/>
          <p:nvPr/>
        </p:nvSpPr>
        <p:spPr>
          <a:xfrm>
            <a:off x="8727948" y="4855464"/>
            <a:ext cx="2446020" cy="56692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text-61"/>
          <p:cNvSpPr txBox="1"/>
          <p:nvPr/>
        </p:nvSpPr>
        <p:spPr>
          <a:xfrm>
            <a:off x="8801100" y="4983480"/>
            <a:ext cx="2299716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answer contract</a:t>
            </a:r>
          </a:p>
        </p:txBody>
      </p:sp>
      <p:sp>
        <p:nvSpPr>
          <p:cNvPr id="63" name="rect-6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text-64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65" name="text-65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28</a:t>
            </a:r>
          </a:p>
        </p:txBody>
      </p:sp>
      <p:sp>
        <p:nvSpPr>
          <p:cNvPr id="66" name="text-66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모델 구조: G5 소형 local LM</a:t>
            </a:r>
          </a:p>
        </p:txBody>
      </p:sp>
      <p:sp>
        <p:nvSpPr>
          <p:cNvPr id="67" name="text-67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0.5B / 1.5B | LoRA adapter | deployment candidate</a:t>
            </a:r>
          </a:p>
        </p:txBody>
      </p:sp>
      <p:cxnSp>
        <p:nvCxnSpPr>
          <p:cNvPr id="68" name="line-68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69" name="text-69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70" name="text-70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-4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594360" y="1444752"/>
            <a:ext cx="10927080" cy="43708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-3"/>
          <p:cNvSpPr txBox="1"/>
          <p:nvPr/>
        </p:nvSpPr>
        <p:spPr>
          <a:xfrm>
            <a:off x="841248" y="1682496"/>
            <a:ext cx="1037844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200" b="1">
                <a:solidFill>
                  <a:srgbClr val="0B1F33"/>
                </a:solidFill>
                <a:latin typeface="Malgun Gothic"/>
                <a:ea typeface="Malgun Gothic"/>
              </a:rPr>
              <a:t>No-API / No-Retrain 확인 범위</a:t>
            </a:r>
          </a:p>
        </p:txBody>
      </p:sp>
      <p:sp>
        <p:nvSpPr>
          <p:cNvPr id="4" name="rect-4"/>
          <p:cNvSpPr/>
          <p:nvPr/>
        </p:nvSpPr>
        <p:spPr>
          <a:xfrm>
            <a:off x="868680" y="2139696"/>
            <a:ext cx="1956816" cy="9509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5"/>
          <p:cNvSpPr txBox="1"/>
          <p:nvPr/>
        </p:nvSpPr>
        <p:spPr>
          <a:xfrm>
            <a:off x="978408" y="2267712"/>
            <a:ext cx="3840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7F63B8"/>
                </a:solidFill>
                <a:latin typeface="Malgun Gothic"/>
                <a:ea typeface="Malgun Gothic"/>
              </a:rPr>
              <a:t>B2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1380744" y="2221992"/>
            <a:ext cx="12984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 b="1">
                <a:solidFill>
                  <a:srgbClr val="111827"/>
                </a:solidFill>
                <a:latin typeface="Malgun Gothic"/>
                <a:ea typeface="Malgun Gothic"/>
              </a:rPr>
              <a:t>기존 MLP scorer 재사용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1380744" y="2523744"/>
            <a:ext cx="1298448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새 scorer 학습 없음</a:t>
            </a:r>
          </a:p>
        </p:txBody>
      </p:sp>
      <p:sp>
        <p:nvSpPr>
          <p:cNvPr id="8" name="rect-8"/>
          <p:cNvSpPr/>
          <p:nvPr/>
        </p:nvSpPr>
        <p:spPr>
          <a:xfrm>
            <a:off x="2953512" y="2139696"/>
            <a:ext cx="1956816" cy="9509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-9"/>
          <p:cNvSpPr txBox="1"/>
          <p:nvPr/>
        </p:nvSpPr>
        <p:spPr>
          <a:xfrm>
            <a:off x="3063240" y="2267712"/>
            <a:ext cx="3840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3A9D5D"/>
                </a:solidFill>
                <a:latin typeface="Malgun Gothic"/>
                <a:ea typeface="Malgun Gothic"/>
              </a:rPr>
              <a:t>B3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3465576" y="2221992"/>
            <a:ext cx="12984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 b="1">
                <a:solidFill>
                  <a:srgbClr val="111827"/>
                </a:solidFill>
                <a:latin typeface="Malgun Gothic"/>
                <a:ea typeface="Malgun Gothic"/>
              </a:rPr>
              <a:t>Cross-encoder 점수화만 수행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3465576" y="2523744"/>
            <a:ext cx="1298448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파인튜닝 비활성화</a:t>
            </a:r>
          </a:p>
        </p:txBody>
      </p:sp>
      <p:sp>
        <p:nvSpPr>
          <p:cNvPr id="12" name="rect-12"/>
          <p:cNvSpPr/>
          <p:nvPr/>
        </p:nvSpPr>
        <p:spPr>
          <a:xfrm>
            <a:off x="5038344" y="2139696"/>
            <a:ext cx="1956816" cy="9509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3"/>
          <p:cNvSpPr txBox="1"/>
          <p:nvPr/>
        </p:nvSpPr>
        <p:spPr>
          <a:xfrm>
            <a:off x="5148072" y="2267712"/>
            <a:ext cx="3840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C84A3A"/>
                </a:solidFill>
                <a:latin typeface="Malgun Gothic"/>
                <a:ea typeface="Malgun Gothic"/>
              </a:rPr>
              <a:t>G3</a:t>
            </a:r>
          </a:p>
        </p:txBody>
      </p:sp>
      <p:sp>
        <p:nvSpPr>
          <p:cNvPr id="14" name="text-14"/>
          <p:cNvSpPr txBox="1"/>
          <p:nvPr/>
        </p:nvSpPr>
        <p:spPr>
          <a:xfrm>
            <a:off x="5550408" y="2221992"/>
            <a:ext cx="12984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 b="1">
                <a:solidFill>
                  <a:srgbClr val="111827"/>
                </a:solidFill>
                <a:latin typeface="Malgun Gothic"/>
                <a:ea typeface="Malgun Gothic"/>
              </a:rPr>
              <a:t>기존 3B LoRA KD adapter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5550408" y="2523744"/>
            <a:ext cx="1298448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evaluation only</a:t>
            </a:r>
          </a:p>
        </p:txBody>
      </p:sp>
      <p:sp>
        <p:nvSpPr>
          <p:cNvPr id="16" name="rect-16"/>
          <p:cNvSpPr/>
          <p:nvPr/>
        </p:nvSpPr>
        <p:spPr>
          <a:xfrm>
            <a:off x="7123176" y="2139696"/>
            <a:ext cx="1956816" cy="9509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17"/>
          <p:cNvSpPr txBox="1"/>
          <p:nvPr/>
        </p:nvSpPr>
        <p:spPr>
          <a:xfrm>
            <a:off x="7232904" y="2267712"/>
            <a:ext cx="3840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G5</a:t>
            </a:r>
          </a:p>
        </p:txBody>
      </p:sp>
      <p:sp>
        <p:nvSpPr>
          <p:cNvPr id="18" name="text-18"/>
          <p:cNvSpPr txBox="1"/>
          <p:nvPr/>
        </p:nvSpPr>
        <p:spPr>
          <a:xfrm>
            <a:off x="7635240" y="2221992"/>
            <a:ext cx="12984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 b="1">
                <a:solidFill>
                  <a:srgbClr val="111827"/>
                </a:solidFill>
                <a:latin typeface="Malgun Gothic"/>
                <a:ea typeface="Malgun Gothic"/>
              </a:rPr>
              <a:t>기존 0.5B/1.5B G1 SFT adapter</a:t>
            </a:r>
          </a:p>
        </p:txBody>
      </p:sp>
      <p:sp>
        <p:nvSpPr>
          <p:cNvPr id="19" name="text-19"/>
          <p:cNvSpPr txBox="1"/>
          <p:nvPr/>
        </p:nvSpPr>
        <p:spPr>
          <a:xfrm>
            <a:off x="7635240" y="2523744"/>
            <a:ext cx="1298448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이번 실행은 KD 아님</a:t>
            </a:r>
          </a:p>
        </p:txBody>
      </p:sp>
      <p:sp>
        <p:nvSpPr>
          <p:cNvPr id="20" name="rect-20"/>
          <p:cNvSpPr/>
          <p:nvPr/>
        </p:nvSpPr>
        <p:spPr>
          <a:xfrm>
            <a:off x="9208008" y="2139696"/>
            <a:ext cx="1956816" cy="95097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1"/>
          <p:cNvSpPr txBox="1"/>
          <p:nvPr/>
        </p:nvSpPr>
        <p:spPr>
          <a:xfrm>
            <a:off x="9317736" y="2267712"/>
            <a:ext cx="3840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E79A32"/>
                </a:solidFill>
                <a:latin typeface="Malgun Gothic"/>
                <a:ea typeface="Malgun Gothic"/>
              </a:rPr>
              <a:t>H1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9720072" y="2221992"/>
            <a:ext cx="1298448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 b="1">
                <a:solidFill>
                  <a:srgbClr val="111827"/>
                </a:solidFill>
                <a:latin typeface="Malgun Gothic"/>
                <a:ea typeface="Malgun Gothic"/>
              </a:rPr>
              <a:t>기존 예측 출력 기반 policy</a:t>
            </a:r>
          </a:p>
        </p:txBody>
      </p:sp>
      <p:sp>
        <p:nvSpPr>
          <p:cNvPr id="23" name="text-23"/>
          <p:cNvSpPr txBox="1"/>
          <p:nvPr/>
        </p:nvSpPr>
        <p:spPr>
          <a:xfrm>
            <a:off x="9720072" y="2523744"/>
            <a:ext cx="1298448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600">
                <a:solidFill>
                  <a:srgbClr val="5F6B7A"/>
                </a:solidFill>
                <a:latin typeface="Malgun Gothic"/>
                <a:ea typeface="Malgun Gothic"/>
              </a:rPr>
              <a:t>routing 확인만 수행</a:t>
            </a:r>
          </a:p>
        </p:txBody>
      </p:sp>
      <p:cxnSp>
        <p:nvCxnSpPr>
          <p:cNvPr id="24" name="line-24"/>
          <p:cNvCxnSpPr/>
          <p:nvPr/>
        </p:nvCxnSpPr>
        <p:spPr>
          <a:xfrm>
            <a:off x="987552" y="3703320"/>
            <a:ext cx="10030968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25" name="rect-25"/>
          <p:cNvSpPr/>
          <p:nvPr/>
        </p:nvSpPr>
        <p:spPr>
          <a:xfrm>
            <a:off x="987552" y="4169664"/>
            <a:ext cx="208483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-26"/>
          <p:cNvSpPr txBox="1"/>
          <p:nvPr/>
        </p:nvSpPr>
        <p:spPr>
          <a:xfrm>
            <a:off x="1115568" y="4297680"/>
            <a:ext cx="7132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3A9D5D"/>
                </a:solidFill>
                <a:latin typeface="Malgun Gothic"/>
                <a:ea typeface="Malgun Gothic"/>
              </a:rPr>
              <a:t>SFT</a:t>
            </a:r>
          </a:p>
        </p:txBody>
      </p:sp>
      <p:sp>
        <p:nvSpPr>
          <p:cNvPr id="27" name="text-27"/>
          <p:cNvSpPr txBox="1"/>
          <p:nvPr/>
        </p:nvSpPr>
        <p:spPr>
          <a:xfrm>
            <a:off x="1865376" y="4297680"/>
            <a:ext cx="96012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800" b="1">
                <a:solidFill>
                  <a:srgbClr val="111827"/>
                </a:solidFill>
                <a:latin typeface="Malgun Gothic"/>
                <a:ea typeface="Malgun Gothic"/>
              </a:rPr>
              <a:t>CE</a:t>
            </a:r>
          </a:p>
        </p:txBody>
      </p:sp>
      <p:sp>
        <p:nvSpPr>
          <p:cNvPr id="28" name="rect-28"/>
          <p:cNvSpPr/>
          <p:nvPr/>
        </p:nvSpPr>
        <p:spPr>
          <a:xfrm>
            <a:off x="3383280" y="4169664"/>
            <a:ext cx="208483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-29"/>
          <p:cNvSpPr txBox="1"/>
          <p:nvPr/>
        </p:nvSpPr>
        <p:spPr>
          <a:xfrm>
            <a:off x="3511296" y="4297680"/>
            <a:ext cx="7132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C84A3A"/>
                </a:solidFill>
                <a:latin typeface="Malgun Gothic"/>
                <a:ea typeface="Malgun Gothic"/>
              </a:rPr>
              <a:t>KD</a:t>
            </a:r>
          </a:p>
        </p:txBody>
      </p:sp>
      <p:sp>
        <p:nvSpPr>
          <p:cNvPr id="30" name="text-30"/>
          <p:cNvSpPr txBox="1"/>
          <p:nvPr/>
        </p:nvSpPr>
        <p:spPr>
          <a:xfrm>
            <a:off x="4261104" y="4297680"/>
            <a:ext cx="96012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800" b="1">
                <a:solidFill>
                  <a:srgbClr val="111827"/>
                </a:solidFill>
                <a:latin typeface="Malgun Gothic"/>
                <a:ea typeface="Malgun Gothic"/>
              </a:rPr>
              <a:t>CE + 0.5 KL</a:t>
            </a:r>
          </a:p>
        </p:txBody>
      </p:sp>
      <p:sp>
        <p:nvSpPr>
          <p:cNvPr id="31" name="rect-31"/>
          <p:cNvSpPr/>
          <p:nvPr/>
        </p:nvSpPr>
        <p:spPr>
          <a:xfrm>
            <a:off x="5779008" y="4169664"/>
            <a:ext cx="208483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-32"/>
          <p:cNvSpPr txBox="1"/>
          <p:nvPr/>
        </p:nvSpPr>
        <p:spPr>
          <a:xfrm>
            <a:off x="5907024" y="4297680"/>
            <a:ext cx="7132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7F63B8"/>
                </a:solidFill>
                <a:latin typeface="Malgun Gothic"/>
                <a:ea typeface="Malgun Gothic"/>
              </a:rPr>
              <a:t>4bit</a:t>
            </a:r>
          </a:p>
        </p:txBody>
      </p:sp>
      <p:sp>
        <p:nvSpPr>
          <p:cNvPr id="33" name="text-33"/>
          <p:cNvSpPr txBox="1"/>
          <p:nvPr/>
        </p:nvSpPr>
        <p:spPr>
          <a:xfrm>
            <a:off x="6656832" y="4297680"/>
            <a:ext cx="96012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800" b="1">
                <a:solidFill>
                  <a:srgbClr val="111827"/>
                </a:solidFill>
                <a:latin typeface="Malgun Gothic"/>
                <a:ea typeface="Malgun Gothic"/>
              </a:rPr>
              <a:t>로딩만 수행</a:t>
            </a:r>
          </a:p>
        </p:txBody>
      </p:sp>
      <p:sp>
        <p:nvSpPr>
          <p:cNvPr id="34" name="rect-34"/>
          <p:cNvSpPr/>
          <p:nvPr/>
        </p:nvSpPr>
        <p:spPr>
          <a:xfrm>
            <a:off x="8174736" y="4169664"/>
            <a:ext cx="208483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-35"/>
          <p:cNvSpPr txBox="1"/>
          <p:nvPr/>
        </p:nvSpPr>
        <p:spPr>
          <a:xfrm>
            <a:off x="8302752" y="4297680"/>
            <a:ext cx="7132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E79A32"/>
                </a:solidFill>
                <a:latin typeface="Malgun Gothic"/>
                <a:ea typeface="Malgun Gothic"/>
              </a:rPr>
              <a:t>Hybrid</a:t>
            </a:r>
          </a:p>
        </p:txBody>
      </p:sp>
      <p:sp>
        <p:nvSpPr>
          <p:cNvPr id="36" name="text-36"/>
          <p:cNvSpPr txBox="1"/>
          <p:nvPr/>
        </p:nvSpPr>
        <p:spPr>
          <a:xfrm>
            <a:off x="9052560" y="4297680"/>
            <a:ext cx="96012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800" b="1">
                <a:solidFill>
                  <a:srgbClr val="111827"/>
                </a:solidFill>
                <a:latin typeface="Malgun Gothic"/>
                <a:ea typeface="Malgun Gothic"/>
              </a:rPr>
              <a:t>출력 조합</a:t>
            </a:r>
          </a:p>
        </p:txBody>
      </p:sp>
      <p:sp>
        <p:nvSpPr>
          <p:cNvPr id="37" name="rect-37"/>
          <p:cNvSpPr/>
          <p:nvPr/>
        </p:nvSpPr>
        <p:spPr>
          <a:xfrm>
            <a:off x="987552" y="5138928"/>
            <a:ext cx="1389888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text-38"/>
          <p:cNvSpPr txBox="1"/>
          <p:nvPr/>
        </p:nvSpPr>
        <p:spPr>
          <a:xfrm>
            <a:off x="1060704" y="5221224"/>
            <a:ext cx="124358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로드된 artifact만 평가</a:t>
            </a:r>
          </a:p>
        </p:txBody>
      </p:sp>
      <p:sp>
        <p:nvSpPr>
          <p:cNvPr id="39" name="rect-39"/>
          <p:cNvSpPr/>
          <p:nvPr/>
        </p:nvSpPr>
        <p:spPr>
          <a:xfrm>
            <a:off x="2505456" y="5138928"/>
            <a:ext cx="1389888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-40"/>
          <p:cNvSpPr txBox="1"/>
          <p:nvPr/>
        </p:nvSpPr>
        <p:spPr>
          <a:xfrm>
            <a:off x="2578608" y="5221224"/>
            <a:ext cx="124358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C84A3A"/>
                </a:solidFill>
                <a:latin typeface="Malgun Gothic"/>
                <a:ea typeface="Malgun Gothic"/>
              </a:rPr>
              <a:t>No B4/API</a:t>
            </a:r>
          </a:p>
        </p:txBody>
      </p:sp>
      <p:sp>
        <p:nvSpPr>
          <p:cNvPr id="41" name="rect-41"/>
          <p:cNvSpPr/>
          <p:nvPr/>
        </p:nvSpPr>
        <p:spPr>
          <a:xfrm>
            <a:off x="4023360" y="5138928"/>
            <a:ext cx="1389888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text-42"/>
          <p:cNvSpPr txBox="1"/>
          <p:nvPr/>
        </p:nvSpPr>
        <p:spPr>
          <a:xfrm>
            <a:off x="4096512" y="5221224"/>
            <a:ext cx="124358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새 LoRA/KD 없음</a:t>
            </a:r>
          </a:p>
        </p:txBody>
      </p:sp>
      <p:sp>
        <p:nvSpPr>
          <p:cNvPr id="43" name="rect-43"/>
          <p:cNvSpPr/>
          <p:nvPr/>
        </p:nvSpPr>
        <p:spPr>
          <a:xfrm>
            <a:off x="5541264" y="5138928"/>
            <a:ext cx="1389888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-44"/>
          <p:cNvSpPr txBox="1"/>
          <p:nvPr/>
        </p:nvSpPr>
        <p:spPr>
          <a:xfrm>
            <a:off x="5614416" y="5221224"/>
            <a:ext cx="1243584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evaluation mode</a:t>
            </a:r>
          </a:p>
        </p:txBody>
      </p:sp>
      <p:sp>
        <p:nvSpPr>
          <p:cNvPr id="46" name="rect-4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ext-47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48" name="text-48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29</a:t>
            </a:r>
          </a:p>
        </p:txBody>
      </p:sp>
      <p:sp>
        <p:nvSpPr>
          <p:cNvPr id="49" name="text-49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재학습 없는 평가 범위</a:t>
            </a:r>
          </a:p>
        </p:txBody>
      </p:sp>
      <p:sp>
        <p:nvSpPr>
          <p:cNvPr id="50" name="text-50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재사용 | adapter 로딩 | 양자화 로딩 | routing</a:t>
            </a:r>
          </a:p>
        </p:txBody>
      </p:sp>
      <p:cxnSp>
        <p:nvCxnSpPr>
          <p:cNvPr id="51" name="line-51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52" name="text-52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53" name="text-53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-5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40080" y="1463040"/>
            <a:ext cx="1078992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1005840" y="1874520"/>
            <a:ext cx="1874520" cy="7498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ect-4"/>
          <p:cNvSpPr/>
          <p:nvPr/>
        </p:nvSpPr>
        <p:spPr>
          <a:xfrm>
            <a:off x="1005840" y="1874520"/>
            <a:ext cx="91440" cy="749808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-5"/>
          <p:cNvSpPr txBox="1"/>
          <p:nvPr/>
        </p:nvSpPr>
        <p:spPr>
          <a:xfrm>
            <a:off x="1207008" y="2020824"/>
            <a:ext cx="1545336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0B1F33"/>
                </a:solidFill>
                <a:latin typeface="Malgun Gothic"/>
                <a:ea typeface="Malgun Gothic"/>
              </a:rPr>
              <a:t>입력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1207008" y="2350008"/>
            <a:ext cx="154533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MCQ 문항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option 포함</a:t>
            </a:r>
          </a:p>
        </p:txBody>
      </p:sp>
      <p:cxnSp>
        <p:nvCxnSpPr>
          <p:cNvPr id="7" name="line-7"/>
          <p:cNvCxnSpPr/>
          <p:nvPr/>
        </p:nvCxnSpPr>
        <p:spPr>
          <a:xfrm>
            <a:off x="2944368" y="2249424"/>
            <a:ext cx="484632" cy="0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8" name="line-8"/>
          <p:cNvCxnSpPr/>
          <p:nvPr/>
        </p:nvCxnSpPr>
        <p:spPr>
          <a:xfrm>
            <a:off x="3337560" y="2194560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9" name="line-9"/>
          <p:cNvCxnSpPr/>
          <p:nvPr/>
        </p:nvCxnSpPr>
        <p:spPr>
          <a:xfrm>
            <a:off x="3337560" y="224942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10" name="rect-10"/>
          <p:cNvSpPr/>
          <p:nvPr/>
        </p:nvSpPr>
        <p:spPr>
          <a:xfrm>
            <a:off x="3493008" y="1874520"/>
            <a:ext cx="1874520" cy="7498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ect-11"/>
          <p:cNvSpPr/>
          <p:nvPr/>
        </p:nvSpPr>
        <p:spPr>
          <a:xfrm>
            <a:off x="3493008" y="1874520"/>
            <a:ext cx="91440" cy="749808"/>
          </a:xfrm>
          <a:prstGeom prst="rect">
            <a:avLst/>
          </a:prstGeom>
          <a:solidFill>
            <a:srgbClr val="E79A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-12"/>
          <p:cNvSpPr txBox="1"/>
          <p:nvPr/>
        </p:nvSpPr>
        <p:spPr>
          <a:xfrm>
            <a:off x="3694176" y="2020824"/>
            <a:ext cx="1545336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E79A32"/>
                </a:solidFill>
                <a:latin typeface="Malgun Gothic"/>
                <a:ea typeface="Malgun Gothic"/>
              </a:rPr>
              <a:t>gate</a:t>
            </a:r>
          </a:p>
        </p:txBody>
      </p:sp>
      <p:sp>
        <p:nvSpPr>
          <p:cNvPr id="13" name="text-13"/>
          <p:cNvSpPr txBox="1"/>
          <p:nvPr/>
        </p:nvSpPr>
        <p:spPr>
          <a:xfrm>
            <a:off x="3694176" y="2350008"/>
            <a:ext cx="154533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B0 confidence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임계값</a:t>
            </a:r>
          </a:p>
        </p:txBody>
      </p:sp>
      <p:cxnSp>
        <p:nvCxnSpPr>
          <p:cNvPr id="14" name="line-14"/>
          <p:cNvCxnSpPr/>
          <p:nvPr/>
        </p:nvCxnSpPr>
        <p:spPr>
          <a:xfrm>
            <a:off x="5440680" y="1719072"/>
            <a:ext cx="667512" cy="438912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5" name="line-15"/>
          <p:cNvCxnSpPr/>
          <p:nvPr/>
        </p:nvCxnSpPr>
        <p:spPr>
          <a:xfrm>
            <a:off x="6016752" y="1664208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16" name="line-16"/>
          <p:cNvCxnSpPr/>
          <p:nvPr/>
        </p:nvCxnSpPr>
        <p:spPr>
          <a:xfrm>
            <a:off x="6016752" y="171907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17" name="rect-17"/>
          <p:cNvSpPr/>
          <p:nvPr/>
        </p:nvSpPr>
        <p:spPr>
          <a:xfrm>
            <a:off x="6199632" y="1298448"/>
            <a:ext cx="2121408" cy="84124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-18"/>
          <p:cNvSpPr/>
          <p:nvPr/>
        </p:nvSpPr>
        <p:spPr>
          <a:xfrm>
            <a:off x="6199632" y="1298448"/>
            <a:ext cx="91440" cy="841248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-19"/>
          <p:cNvSpPr txBox="1"/>
          <p:nvPr/>
        </p:nvSpPr>
        <p:spPr>
          <a:xfrm>
            <a:off x="6400800" y="1444752"/>
            <a:ext cx="179222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3A9D5D"/>
                </a:solidFill>
                <a:latin typeface="Malgun Gothic"/>
                <a:ea typeface="Malgun Gothic"/>
              </a:rPr>
              <a:t>primary route</a:t>
            </a:r>
          </a:p>
        </p:txBody>
      </p:sp>
      <p:sp>
        <p:nvSpPr>
          <p:cNvPr id="20" name="text-20"/>
          <p:cNvSpPr txBox="1"/>
          <p:nvPr/>
        </p:nvSpPr>
        <p:spPr>
          <a:xfrm>
            <a:off x="6400800" y="1773936"/>
            <a:ext cx="1792224" cy="23774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B3 Cross-encoder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빠른 local 답안</a:t>
            </a:r>
          </a:p>
        </p:txBody>
      </p:sp>
      <p:cxnSp>
        <p:nvCxnSpPr>
          <p:cNvPr id="21" name="line-21"/>
          <p:cNvCxnSpPr/>
          <p:nvPr/>
        </p:nvCxnSpPr>
        <p:spPr>
          <a:xfrm>
            <a:off x="5440680" y="2395728"/>
            <a:ext cx="667512" cy="475488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2" name="line-22"/>
          <p:cNvCxnSpPr/>
          <p:nvPr/>
        </p:nvCxnSpPr>
        <p:spPr>
          <a:xfrm>
            <a:off x="6016752" y="281635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3" name="line-23"/>
          <p:cNvCxnSpPr/>
          <p:nvPr/>
        </p:nvCxnSpPr>
        <p:spPr>
          <a:xfrm>
            <a:off x="6016752" y="287121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24" name="rect-24"/>
          <p:cNvSpPr/>
          <p:nvPr/>
        </p:nvSpPr>
        <p:spPr>
          <a:xfrm>
            <a:off x="6199632" y="2578608"/>
            <a:ext cx="2121408" cy="84124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rect-25"/>
          <p:cNvSpPr/>
          <p:nvPr/>
        </p:nvSpPr>
        <p:spPr>
          <a:xfrm>
            <a:off x="6199632" y="2578608"/>
            <a:ext cx="91440" cy="841248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-26"/>
          <p:cNvSpPr txBox="1"/>
          <p:nvPr/>
        </p:nvSpPr>
        <p:spPr>
          <a:xfrm>
            <a:off x="6400800" y="2724912"/>
            <a:ext cx="179222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1B8A8F"/>
                </a:solidFill>
                <a:latin typeface="Malgun Gothic"/>
                <a:ea typeface="Malgun Gothic"/>
              </a:rPr>
              <a:t>fallback</a:t>
            </a:r>
          </a:p>
        </p:txBody>
      </p:sp>
      <p:sp>
        <p:nvSpPr>
          <p:cNvPr id="27" name="text-27"/>
          <p:cNvSpPr txBox="1"/>
          <p:nvPr/>
        </p:nvSpPr>
        <p:spPr>
          <a:xfrm>
            <a:off x="6400800" y="3054096"/>
            <a:ext cx="1792224" cy="23774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G5 local LM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어려운 문항</a:t>
            </a:r>
          </a:p>
        </p:txBody>
      </p:sp>
      <p:cxnSp>
        <p:nvCxnSpPr>
          <p:cNvPr id="28" name="line-28"/>
          <p:cNvCxnSpPr/>
          <p:nvPr/>
        </p:nvCxnSpPr>
        <p:spPr>
          <a:xfrm>
            <a:off x="8412480" y="1719072"/>
            <a:ext cx="621792" cy="42062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29" name="line-29"/>
          <p:cNvCxnSpPr/>
          <p:nvPr/>
        </p:nvCxnSpPr>
        <p:spPr>
          <a:xfrm>
            <a:off x="8942832" y="2084832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30" name="line-30"/>
          <p:cNvCxnSpPr/>
          <p:nvPr/>
        </p:nvCxnSpPr>
        <p:spPr>
          <a:xfrm>
            <a:off x="8942832" y="2139696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31" name="line-31"/>
          <p:cNvCxnSpPr/>
          <p:nvPr/>
        </p:nvCxnSpPr>
        <p:spPr>
          <a:xfrm>
            <a:off x="8412480" y="2340864"/>
            <a:ext cx="621792" cy="621792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32" name="line-32"/>
          <p:cNvCxnSpPr/>
          <p:nvPr/>
        </p:nvCxnSpPr>
        <p:spPr>
          <a:xfrm>
            <a:off x="8942832" y="2286000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cxnSp>
        <p:nvCxnSpPr>
          <p:cNvPr id="33" name="line-33"/>
          <p:cNvCxnSpPr/>
          <p:nvPr/>
        </p:nvCxnSpPr>
        <p:spPr>
          <a:xfrm>
            <a:off x="8942832" y="2340864"/>
            <a:ext cx="91440" cy="54864"/>
          </a:xfrm>
          <a:prstGeom prst="line">
            <a:avLst/>
          </a:prstGeom>
          <a:ln w="19050">
            <a:solidFill>
              <a:srgbClr val="8A8F98"/>
            </a:solidFill>
          </a:ln>
        </p:spPr>
      </p:cxnSp>
      <p:sp>
        <p:nvSpPr>
          <p:cNvPr id="34" name="rect-34"/>
          <p:cNvSpPr/>
          <p:nvPr/>
        </p:nvSpPr>
        <p:spPr>
          <a:xfrm>
            <a:off x="9125712" y="1874520"/>
            <a:ext cx="1755648" cy="74980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rect-35"/>
          <p:cNvSpPr/>
          <p:nvPr/>
        </p:nvSpPr>
        <p:spPr>
          <a:xfrm>
            <a:off x="9125712" y="1874520"/>
            <a:ext cx="91440" cy="749808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ext-36"/>
          <p:cNvSpPr txBox="1"/>
          <p:nvPr/>
        </p:nvSpPr>
        <p:spPr>
          <a:xfrm>
            <a:off x="9326880" y="2020824"/>
            <a:ext cx="1426464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7F63B8"/>
                </a:solidFill>
                <a:latin typeface="Malgun Gothic"/>
                <a:ea typeface="Malgun Gothic"/>
              </a:rPr>
              <a:t>출력</a:t>
            </a:r>
          </a:p>
        </p:txBody>
      </p:sp>
      <p:sp>
        <p:nvSpPr>
          <p:cNvPr id="37" name="text-37"/>
          <p:cNvSpPr txBox="1"/>
          <p:nvPr/>
        </p:nvSpPr>
        <p:spPr>
          <a:xfrm>
            <a:off x="9326880" y="2350008"/>
            <a:ext cx="1426464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selected</a:t>
            </a:r>
          </a:p>
          <a:p>
            <a:pPr algn="l">
              <a:lnSpc>
                <a:spcPct val="100000"/>
              </a:lnSpc>
            </a:pPr>
            <a:r>
              <a:rPr lang="ko-KR" sz="800">
                <a:solidFill>
                  <a:srgbClr val="111827"/>
                </a:solidFill>
                <a:latin typeface="Malgun Gothic"/>
                <a:ea typeface="Malgun Gothic"/>
              </a:rPr>
              <a:t>답안</a:t>
            </a:r>
          </a:p>
        </p:txBody>
      </p:sp>
      <p:cxnSp>
        <p:nvCxnSpPr>
          <p:cNvPr id="38" name="line-38"/>
          <p:cNvCxnSpPr/>
          <p:nvPr/>
        </p:nvCxnSpPr>
        <p:spPr>
          <a:xfrm>
            <a:off x="1005840" y="3931920"/>
            <a:ext cx="9875520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39" name="rect-39"/>
          <p:cNvSpPr/>
          <p:nvPr/>
        </p:nvSpPr>
        <p:spPr>
          <a:xfrm>
            <a:off x="1188720" y="4343400"/>
            <a:ext cx="9601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-40"/>
          <p:cNvSpPr txBox="1"/>
          <p:nvPr/>
        </p:nvSpPr>
        <p:spPr>
          <a:xfrm>
            <a:off x="1261872" y="4398264"/>
            <a:ext cx="8138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41" name="text-41"/>
          <p:cNvSpPr txBox="1"/>
          <p:nvPr/>
        </p:nvSpPr>
        <p:spPr>
          <a:xfrm>
            <a:off x="1261872" y="4498848"/>
            <a:ext cx="8138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E79A32"/>
                </a:solidFill>
                <a:latin typeface="Malgun Gothic"/>
                <a:ea typeface="Malgun Gothic"/>
              </a:rPr>
              <a:t>97.6%</a:t>
            </a:r>
          </a:p>
        </p:txBody>
      </p:sp>
      <p:sp>
        <p:nvSpPr>
          <p:cNvPr id="42" name="rect-42"/>
          <p:cNvSpPr/>
          <p:nvPr/>
        </p:nvSpPr>
        <p:spPr>
          <a:xfrm>
            <a:off x="2331720" y="4343400"/>
            <a:ext cx="9601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43"/>
          <p:cNvSpPr txBox="1"/>
          <p:nvPr/>
        </p:nvSpPr>
        <p:spPr>
          <a:xfrm>
            <a:off x="2404872" y="4398264"/>
            <a:ext cx="8138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p50</a:t>
            </a:r>
          </a:p>
        </p:txBody>
      </p:sp>
      <p:sp>
        <p:nvSpPr>
          <p:cNvPr id="44" name="text-44"/>
          <p:cNvSpPr txBox="1"/>
          <p:nvPr/>
        </p:nvSpPr>
        <p:spPr>
          <a:xfrm>
            <a:off x="2404872" y="4498848"/>
            <a:ext cx="8138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E79A32"/>
                </a:solidFill>
                <a:latin typeface="Malgun Gothic"/>
                <a:ea typeface="Malgun Gothic"/>
              </a:rPr>
              <a:t>23ms</a:t>
            </a:r>
          </a:p>
        </p:txBody>
      </p:sp>
      <p:sp>
        <p:nvSpPr>
          <p:cNvPr id="45" name="rect-45"/>
          <p:cNvSpPr/>
          <p:nvPr/>
        </p:nvSpPr>
        <p:spPr>
          <a:xfrm>
            <a:off x="3474720" y="4343400"/>
            <a:ext cx="9601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-46"/>
          <p:cNvSpPr txBox="1"/>
          <p:nvPr/>
        </p:nvSpPr>
        <p:spPr>
          <a:xfrm>
            <a:off x="3547872" y="4398264"/>
            <a:ext cx="8138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fallback</a:t>
            </a:r>
          </a:p>
        </p:txBody>
      </p:sp>
      <p:sp>
        <p:nvSpPr>
          <p:cNvPr id="47" name="text-47"/>
          <p:cNvSpPr txBox="1"/>
          <p:nvPr/>
        </p:nvSpPr>
        <p:spPr>
          <a:xfrm>
            <a:off x="3547872" y="4498848"/>
            <a:ext cx="8138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E79A32"/>
                </a:solidFill>
                <a:latin typeface="Malgun Gothic"/>
                <a:ea typeface="Malgun Gothic"/>
              </a:rPr>
              <a:t>2.0%</a:t>
            </a:r>
          </a:p>
        </p:txBody>
      </p:sp>
      <p:sp>
        <p:nvSpPr>
          <p:cNvPr id="48" name="rect-48"/>
          <p:cNvSpPr/>
          <p:nvPr/>
        </p:nvSpPr>
        <p:spPr>
          <a:xfrm>
            <a:off x="4617720" y="4343400"/>
            <a:ext cx="9601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text-49"/>
          <p:cNvSpPr txBox="1"/>
          <p:nvPr/>
        </p:nvSpPr>
        <p:spPr>
          <a:xfrm>
            <a:off x="4690872" y="4398264"/>
            <a:ext cx="8138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strict parsing</a:t>
            </a:r>
          </a:p>
        </p:txBody>
      </p:sp>
      <p:sp>
        <p:nvSpPr>
          <p:cNvPr id="50" name="text-50"/>
          <p:cNvSpPr txBox="1"/>
          <p:nvPr/>
        </p:nvSpPr>
        <p:spPr>
          <a:xfrm>
            <a:off x="4690872" y="4498848"/>
            <a:ext cx="8138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E79A32"/>
                </a:solidFill>
                <a:latin typeface="Malgun Gothic"/>
                <a:ea typeface="Malgun Gothic"/>
              </a:rPr>
              <a:t>0.0%</a:t>
            </a:r>
          </a:p>
        </p:txBody>
      </p:sp>
      <p:sp>
        <p:nvSpPr>
          <p:cNvPr id="51" name="rect-51"/>
          <p:cNvSpPr/>
          <p:nvPr/>
        </p:nvSpPr>
        <p:spPr>
          <a:xfrm>
            <a:off x="5760720" y="4343400"/>
            <a:ext cx="9601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text-52"/>
          <p:cNvSpPr txBox="1"/>
          <p:nvPr/>
        </p:nvSpPr>
        <p:spPr>
          <a:xfrm>
            <a:off x="5833872" y="4398264"/>
            <a:ext cx="8138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primary</a:t>
            </a:r>
          </a:p>
        </p:txBody>
      </p:sp>
      <p:sp>
        <p:nvSpPr>
          <p:cNvPr id="53" name="text-53"/>
          <p:cNvSpPr txBox="1"/>
          <p:nvPr/>
        </p:nvSpPr>
        <p:spPr>
          <a:xfrm>
            <a:off x="5833872" y="4498848"/>
            <a:ext cx="8138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E79A32"/>
                </a:solidFill>
                <a:latin typeface="Malgun Gothic"/>
                <a:ea typeface="Malgun Gothic"/>
              </a:rPr>
              <a:t>3.6%</a:t>
            </a:r>
          </a:p>
        </p:txBody>
      </p:sp>
      <p:sp>
        <p:nvSpPr>
          <p:cNvPr id="54" name="rect-54"/>
          <p:cNvSpPr/>
          <p:nvPr/>
        </p:nvSpPr>
        <p:spPr>
          <a:xfrm>
            <a:off x="6903720" y="4343400"/>
            <a:ext cx="960120" cy="310896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text-55"/>
          <p:cNvSpPr txBox="1"/>
          <p:nvPr/>
        </p:nvSpPr>
        <p:spPr>
          <a:xfrm>
            <a:off x="6976872" y="4398264"/>
            <a:ext cx="813816" cy="9144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500" b="1">
                <a:solidFill>
                  <a:srgbClr val="5F6B7A"/>
                </a:solidFill>
                <a:latin typeface="Malgun Gothic"/>
                <a:ea typeface="Malgun Gothic"/>
              </a:rPr>
              <a:t>B3 경로</a:t>
            </a:r>
          </a:p>
        </p:txBody>
      </p:sp>
      <p:sp>
        <p:nvSpPr>
          <p:cNvPr id="56" name="text-56"/>
          <p:cNvSpPr txBox="1"/>
          <p:nvPr/>
        </p:nvSpPr>
        <p:spPr>
          <a:xfrm>
            <a:off x="6976872" y="4498848"/>
            <a:ext cx="813816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E79A32"/>
                </a:solidFill>
                <a:latin typeface="Malgun Gothic"/>
                <a:ea typeface="Malgun Gothic"/>
              </a:rPr>
              <a:t>94.4%</a:t>
            </a:r>
          </a:p>
        </p:txBody>
      </p:sp>
      <p:sp>
        <p:nvSpPr>
          <p:cNvPr id="57" name="text-57"/>
          <p:cNvSpPr txBox="1"/>
          <p:nvPr/>
        </p:nvSpPr>
        <p:spPr>
          <a:xfrm>
            <a:off x="8119872" y="4352544"/>
            <a:ext cx="2633472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900" b="1">
                <a:solidFill>
                  <a:srgbClr val="5F6B7A"/>
                </a:solidFill>
                <a:latin typeface="Malgun Gothic"/>
                <a:ea typeface="Malgun Gothic"/>
              </a:rPr>
              <a:t>Selected gate: low 0.75 / high 0.85</a:t>
            </a:r>
          </a:p>
        </p:txBody>
      </p:sp>
      <p:sp>
        <p:nvSpPr>
          <p:cNvPr id="59" name="rect-5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text-60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61" name="text-61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2" name="text-62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모델 구조: H1 local Hybrid</a:t>
            </a:r>
          </a:p>
        </p:txBody>
      </p:sp>
      <p:sp>
        <p:nvSpPr>
          <p:cNvPr id="63" name="text-63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confidence gate | B3 경로 | G5 fallback</a:t>
            </a:r>
          </a:p>
        </p:txBody>
      </p:sp>
      <p:cxnSp>
        <p:nvCxnSpPr>
          <p:cNvPr id="64" name="line-64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65" name="text-65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66" name="text-66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-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749808" y="1417320"/>
            <a:ext cx="1065276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749808" y="1417320"/>
            <a:ext cx="82296" cy="4526280"/>
          </a:xfrm>
          <a:prstGeom prst="rect">
            <a:avLst/>
          </a:prstGeom>
          <a:solidFill>
            <a:srgbClr val="7F63B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932688" y="1536192"/>
            <a:ext cx="103327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0B1F33"/>
                </a:solidFill>
                <a:latin typeface="Malgun Gothic"/>
                <a:ea typeface="Malgun Gothic"/>
              </a:rPr>
              <a:t>Calibration과 output contract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32688" y="1783080"/>
            <a:ext cx="103327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모델 단위 집계 지표</a:t>
            </a:r>
          </a:p>
        </p:txBody>
      </p:sp>
      <p:pic>
        <p:nvPicPr>
          <p:cNvPr id="6" name="07_check500_calibration_contract" descr="07_check500_calibration_contract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2775533" y="2057400"/>
            <a:ext cx="6601310" cy="36850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-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-9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지표 근거: reliability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ECE | output contract | 집계만 사용</a:t>
            </a:r>
          </a:p>
        </p:txBody>
      </p:sp>
      <p:cxnSp>
        <p:nvCxnSpPr>
          <p:cNvPr id="13" name="line-13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4" name="text-14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-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749808" y="1417320"/>
            <a:ext cx="1065276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749808" y="1417320"/>
            <a:ext cx="82296" cy="452628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932688" y="1536192"/>
            <a:ext cx="103327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0B1F33"/>
                </a:solidFill>
                <a:latin typeface="Malgun Gothic"/>
                <a:ea typeface="Malgun Gothic"/>
              </a:rPr>
              <a:t>paired Accuracy Delta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32688" y="1783080"/>
            <a:ext cx="103327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0B1F33"/>
                </a:solidFill>
                <a:latin typeface="Malgun Gothic"/>
                <a:ea typeface="Malgun Gothic"/>
              </a:rPr>
              <a:t>동일 500문항</a:t>
            </a:r>
          </a:p>
        </p:txBody>
      </p:sp>
      <p:pic>
        <p:nvPicPr>
          <p:cNvPr id="6" name="06_check500_pairwise_delta_ci" descr="06_check500_pairwise_delta_ci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2785011" y="2057400"/>
            <a:ext cx="6582354" cy="36850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-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-9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지표 근거: paired statistics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common-item comparison | bootstrap CI | McNemar</a:t>
            </a:r>
          </a:p>
        </p:txBody>
      </p:sp>
      <p:cxnSp>
        <p:nvCxnSpPr>
          <p:cNvPr id="13" name="line-13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4" name="text-14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-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749808" y="1417320"/>
            <a:ext cx="1065276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-3"/>
          <p:cNvSpPr/>
          <p:nvPr/>
        </p:nvSpPr>
        <p:spPr>
          <a:xfrm>
            <a:off x="749808" y="1417320"/>
            <a:ext cx="82296" cy="4526280"/>
          </a:xfrm>
          <a:prstGeom prst="rect">
            <a:avLst/>
          </a:prstGeom>
          <a:solidFill>
            <a:srgbClr val="3A9D5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"/>
          <p:cNvSpPr txBox="1"/>
          <p:nvPr/>
        </p:nvSpPr>
        <p:spPr>
          <a:xfrm>
            <a:off x="932688" y="1536192"/>
            <a:ext cx="103327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 b="1">
                <a:solidFill>
                  <a:srgbClr val="0B1F33"/>
                </a:solidFill>
                <a:latin typeface="Malgun Gothic"/>
                <a:ea typeface="Malgun Gothic"/>
              </a:rPr>
              <a:t>방법론별 runtime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932688" y="1783080"/>
            <a:ext cx="103327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500문항 runtime 보기</a:t>
            </a:r>
          </a:p>
        </p:txBody>
      </p:sp>
      <p:pic>
        <p:nvPicPr>
          <p:cNvPr id="6" name="14_check500_runtime_cost_by_method" descr="14_check500_runtime_cost_by_method.png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b="0" l="0" r="0" t="0"/>
          <a:stretch>
            <a:fillRect/>
          </a:stretch>
        </p:blipFill>
        <p:spPr>
          <a:xfrm>
            <a:off x="2775533" y="2057400"/>
            <a:ext cx="6601310" cy="36850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-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-9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10" name="text-10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11" name="text-11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지표 근거: runtime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latency | memory | local runtime</a:t>
            </a:r>
          </a:p>
        </p:txBody>
      </p:sp>
      <p:cxnSp>
        <p:nvCxnSpPr>
          <p:cNvPr id="13" name="line-13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14" name="text-14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-7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-2"/>
          <p:cNvSpPr/>
          <p:nvPr/>
        </p:nvSpPr>
        <p:spPr>
          <a:xfrm>
            <a:off x="640080" y="1444752"/>
            <a:ext cx="7543800" cy="384048"/>
          </a:xfrm>
          <a:prstGeom prst="rect">
            <a:avLst/>
          </a:prstGeom>
          <a:solidFill>
            <a:srgbClr val="F3F5F7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-3"/>
          <p:cNvSpPr txBox="1"/>
          <p:nvPr/>
        </p:nvSpPr>
        <p:spPr>
          <a:xfrm>
            <a:off x="713232" y="1545336"/>
            <a:ext cx="117957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모델</a:t>
            </a:r>
          </a:p>
        </p:txBody>
      </p:sp>
      <p:sp>
        <p:nvSpPr>
          <p:cNvPr id="4" name="text-4"/>
          <p:cNvSpPr txBox="1"/>
          <p:nvPr/>
        </p:nvSpPr>
        <p:spPr>
          <a:xfrm>
            <a:off x="2039112" y="1545336"/>
            <a:ext cx="81381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Accuracy</a:t>
            </a:r>
          </a:p>
        </p:txBody>
      </p:sp>
      <p:sp>
        <p:nvSpPr>
          <p:cNvPr id="5" name="text-5"/>
          <p:cNvSpPr txBox="1"/>
          <p:nvPr/>
        </p:nvSpPr>
        <p:spPr>
          <a:xfrm>
            <a:off x="2999232" y="1545336"/>
            <a:ext cx="81381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Antonym</a:t>
            </a:r>
          </a:p>
        </p:txBody>
      </p:sp>
      <p:sp>
        <p:nvSpPr>
          <p:cNvPr id="6" name="text-6"/>
          <p:cNvSpPr txBox="1"/>
          <p:nvPr/>
        </p:nvSpPr>
        <p:spPr>
          <a:xfrm>
            <a:off x="3959352" y="1545336"/>
            <a:ext cx="81381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p50</a:t>
            </a:r>
          </a:p>
        </p:txBody>
      </p:sp>
      <p:sp>
        <p:nvSpPr>
          <p:cNvPr id="7" name="text-7"/>
          <p:cNvSpPr txBox="1"/>
          <p:nvPr/>
        </p:nvSpPr>
        <p:spPr>
          <a:xfrm>
            <a:off x="4919472" y="1545336"/>
            <a:ext cx="95097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RAM/VRAM</a:t>
            </a:r>
          </a:p>
        </p:txBody>
      </p:sp>
      <p:sp>
        <p:nvSpPr>
          <p:cNvPr id="8" name="text-8"/>
          <p:cNvSpPr txBox="1"/>
          <p:nvPr/>
        </p:nvSpPr>
        <p:spPr>
          <a:xfrm>
            <a:off x="6016752" y="1545336"/>
            <a:ext cx="90525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ECE</a:t>
            </a:r>
          </a:p>
        </p:txBody>
      </p:sp>
      <p:sp>
        <p:nvSpPr>
          <p:cNvPr id="9" name="text-9"/>
          <p:cNvSpPr txBox="1"/>
          <p:nvPr/>
        </p:nvSpPr>
        <p:spPr>
          <a:xfrm>
            <a:off x="7068312" y="1545336"/>
            <a:ext cx="104241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parse error</a:t>
            </a:r>
          </a:p>
        </p:txBody>
      </p:sp>
      <p:sp>
        <p:nvSpPr>
          <p:cNvPr id="10" name="rect-10"/>
          <p:cNvSpPr/>
          <p:nvPr/>
        </p:nvSpPr>
        <p:spPr>
          <a:xfrm>
            <a:off x="640080" y="1865376"/>
            <a:ext cx="7543800" cy="420624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1"/>
          <p:cNvSpPr txBox="1"/>
          <p:nvPr/>
        </p:nvSpPr>
        <p:spPr>
          <a:xfrm>
            <a:off x="713232" y="1975104"/>
            <a:ext cx="117957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B0</a:t>
            </a:r>
          </a:p>
        </p:txBody>
      </p:sp>
      <p:sp>
        <p:nvSpPr>
          <p:cNvPr id="12" name="text-12"/>
          <p:cNvSpPr txBox="1"/>
          <p:nvPr/>
        </p:nvSpPr>
        <p:spPr>
          <a:xfrm>
            <a:off x="2020824" y="1975104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63.0%</a:t>
            </a:r>
          </a:p>
        </p:txBody>
      </p:sp>
      <p:sp>
        <p:nvSpPr>
          <p:cNvPr id="13" name="text-13"/>
          <p:cNvSpPr txBox="1"/>
          <p:nvPr/>
        </p:nvSpPr>
        <p:spPr>
          <a:xfrm>
            <a:off x="2980944" y="1975104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28.6%</a:t>
            </a:r>
          </a:p>
        </p:txBody>
      </p:sp>
      <p:sp>
        <p:nvSpPr>
          <p:cNvPr id="14" name="text-14"/>
          <p:cNvSpPr txBox="1"/>
          <p:nvPr/>
        </p:nvSpPr>
        <p:spPr>
          <a:xfrm>
            <a:off x="3941064" y="1975104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20ms</a:t>
            </a:r>
          </a:p>
        </p:txBody>
      </p:sp>
      <p:sp>
        <p:nvSpPr>
          <p:cNvPr id="15" name="text-15"/>
          <p:cNvSpPr txBox="1"/>
          <p:nvPr/>
        </p:nvSpPr>
        <p:spPr>
          <a:xfrm>
            <a:off x="4901184" y="1975104"/>
            <a:ext cx="98755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676MB</a:t>
            </a:r>
          </a:p>
        </p:txBody>
      </p:sp>
      <p:sp>
        <p:nvSpPr>
          <p:cNvPr id="16" name="text-16"/>
          <p:cNvSpPr txBox="1"/>
          <p:nvPr/>
        </p:nvSpPr>
        <p:spPr>
          <a:xfrm>
            <a:off x="5998464" y="1975104"/>
            <a:ext cx="9418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17.4%</a:t>
            </a:r>
          </a:p>
        </p:txBody>
      </p:sp>
      <p:sp>
        <p:nvSpPr>
          <p:cNvPr id="17" name="text-17"/>
          <p:cNvSpPr txBox="1"/>
          <p:nvPr/>
        </p:nvSpPr>
        <p:spPr>
          <a:xfrm>
            <a:off x="7050024" y="1975104"/>
            <a:ext cx="10789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0.0%</a:t>
            </a:r>
          </a:p>
        </p:txBody>
      </p:sp>
      <p:sp>
        <p:nvSpPr>
          <p:cNvPr id="18" name="rect-18"/>
          <p:cNvSpPr/>
          <p:nvPr/>
        </p:nvSpPr>
        <p:spPr>
          <a:xfrm>
            <a:off x="640080" y="2286000"/>
            <a:ext cx="7543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-19"/>
          <p:cNvSpPr txBox="1"/>
          <p:nvPr/>
        </p:nvSpPr>
        <p:spPr>
          <a:xfrm>
            <a:off x="713232" y="2395728"/>
            <a:ext cx="117957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B3</a:t>
            </a:r>
          </a:p>
        </p:txBody>
      </p:sp>
      <p:sp>
        <p:nvSpPr>
          <p:cNvPr id="20" name="text-20"/>
          <p:cNvSpPr txBox="1"/>
          <p:nvPr/>
        </p:nvSpPr>
        <p:spPr>
          <a:xfrm>
            <a:off x="2020824" y="2395728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97.4%</a:t>
            </a:r>
          </a:p>
        </p:txBody>
      </p:sp>
      <p:sp>
        <p:nvSpPr>
          <p:cNvPr id="21" name="text-21"/>
          <p:cNvSpPr txBox="1"/>
          <p:nvPr/>
        </p:nvSpPr>
        <p:spPr>
          <a:xfrm>
            <a:off x="2980944" y="2395728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14.3%</a:t>
            </a:r>
          </a:p>
        </p:txBody>
      </p:sp>
      <p:sp>
        <p:nvSpPr>
          <p:cNvPr id="22" name="text-22"/>
          <p:cNvSpPr txBox="1"/>
          <p:nvPr/>
        </p:nvSpPr>
        <p:spPr>
          <a:xfrm>
            <a:off x="3941064" y="2395728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23ms</a:t>
            </a:r>
          </a:p>
        </p:txBody>
      </p:sp>
      <p:sp>
        <p:nvSpPr>
          <p:cNvPr id="23" name="text-23"/>
          <p:cNvSpPr txBox="1"/>
          <p:nvPr/>
        </p:nvSpPr>
        <p:spPr>
          <a:xfrm>
            <a:off x="4901184" y="2395728"/>
            <a:ext cx="98755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2.2GB</a:t>
            </a:r>
          </a:p>
        </p:txBody>
      </p:sp>
      <p:sp>
        <p:nvSpPr>
          <p:cNvPr id="24" name="text-24"/>
          <p:cNvSpPr txBox="1"/>
          <p:nvPr/>
        </p:nvSpPr>
        <p:spPr>
          <a:xfrm>
            <a:off x="5998464" y="2395728"/>
            <a:ext cx="9418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31.5%</a:t>
            </a:r>
          </a:p>
        </p:txBody>
      </p:sp>
      <p:sp>
        <p:nvSpPr>
          <p:cNvPr id="25" name="text-25"/>
          <p:cNvSpPr txBox="1"/>
          <p:nvPr/>
        </p:nvSpPr>
        <p:spPr>
          <a:xfrm>
            <a:off x="7050024" y="2395728"/>
            <a:ext cx="10789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0.0%</a:t>
            </a:r>
          </a:p>
        </p:txBody>
      </p:sp>
      <p:sp>
        <p:nvSpPr>
          <p:cNvPr id="26" name="rect-26"/>
          <p:cNvSpPr/>
          <p:nvPr/>
        </p:nvSpPr>
        <p:spPr>
          <a:xfrm>
            <a:off x="640080" y="2706624"/>
            <a:ext cx="7543800" cy="420624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-27"/>
          <p:cNvSpPr txBox="1"/>
          <p:nvPr/>
        </p:nvSpPr>
        <p:spPr>
          <a:xfrm>
            <a:off x="713232" y="2816352"/>
            <a:ext cx="117957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C84A3A"/>
                </a:solidFill>
                <a:latin typeface="Malgun Gothic"/>
                <a:ea typeface="Malgun Gothic"/>
              </a:rPr>
              <a:t>G3</a:t>
            </a:r>
          </a:p>
        </p:txBody>
      </p:sp>
      <p:sp>
        <p:nvSpPr>
          <p:cNvPr id="28" name="text-28"/>
          <p:cNvSpPr txBox="1"/>
          <p:nvPr/>
        </p:nvSpPr>
        <p:spPr>
          <a:xfrm>
            <a:off x="2020824" y="2816352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99.2%</a:t>
            </a:r>
          </a:p>
        </p:txBody>
      </p:sp>
      <p:sp>
        <p:nvSpPr>
          <p:cNvPr id="29" name="text-29"/>
          <p:cNvSpPr txBox="1"/>
          <p:nvPr/>
        </p:nvSpPr>
        <p:spPr>
          <a:xfrm>
            <a:off x="2980944" y="2816352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78.6%</a:t>
            </a:r>
          </a:p>
        </p:txBody>
      </p:sp>
      <p:sp>
        <p:nvSpPr>
          <p:cNvPr id="30" name="text-30"/>
          <p:cNvSpPr txBox="1"/>
          <p:nvPr/>
        </p:nvSpPr>
        <p:spPr>
          <a:xfrm>
            <a:off x="3941064" y="2816352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2.52s</a:t>
            </a:r>
          </a:p>
        </p:txBody>
      </p:sp>
      <p:sp>
        <p:nvSpPr>
          <p:cNvPr id="31" name="text-31"/>
          <p:cNvSpPr txBox="1"/>
          <p:nvPr/>
        </p:nvSpPr>
        <p:spPr>
          <a:xfrm>
            <a:off x="4901184" y="2816352"/>
            <a:ext cx="98755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5.8GB</a:t>
            </a:r>
          </a:p>
        </p:txBody>
      </p:sp>
      <p:sp>
        <p:nvSpPr>
          <p:cNvPr id="32" name="text-32"/>
          <p:cNvSpPr txBox="1"/>
          <p:nvPr/>
        </p:nvSpPr>
        <p:spPr>
          <a:xfrm>
            <a:off x="5998464" y="2816352"/>
            <a:ext cx="9418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3.0%</a:t>
            </a:r>
          </a:p>
        </p:txBody>
      </p:sp>
      <p:sp>
        <p:nvSpPr>
          <p:cNvPr id="33" name="text-33"/>
          <p:cNvSpPr txBox="1"/>
          <p:nvPr/>
        </p:nvSpPr>
        <p:spPr>
          <a:xfrm>
            <a:off x="7050024" y="2816352"/>
            <a:ext cx="10789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87.6%</a:t>
            </a:r>
          </a:p>
        </p:txBody>
      </p:sp>
      <p:sp>
        <p:nvSpPr>
          <p:cNvPr id="34" name="rect-34"/>
          <p:cNvSpPr/>
          <p:nvPr/>
        </p:nvSpPr>
        <p:spPr>
          <a:xfrm>
            <a:off x="640080" y="3127248"/>
            <a:ext cx="7543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-35"/>
          <p:cNvSpPr txBox="1"/>
          <p:nvPr/>
        </p:nvSpPr>
        <p:spPr>
          <a:xfrm>
            <a:off x="713232" y="3236976"/>
            <a:ext cx="117957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7F63B8"/>
                </a:solidFill>
                <a:latin typeface="Malgun Gothic"/>
                <a:ea typeface="Malgun Gothic"/>
              </a:rPr>
              <a:t>G4 4bit</a:t>
            </a:r>
          </a:p>
        </p:txBody>
      </p:sp>
      <p:sp>
        <p:nvSpPr>
          <p:cNvPr id="36" name="text-36"/>
          <p:cNvSpPr txBox="1"/>
          <p:nvPr/>
        </p:nvSpPr>
        <p:spPr>
          <a:xfrm>
            <a:off x="2020824" y="3236976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97.4%</a:t>
            </a:r>
          </a:p>
        </p:txBody>
      </p:sp>
      <p:sp>
        <p:nvSpPr>
          <p:cNvPr id="37" name="text-37"/>
          <p:cNvSpPr txBox="1"/>
          <p:nvPr/>
        </p:nvSpPr>
        <p:spPr>
          <a:xfrm>
            <a:off x="2980944" y="3236976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14.3%</a:t>
            </a:r>
          </a:p>
        </p:txBody>
      </p:sp>
      <p:sp>
        <p:nvSpPr>
          <p:cNvPr id="38" name="text-38"/>
          <p:cNvSpPr txBox="1"/>
          <p:nvPr/>
        </p:nvSpPr>
        <p:spPr>
          <a:xfrm>
            <a:off x="3941064" y="3236976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1.85s</a:t>
            </a:r>
          </a:p>
        </p:txBody>
      </p:sp>
      <p:sp>
        <p:nvSpPr>
          <p:cNvPr id="39" name="text-39"/>
          <p:cNvSpPr txBox="1"/>
          <p:nvPr/>
        </p:nvSpPr>
        <p:spPr>
          <a:xfrm>
            <a:off x="4901184" y="3236976"/>
            <a:ext cx="98755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2.2GB</a:t>
            </a:r>
          </a:p>
        </p:txBody>
      </p:sp>
      <p:sp>
        <p:nvSpPr>
          <p:cNvPr id="40" name="text-40"/>
          <p:cNvSpPr txBox="1"/>
          <p:nvPr/>
        </p:nvSpPr>
        <p:spPr>
          <a:xfrm>
            <a:off x="5998464" y="3236976"/>
            <a:ext cx="9418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20.5%</a:t>
            </a:r>
          </a:p>
        </p:txBody>
      </p:sp>
      <p:sp>
        <p:nvSpPr>
          <p:cNvPr id="41" name="text-41"/>
          <p:cNvSpPr txBox="1"/>
          <p:nvPr/>
        </p:nvSpPr>
        <p:spPr>
          <a:xfrm>
            <a:off x="7050024" y="3236976"/>
            <a:ext cx="10789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53.0%</a:t>
            </a:r>
          </a:p>
        </p:txBody>
      </p:sp>
      <p:sp>
        <p:nvSpPr>
          <p:cNvPr id="42" name="rect-42"/>
          <p:cNvSpPr/>
          <p:nvPr/>
        </p:nvSpPr>
        <p:spPr>
          <a:xfrm>
            <a:off x="640080" y="3547872"/>
            <a:ext cx="7543800" cy="420624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43"/>
          <p:cNvSpPr txBox="1"/>
          <p:nvPr/>
        </p:nvSpPr>
        <p:spPr>
          <a:xfrm>
            <a:off x="713232" y="3657600"/>
            <a:ext cx="117957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3A9D5D"/>
                </a:solidFill>
                <a:latin typeface="Malgun Gothic"/>
                <a:ea typeface="Malgun Gothic"/>
              </a:rPr>
              <a:t>G5 0.5B</a:t>
            </a:r>
          </a:p>
        </p:txBody>
      </p:sp>
      <p:sp>
        <p:nvSpPr>
          <p:cNvPr id="44" name="text-44"/>
          <p:cNvSpPr txBox="1"/>
          <p:nvPr/>
        </p:nvSpPr>
        <p:spPr>
          <a:xfrm>
            <a:off x="2020824" y="3657600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96.6%</a:t>
            </a:r>
          </a:p>
        </p:txBody>
      </p:sp>
      <p:sp>
        <p:nvSpPr>
          <p:cNvPr id="45" name="text-45"/>
          <p:cNvSpPr txBox="1"/>
          <p:nvPr/>
        </p:nvSpPr>
        <p:spPr>
          <a:xfrm>
            <a:off x="2980944" y="3657600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7.1%</a:t>
            </a:r>
          </a:p>
        </p:txBody>
      </p:sp>
      <p:sp>
        <p:nvSpPr>
          <p:cNvPr id="46" name="text-46"/>
          <p:cNvSpPr txBox="1"/>
          <p:nvPr/>
        </p:nvSpPr>
        <p:spPr>
          <a:xfrm>
            <a:off x="3941064" y="3657600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302ms</a:t>
            </a:r>
          </a:p>
        </p:txBody>
      </p:sp>
      <p:sp>
        <p:nvSpPr>
          <p:cNvPr id="47" name="text-47"/>
          <p:cNvSpPr txBox="1"/>
          <p:nvPr/>
        </p:nvSpPr>
        <p:spPr>
          <a:xfrm>
            <a:off x="4901184" y="3657600"/>
            <a:ext cx="98755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987MB</a:t>
            </a:r>
          </a:p>
        </p:txBody>
      </p:sp>
      <p:sp>
        <p:nvSpPr>
          <p:cNvPr id="48" name="text-48"/>
          <p:cNvSpPr txBox="1"/>
          <p:nvPr/>
        </p:nvSpPr>
        <p:spPr>
          <a:xfrm>
            <a:off x="5998464" y="3657600"/>
            <a:ext cx="9418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3.4%</a:t>
            </a:r>
          </a:p>
        </p:txBody>
      </p:sp>
      <p:sp>
        <p:nvSpPr>
          <p:cNvPr id="49" name="text-49"/>
          <p:cNvSpPr txBox="1"/>
          <p:nvPr/>
        </p:nvSpPr>
        <p:spPr>
          <a:xfrm>
            <a:off x="7050024" y="3657600"/>
            <a:ext cx="10789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0.0%</a:t>
            </a:r>
          </a:p>
        </p:txBody>
      </p:sp>
      <p:sp>
        <p:nvSpPr>
          <p:cNvPr id="50" name="rect-50"/>
          <p:cNvSpPr/>
          <p:nvPr/>
        </p:nvSpPr>
        <p:spPr>
          <a:xfrm>
            <a:off x="640080" y="3968496"/>
            <a:ext cx="7543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text-51"/>
          <p:cNvSpPr txBox="1"/>
          <p:nvPr/>
        </p:nvSpPr>
        <p:spPr>
          <a:xfrm>
            <a:off x="713232" y="4078224"/>
            <a:ext cx="117957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1B8A8F"/>
                </a:solidFill>
                <a:latin typeface="Malgun Gothic"/>
                <a:ea typeface="Malgun Gothic"/>
              </a:rPr>
              <a:t>G5 1.5B</a:t>
            </a:r>
          </a:p>
        </p:txBody>
      </p:sp>
      <p:sp>
        <p:nvSpPr>
          <p:cNvPr id="52" name="text-52"/>
          <p:cNvSpPr txBox="1"/>
          <p:nvPr/>
        </p:nvSpPr>
        <p:spPr>
          <a:xfrm>
            <a:off x="2020824" y="4078224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97.6%</a:t>
            </a:r>
          </a:p>
        </p:txBody>
      </p:sp>
      <p:sp>
        <p:nvSpPr>
          <p:cNvPr id="53" name="text-53"/>
          <p:cNvSpPr txBox="1"/>
          <p:nvPr/>
        </p:nvSpPr>
        <p:spPr>
          <a:xfrm>
            <a:off x="2980944" y="4078224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21.4%</a:t>
            </a:r>
          </a:p>
        </p:txBody>
      </p:sp>
      <p:sp>
        <p:nvSpPr>
          <p:cNvPr id="54" name="text-54"/>
          <p:cNvSpPr txBox="1"/>
          <p:nvPr/>
        </p:nvSpPr>
        <p:spPr>
          <a:xfrm>
            <a:off x="3941064" y="4078224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341ms</a:t>
            </a:r>
          </a:p>
        </p:txBody>
      </p:sp>
      <p:sp>
        <p:nvSpPr>
          <p:cNvPr id="55" name="text-55"/>
          <p:cNvSpPr txBox="1"/>
          <p:nvPr/>
        </p:nvSpPr>
        <p:spPr>
          <a:xfrm>
            <a:off x="4901184" y="4078224"/>
            <a:ext cx="98755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2.9GB</a:t>
            </a:r>
          </a:p>
        </p:txBody>
      </p:sp>
      <p:sp>
        <p:nvSpPr>
          <p:cNvPr id="56" name="text-56"/>
          <p:cNvSpPr txBox="1"/>
          <p:nvPr/>
        </p:nvSpPr>
        <p:spPr>
          <a:xfrm>
            <a:off x="5998464" y="4078224"/>
            <a:ext cx="9418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2.4%</a:t>
            </a:r>
          </a:p>
        </p:txBody>
      </p:sp>
      <p:sp>
        <p:nvSpPr>
          <p:cNvPr id="57" name="text-57"/>
          <p:cNvSpPr txBox="1"/>
          <p:nvPr/>
        </p:nvSpPr>
        <p:spPr>
          <a:xfrm>
            <a:off x="7050024" y="4078224"/>
            <a:ext cx="10789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8.0%</a:t>
            </a:r>
          </a:p>
        </p:txBody>
      </p:sp>
      <p:sp>
        <p:nvSpPr>
          <p:cNvPr id="58" name="rect-58"/>
          <p:cNvSpPr/>
          <p:nvPr/>
        </p:nvSpPr>
        <p:spPr>
          <a:xfrm>
            <a:off x="640080" y="4389120"/>
            <a:ext cx="7543800" cy="420624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text-59"/>
          <p:cNvSpPr txBox="1"/>
          <p:nvPr/>
        </p:nvSpPr>
        <p:spPr>
          <a:xfrm>
            <a:off x="713232" y="4498848"/>
            <a:ext cx="1179576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 b="1">
                <a:solidFill>
                  <a:srgbClr val="E79A32"/>
                </a:solidFill>
                <a:latin typeface="Malgun Gothic"/>
                <a:ea typeface="Malgun Gothic"/>
              </a:rPr>
              <a:t>H1</a:t>
            </a:r>
          </a:p>
        </p:txBody>
      </p:sp>
      <p:sp>
        <p:nvSpPr>
          <p:cNvPr id="60" name="text-60"/>
          <p:cNvSpPr txBox="1"/>
          <p:nvPr/>
        </p:nvSpPr>
        <p:spPr>
          <a:xfrm>
            <a:off x="2020824" y="4498848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111827"/>
                </a:solidFill>
                <a:latin typeface="Malgun Gothic"/>
                <a:ea typeface="Malgun Gothic"/>
              </a:rPr>
              <a:t>97.6%</a:t>
            </a:r>
          </a:p>
        </p:txBody>
      </p:sp>
      <p:sp>
        <p:nvSpPr>
          <p:cNvPr id="61" name="text-61"/>
          <p:cNvSpPr txBox="1"/>
          <p:nvPr/>
        </p:nvSpPr>
        <p:spPr>
          <a:xfrm>
            <a:off x="2980944" y="4498848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21.4%</a:t>
            </a:r>
          </a:p>
        </p:txBody>
      </p:sp>
      <p:sp>
        <p:nvSpPr>
          <p:cNvPr id="62" name="text-62"/>
          <p:cNvSpPr txBox="1"/>
          <p:nvPr/>
        </p:nvSpPr>
        <p:spPr>
          <a:xfrm>
            <a:off x="3941064" y="4498848"/>
            <a:ext cx="8503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23ms</a:t>
            </a:r>
          </a:p>
        </p:txBody>
      </p:sp>
      <p:sp>
        <p:nvSpPr>
          <p:cNvPr id="63" name="text-63"/>
          <p:cNvSpPr txBox="1"/>
          <p:nvPr/>
        </p:nvSpPr>
        <p:spPr>
          <a:xfrm>
            <a:off x="4901184" y="4498848"/>
            <a:ext cx="98755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2.2GB</a:t>
            </a:r>
          </a:p>
        </p:txBody>
      </p:sp>
      <p:sp>
        <p:nvSpPr>
          <p:cNvPr id="64" name="text-64"/>
          <p:cNvSpPr txBox="1"/>
          <p:nvPr/>
        </p:nvSpPr>
        <p:spPr>
          <a:xfrm>
            <a:off x="5998464" y="4498848"/>
            <a:ext cx="94183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30.1%</a:t>
            </a:r>
          </a:p>
        </p:txBody>
      </p:sp>
      <p:sp>
        <p:nvSpPr>
          <p:cNvPr id="65" name="text-65"/>
          <p:cNvSpPr txBox="1"/>
          <p:nvPr/>
        </p:nvSpPr>
        <p:spPr>
          <a:xfrm>
            <a:off x="7050024" y="4498848"/>
            <a:ext cx="1078992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0.0%</a:t>
            </a:r>
          </a:p>
        </p:txBody>
      </p:sp>
      <p:sp>
        <p:nvSpPr>
          <p:cNvPr id="66" name="rect-66"/>
          <p:cNvSpPr/>
          <p:nvPr/>
        </p:nvSpPr>
        <p:spPr>
          <a:xfrm>
            <a:off x="640080" y="4919472"/>
            <a:ext cx="10881360" cy="8778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text-67"/>
          <p:cNvSpPr txBox="1"/>
          <p:nvPr/>
        </p:nvSpPr>
        <p:spPr>
          <a:xfrm>
            <a:off x="914400" y="5102352"/>
            <a:ext cx="187452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B0 대비 B3</a:t>
            </a:r>
          </a:p>
        </p:txBody>
      </p:sp>
      <p:sp>
        <p:nvSpPr>
          <p:cNvPr id="68" name="text-68"/>
          <p:cNvSpPr txBox="1"/>
          <p:nvPr/>
        </p:nvSpPr>
        <p:spPr>
          <a:xfrm>
            <a:off x="914400" y="5303520"/>
            <a:ext cx="18745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-34.4pp 차이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McNemar p=3.3e-37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공통 n=500</a:t>
            </a:r>
          </a:p>
        </p:txBody>
      </p:sp>
      <p:sp>
        <p:nvSpPr>
          <p:cNvPr id="69" name="text-69"/>
          <p:cNvSpPr txBox="1"/>
          <p:nvPr/>
        </p:nvSpPr>
        <p:spPr>
          <a:xfrm>
            <a:off x="4160520" y="5102352"/>
            <a:ext cx="187452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3A9D5D"/>
                </a:solidFill>
                <a:latin typeface="Malgun Gothic"/>
                <a:ea typeface="Malgun Gothic"/>
              </a:rPr>
              <a:t>B3 대비 G5 0.5B</a:t>
            </a:r>
          </a:p>
        </p:txBody>
      </p:sp>
      <p:sp>
        <p:nvSpPr>
          <p:cNvPr id="70" name="text-70"/>
          <p:cNvSpPr txBox="1"/>
          <p:nvPr/>
        </p:nvSpPr>
        <p:spPr>
          <a:xfrm>
            <a:off x="4160520" y="5303520"/>
            <a:ext cx="18745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+0.8pp 차이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McNemar p=0.289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공통 n=500</a:t>
            </a:r>
          </a:p>
        </p:txBody>
      </p:sp>
      <p:sp>
        <p:nvSpPr>
          <p:cNvPr id="71" name="text-71"/>
          <p:cNvSpPr txBox="1"/>
          <p:nvPr/>
        </p:nvSpPr>
        <p:spPr>
          <a:xfrm>
            <a:off x="7406640" y="5102352"/>
            <a:ext cx="187452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7F63B8"/>
                </a:solidFill>
                <a:latin typeface="Malgun Gothic"/>
                <a:ea typeface="Malgun Gothic"/>
              </a:rPr>
              <a:t>G3 대비 G4 4bit</a:t>
            </a:r>
          </a:p>
        </p:txBody>
      </p:sp>
      <p:sp>
        <p:nvSpPr>
          <p:cNvPr id="72" name="text-72"/>
          <p:cNvSpPr txBox="1"/>
          <p:nvPr/>
        </p:nvSpPr>
        <p:spPr>
          <a:xfrm>
            <a:off x="7406640" y="5303520"/>
            <a:ext cx="18745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+1.8pp 차이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McNemar p=0.0159</a:t>
            </a:r>
          </a:p>
          <a:p>
            <a:pPr algn="l">
              <a:lnSpc>
                <a:spcPct val="100000"/>
              </a:lnSpc>
            </a:pPr>
            <a:r>
              <a:rPr lang="ko-KR" sz="700">
                <a:solidFill>
                  <a:srgbClr val="111827"/>
                </a:solidFill>
                <a:latin typeface="Malgun Gothic"/>
                <a:ea typeface="Malgun Gothic"/>
              </a:rPr>
              <a:t>공통 n=500</a:t>
            </a:r>
          </a:p>
        </p:txBody>
      </p:sp>
      <p:sp>
        <p:nvSpPr>
          <p:cNvPr id="73" name="rect-73"/>
          <p:cNvSpPr/>
          <p:nvPr/>
        </p:nvSpPr>
        <p:spPr>
          <a:xfrm>
            <a:off x="9820656" y="5138928"/>
            <a:ext cx="1207008" cy="384048"/>
          </a:xfrm>
          <a:prstGeom prst="roundRect">
            <a:avLst/>
          </a:prstGeom>
          <a:solidFill>
            <a:srgbClr val="F7F9FB"/>
          </a:solidFill>
          <a:ln w="9525">
            <a:solidFill>
              <a:srgbClr val="D9DE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text-74"/>
          <p:cNvSpPr txBox="1"/>
          <p:nvPr/>
        </p:nvSpPr>
        <p:spPr>
          <a:xfrm>
            <a:off x="9893808" y="5257800"/>
            <a:ext cx="1051560" cy="109728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c"/>
            <a:r>
              <a:rPr lang="ko-KR" sz="700" b="1">
                <a:solidFill>
                  <a:srgbClr val="5F6B7A"/>
                </a:solidFill>
                <a:latin typeface="Malgun Gothic"/>
                <a:ea typeface="Malgun Gothic"/>
              </a:rPr>
              <a:t>집계만 사용</a:t>
            </a:r>
          </a:p>
        </p:txBody>
      </p:sp>
      <p:sp>
        <p:nvSpPr>
          <p:cNvPr id="76" name="rect-7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8A8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text-77"/>
          <p:cNvSpPr txBox="1"/>
          <p:nvPr/>
        </p:nvSpPr>
        <p:spPr>
          <a:xfrm>
            <a:off x="420624" y="256032"/>
            <a:ext cx="182880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800" b="1">
                <a:solidFill>
                  <a:srgbClr val="1B8A8F"/>
                </a:solidFill>
                <a:latin typeface="Malgun Gothic"/>
                <a:ea typeface="Malgun Gothic"/>
              </a:rPr>
              <a:t>부록</a:t>
            </a:r>
          </a:p>
        </p:txBody>
      </p:sp>
      <p:sp>
        <p:nvSpPr>
          <p:cNvPr id="78" name="text-78"/>
          <p:cNvSpPr txBox="1"/>
          <p:nvPr/>
        </p:nvSpPr>
        <p:spPr>
          <a:xfrm>
            <a:off x="11283696" y="237744"/>
            <a:ext cx="50292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800" b="1">
                <a:solidFill>
                  <a:srgbClr val="8A8F98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79" name="text-79"/>
          <p:cNvSpPr txBox="1"/>
          <p:nvPr/>
        </p:nvSpPr>
        <p:spPr>
          <a:xfrm>
            <a:off x="420624" y="530352"/>
            <a:ext cx="777240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2000" b="1">
                <a:solidFill>
                  <a:srgbClr val="0B1F33"/>
                </a:solidFill>
                <a:latin typeface="Malgun Gothic"/>
                <a:ea typeface="Malgun Gothic"/>
              </a:rPr>
              <a:t>집계 지표 근거표</a:t>
            </a:r>
          </a:p>
        </p:txBody>
      </p:sp>
      <p:sp>
        <p:nvSpPr>
          <p:cNvPr id="80" name="text-80"/>
          <p:cNvSpPr txBox="1"/>
          <p:nvPr/>
        </p:nvSpPr>
        <p:spPr>
          <a:xfrm>
            <a:off x="420624" y="932688"/>
            <a:ext cx="1078992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1000">
                <a:solidFill>
                  <a:srgbClr val="5F6B7A"/>
                </a:solidFill>
                <a:latin typeface="Malgun Gothic"/>
                <a:ea typeface="Malgun Gothic"/>
              </a:rPr>
              <a:t>task별 Accuracy | reliability | runtime | paired evidence</a:t>
            </a:r>
          </a:p>
        </p:txBody>
      </p:sp>
      <p:cxnSp>
        <p:nvCxnSpPr>
          <p:cNvPr id="81" name="line-81"/>
          <p:cNvCxnSpPr/>
          <p:nvPr/>
        </p:nvCxnSpPr>
        <p:spPr>
          <a:xfrm>
            <a:off x="420624" y="1188720"/>
            <a:ext cx="11329416" cy="0"/>
          </a:xfrm>
          <a:prstGeom prst="line">
            <a:avLst/>
          </a:prstGeom>
          <a:ln w="6350">
            <a:solidFill>
              <a:srgbClr val="D9DEE5"/>
            </a:solidFill>
          </a:ln>
        </p:spPr>
      </p:cxnSp>
      <p:sp>
        <p:nvSpPr>
          <p:cNvPr id="82" name="text-82"/>
          <p:cNvSpPr txBox="1"/>
          <p:nvPr/>
        </p:nvSpPr>
        <p:spPr>
          <a:xfrm>
            <a:off x="420624" y="6547104"/>
            <a:ext cx="89611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TOEIC 비즈니스 어휘 판정 | No-API / No-Retrain 결과 보고</a:t>
            </a:r>
          </a:p>
        </p:txBody>
      </p:sp>
      <p:sp>
        <p:nvSpPr>
          <p:cNvPr id="83" name="text-83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ko-KR" sz="700">
                <a:solidFill>
                  <a:srgbClr val="8A8F98"/>
                </a:solidFill>
                <a:latin typeface="Malgun Gothic"/>
                <a:ea typeface="Malgun Gothic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Term AI report generator</Application>
  <PresentationFormat>On-screen Show (16:9)</PresentationFormat>
  <Slides>34</Slides>
  <Notes>34</Notes>
  <Paragraphs>0</Paragraphs>
  <Words>0</Word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TOEIC Vocabulary Judging Methodology Results</dc:title>
  <dc:creator>Codex</dc:creator>
  <cp:lastModifiedBy>Codex</cp:lastModifiedBy>
  <dcterms:created xsi:type="dcterms:W3CDTF">2026-06-07T11:37:22Z</dcterms:created>
  <dcterms:modified xsi:type="dcterms:W3CDTF">2026-06-07T11:37:22Z</dcterms:modified>
</cp:coreProperties>
</file>