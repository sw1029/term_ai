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72" r:id="rId4"/>
    <p:sldId id="257" r:id="rId5"/>
    <p:sldId id="258" r:id="rId6"/>
    <p:sldId id="259" r:id="rId7"/>
    <p:sldId id="260" r:id="rId8"/>
    <p:sldId id="274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 autoAdjust="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 발표는 작은 모델이 대형 LLM과 같다는 결론을 주장하지 않습니다.</a:t>
            </a:r>
          </a:p>
          <a:p>
            <a:endParaRPr/>
          </a:p>
          <a:p>
            <a:r>
              <a:t>TOEIC business vocabulary처럼 범위가 제한된 judging task에서 성능 차이가 크지 않을 수 있다는 가설을 실험으로 검증하려는 설계입니다.</a:t>
            </a:r>
          </a:p>
          <a:p>
            <a:endParaRPr/>
          </a:p>
          <a:p>
            <a:r>
              <a:t>따라서 이후 슬라이드에서는 accuracy뿐 아니라 latency, memory, cost까지 함께 보는 평가 구조를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6E2A7-61F8-DD30-F350-130F77342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976356-48E5-7E82-FE2B-72B094756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D6B131-44F8-9D0D-DA88-5A9A65A8B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E07DD-5B64-C173-6714-276F92644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03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7417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동기는 대형 LLM의 성능과 비용 사이의 trade-off에서 출발합니다.</a:t>
            </a:r>
          </a:p>
          <a:p>
            <a:endParaRPr/>
          </a:p>
          <a:p>
            <a:r>
              <a:t>TOEIC business vocabulary는 domain이 좁고 정답 구조가 비교적 명확하므로, 작은 모델이 충분한지 검증해 볼 수 있습니다.</a:t>
            </a:r>
          </a:p>
          <a:p>
            <a:endParaRPr/>
          </a:p>
          <a:p>
            <a:r>
              <a:t>이 단계에서는 가능성을 제기할 뿐이며, 실제 대체 가능성은 이후 실험 결과로 판단합니다.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 묻는 것은 small LM 자체가 아니라, 이 task에서 어떤 lightweight 판별기가 실제 대체 후보가 되는지입니다.</a:t>
            </a:r>
          </a:p>
          <a:p>
            <a:endParaRPr/>
          </a:p>
          <a:p>
            <a:r>
              <a:t>따라서 mxbai threshold, mxbai+MLP/logistic scorer, cross-encoder, Qwen/API recheck를 같은 split에서 비교합니다.</a:t>
            </a:r>
          </a:p>
          <a:p>
            <a:endParaRPr/>
          </a:p>
          <a:p>
            <a:r>
              <a:t>Small LM은 strong discriminative baseline 대비 성능, 설명 가능성, 비용/속도 trade-off가 확인될 때만 실용적 대안으로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가설은 small model이 large LLM과 같다는 결론이 아니라, 제한된 TOEIC business vocabulary task에서 어떤 경량 방식이 충분한지 검증하는 구조입니다.</a:t>
            </a:r>
          </a:p>
          <a:p>
            <a:endParaRPr/>
          </a:p>
          <a:p>
            <a:r>
              <a:t>생성 능력보다 의미 판별 능력이 핵심이므로 embedding classifier와 cross-encoder baseline을 먼저 강한 대조군으로 둡니다.</a:t>
            </a:r>
          </a:p>
          <a:p>
            <a:endParaRPr/>
          </a:p>
          <a:p>
            <a:r>
              <a:t>Quantization은 KD 자체의 핵심이라기보다, 같은 checkpoint에서 FP16, 8bit, 4bit 차이를 분리해 보는 배포 효율 검증입니다.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확보한 GT는 약 2,000개이며, 동의어, 반의어, 단어별 예시문장을 포함합니다.</a:t>
            </a:r>
          </a:p>
          <a:p>
            <a:endParaRPr/>
          </a:p>
          <a:p>
            <a:r>
              <a:t>문맥 빈칸 문제는 원본 GT에 직접 존재하지 않기 때문에 예시문장을 기반으로 LLM 2차 생성을 수행합니다.</a:t>
            </a:r>
          </a:p>
          <a:p>
            <a:endParaRPr/>
          </a:p>
          <a:p>
            <a:r>
              <a:t>이 생성 데이터는 모델 학습보다 먼저 중복, 모호성, 정답성 검수를 거쳐야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slide에서 원본 GT를 anchor로 두고, 다음 단계에서 Teacher LLM을 augmentation source로 사용합니다.</a:t>
            </a:r>
          </a:p>
          <a:p>
            <a:r>
              <a:t>Teacher LLM은 정답 자체가 아니라 context cloze 후보, distractor, rationale, soft label을 생성하는 pseudo-label source입니다.</a:t>
            </a:r>
          </a:p>
          <a:p>
            <a:r>
              <a:t>생성물은 자동 필터, judge validation, human spot check를 통과한 뒤 train augmentation과 eval holdout을 분리해 관리합니다.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Task input은 TOEIC business word, 후보 선택지, 예시문장 또는 문맥으로 구성합니다.</a:t>
            </a:r>
          </a:p>
          <a:p>
            <a:endParaRPr/>
          </a:p>
          <a:p>
            <a:r>
              <a:t>Response path는 모델이 정답과 설명을 직접 출력하고, discriminative path는 mxbai threshold, MLP scorer, cross-encoder로 후보 점수를 계산합니다.</a:t>
            </a:r>
          </a:p>
          <a:p>
            <a:endParaRPr/>
          </a:p>
          <a:p>
            <a:r>
              <a:t>이 비교를 통해 small generative LM이 실제로 필요한지, 또는 embedding scorer만으로 충분한지 분리해 해석합니다.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Sub-task는 자동 채점 가능한 선택형과 judge가 필요한 설명형으로 나눕니다.</a:t>
            </a:r>
          </a:p>
          <a:p>
            <a:endParaRPr/>
          </a:p>
          <a:p>
            <a:r>
              <a:t>동의어, 반의어, 문맥 빈칸은 accuracy와 F1 중심으로 평가하고, 의미 설명과 오답 소거는 rubric 기반 평가가 필요합니다.</a:t>
            </a:r>
          </a:p>
          <a:p>
            <a:endParaRPr/>
          </a:p>
          <a:p>
            <a:r>
              <a:t>특히 context cloze는 원본 GT가 아니라 예시문장 기반 LLM 2차 생성 데이터라는 점을 결과 해석에 명시합니다.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pipeline의 목적은 생성 문항을 바로 쓰지 않고 품질 gate를 통과시키는 것입니다.</a:t>
            </a:r>
          </a:p>
          <a:p>
            <a:endParaRPr/>
          </a:p>
          <a:p>
            <a:r>
              <a:t>먼저 자동 필터로 중복, 모호 문항, 선택지 의미 중복을 제거하고, teacher 또는 judge model로 1차 검수를 수행합니다.</a:t>
            </a:r>
          </a:p>
          <a:p>
            <a:endParaRPr/>
          </a:p>
          <a:p>
            <a:r>
              <a:t>마지막에는 human spot check로 judge 오류 가능성을 보완하여 데이터 품질 리스크를 낮춥니다.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Teacher는 절대 정답이 아니라 상한 성능 기준과 pseudo-label source로 사용합니다.</a:t>
            </a:r>
          </a:p>
          <a:p>
            <a:endParaRPr/>
          </a:p>
          <a:p>
            <a:r>
              <a:t>다만 이 task가 의미 판별 중심이라는 점을 감안해 mxbai threshold, mxbai+MLP/logistic scorer, cross-encoder를 별도 강한 baseline으로 둡니다.</a:t>
            </a:r>
          </a:p>
          <a:p>
            <a:endParaRPr/>
          </a:p>
          <a:p>
            <a:r>
              <a:t>Small KD와 embedding scorer KD는 이 discriminative baseline 대비 추가 이득이 있는지 확인하는 실험군입니다.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SFT는 GT 정답 label을 직접 학습하는 기준선이며, 이 path에도 teacher soft label이나 설명을 붙여 KD 효과를 볼 수 있습니다.</a:t>
            </a:r>
            <a:r>
              <a:rPr dirty="0"/>
              <a:t>Embedding KD는 mxbai embedding과 LLM teacher/judge signal을 함께 사용해 후보 점수화 방식을 작은 embedding scorer로 압축하는 구조입니다.</a:t>
            </a:r>
            <a:r>
              <a:rPr dirty="0" err="1"/>
              <a:t>Quantization은 KD의 대체 개념이 아니라, SFT 또는 KD 이후 8bit/4bit에서 성능 보존과 자원 절감을 확인하는 별도 경량화 검증입니다.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품질 지표는 Accuracy, Macro-F1, ECE를 함께 봅니다.</a:t>
            </a:r>
          </a:p>
          <a:p>
            <a:endParaRPr/>
          </a:p>
          <a:p>
            <a:r>
              <a:t>Accuracy는 기본 정답률이고, Macro-F1은 유형 불균형 영향을 줄이며, ECE는 confidence가 믿을 만한지 확인합니다.</a:t>
            </a:r>
          </a:p>
          <a:p>
            <a:endParaRPr/>
          </a:p>
          <a:p>
            <a:r>
              <a:t>효율 지표인 latency, VRAM/RAM, tokens/sec, cost per 1000 questions는 작은 모델의 실제 활용 가능성을 판단하기 위한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의미 설명과 오답 소거는 단순 정답률만으로 평가하기 어렵기 때문에 LLM-as-a-judge를 사용합니다.</a:t>
            </a:r>
          </a:p>
          <a:p>
            <a:endParaRPr/>
          </a:p>
          <a:p>
            <a:r>
              <a:t>Judge는 semantic correctness, reasoning faithfulness, hallucination 여부를 rubric으로 평가합니다.</a:t>
            </a:r>
          </a:p>
          <a:p>
            <a:endParaRPr/>
          </a:p>
          <a:p>
            <a:r>
              <a:t>다만 judge도 오류 가능성이 있으므로 embedding 기반 유사도와 human spot check를 보조 검증으로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비교 matrix는 최종 결과 분석에서 어떤 질문에 답할지 미리 정리한 것입니다.</a:t>
            </a:r>
          </a:p>
          <a:p>
            <a:endParaRPr/>
          </a:p>
          <a:p>
            <a:r>
              <a:t>핵심은 small generative LM이 mxbai threshold, MLP scorer, cross-encoder보다 실제로 나은지 또는 다른 장점이 있는지 확인하는 것입니다.</a:t>
            </a:r>
          </a:p>
          <a:p>
            <a:endParaRPr/>
          </a:p>
          <a:p>
            <a:r>
              <a:t>양자화 비교는 같은 checkpoint의 FP16, 8bit, 4bit를 비교해 학습 효과와 quantization 효과를 섞지 않도록 설계합니다.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슬라이드는 expected pattern을 결과처럼 제시하지 않고, 핵심 관찰 지표별 평가 질문으로 정리합니다.</a:t>
            </a:r>
          </a:p>
          <a:p>
            <a:r>
              <a:t>Accuracy Gap은 Teacher/API 대비 best lightweight baseline, 즉 embedding classifier나 small LM 계열의 성능 차이를 묻습니다.</a:t>
            </a:r>
          </a:p>
          <a:p>
            <a:r>
              <a:t>Interpretation은 small generative LM이 embedding classifier보다 필요한 조건이 관찰되는지에 초점을 둡니다.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주요 리스크는 GT 규모, LLM 생성 문항 품질, judge 편향, domain generalization 한계입니다.</a:t>
            </a:r>
          </a:p>
          <a:p>
            <a:endParaRPr/>
          </a:p>
          <a:p>
            <a:r>
              <a:t>각 리스크는 split 관리, 자동 필터, teacher/judge 검수, human spot check, bootstrap CI 등으로 완화합니다.</a:t>
            </a:r>
          </a:p>
          <a:p>
            <a:endParaRPr/>
          </a:p>
          <a:p>
            <a:r>
              <a:t>최종 결론은 TOEIC business vocabulary judging task 범위 안에서만 제한적으로 해석해야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 인사 슬라이드입니다.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ver-bg">
            <a:extLst>
              <a:ext uri="{FF2B5EF4-FFF2-40B4-BE49-F238E27FC236}">
                <a16:creationId xmlns:a16="http://schemas.microsoft.com/office/drawing/2014/main" id="{FEF5EB9E-8AEB-4C88-B374-B86B807783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00C9D5-7438-46B8-9D01-4A653A2711DA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ect">
            <a:avLst/>
          </a:prstGeom>
          <a:solidFill>
            <a:srgbClr val="0D27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147080B7-15DC-4316-AC12-8D80269BA17A}"/>
              </a:ext>
            </a:extLst>
          </p:cNvPr>
          <p:cNvSpPr>
            <a:spLocks noGrp="1"/>
          </p:cNvSpPr>
          <p:nvPr/>
        </p:nvSpPr>
        <p:spPr>
          <a:xfrm>
            <a:off x="8667750" y="914400"/>
            <a:ext cx="2381250" cy="2381250"/>
          </a:xfrm>
          <a:prstGeom prst="ellipse">
            <a:avLst/>
          </a:prstGeom>
          <a:solidFill>
            <a:srgbClr val="0F35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7E2FBD6-6798-46B8-AFEB-73E4B296A6CC}"/>
              </a:ext>
            </a:extLst>
          </p:cNvPr>
          <p:cNvSpPr>
            <a:spLocks noGrp="1"/>
          </p:cNvSpPr>
          <p:nvPr/>
        </p:nvSpPr>
        <p:spPr>
          <a:xfrm>
            <a:off x="9791700" y="2343150"/>
            <a:ext cx="1219200" cy="1219200"/>
          </a:xfrm>
          <a:prstGeom prst="ellipse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marker">
            <a:extLst>
              <a:ext uri="{FF2B5EF4-FFF2-40B4-BE49-F238E27FC236}">
                <a16:creationId xmlns:a16="http://schemas.microsoft.com/office/drawing/2014/main" id="{0DB63E8E-E86F-4BE5-8C4F-8FFE62695E6B}"/>
              </a:ext>
            </a:extLst>
          </p:cNvPr>
          <p:cNvSpPr>
            <a:spLocks noGrp="1"/>
          </p:cNvSpPr>
          <p:nvPr/>
        </p:nvSpPr>
        <p:spPr>
          <a:xfrm>
            <a:off x="571500" y="533400"/>
            <a:ext cx="114300" cy="11430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kicker-label">
            <a:extLst>
              <a:ext uri="{FF2B5EF4-FFF2-40B4-BE49-F238E27FC236}">
                <a16:creationId xmlns:a16="http://schemas.microsoft.com/office/drawing/2014/main" id="{62B6EE18-2629-4E3E-A4A0-09A8F982A539}"/>
              </a:ext>
            </a:extLst>
          </p:cNvPr>
          <p:cNvSpPr>
            <a:spLocks noGrp="1"/>
          </p:cNvSpPr>
          <p:nvPr/>
        </p:nvSpPr>
        <p:spPr>
          <a:xfrm>
            <a:off x="781050" y="48577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B8C6D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B8C6D8"/>
                </a:solidFill>
                <a:latin typeface="Malgun Gothic"/>
                <a:ea typeface="Malgun Gothic"/>
                <a:cs typeface="Malgun Gothic"/>
              </a:rPr>
              <a:t>EXPERIMENT DESIGN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359942-0E58-4A80-8C51-A67341949C28}"/>
              </a:ext>
            </a:extLst>
          </p:cNvPr>
          <p:cNvSpPr>
            <a:spLocks noGrp="1"/>
          </p:cNvSpPr>
          <p:nvPr/>
        </p:nvSpPr>
        <p:spPr>
          <a:xfrm>
            <a:off x="571500" y="1524000"/>
            <a:ext cx="742950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Can Small LMs Match Large LLMs for TOEIC Business Vocabulary Judging?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13ED7E0-7017-46B0-BB3B-DA9D3A16D579}"/>
              </a:ext>
            </a:extLst>
          </p:cNvPr>
          <p:cNvSpPr>
            <a:spLocks noGrp="1"/>
          </p:cNvSpPr>
          <p:nvPr/>
        </p:nvSpPr>
        <p:spPr>
          <a:xfrm>
            <a:off x="609600" y="3956541"/>
            <a:ext cx="6953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LLM Response / Embedding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판별과</a:t>
            </a: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경량화</a:t>
            </a: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실험</a:t>
            </a:r>
            <a:r>
              <a:rPr sz="1350" b="1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1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설계</a:t>
            </a:r>
            <a:endParaRPr sz="1350" b="1" dirty="0">
              <a:solidFill>
                <a:srgbClr val="D9E6F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356069A-C511-457F-9BC8-77E22673EE6A}"/>
              </a:ext>
            </a:extLst>
          </p:cNvPr>
          <p:cNvSpPr>
            <a:spLocks noGrp="1"/>
          </p:cNvSpPr>
          <p:nvPr/>
        </p:nvSpPr>
        <p:spPr>
          <a:xfrm>
            <a:off x="609600" y="4547091"/>
            <a:ext cx="647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AFC1D4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 dirty="0" err="1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발표자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lang="ko-KR" altLang="en-US" sz="825" dirty="0" err="1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김동언</a:t>
            </a:r>
            <a:r>
              <a:rPr lang="en-US" altLang="ko-KR" sz="825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825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윤서웅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   | </a:t>
            </a:r>
            <a:r>
              <a:rPr lang="ko-KR" altLang="en-US"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  </a:t>
            </a:r>
            <a:r>
              <a:rPr lang="en-US" altLang="ko-KR"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AI</a:t>
            </a:r>
            <a:r>
              <a:rPr lang="ko-KR" altLang="en-US"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시스템설계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   |   </a:t>
            </a:r>
            <a:r>
              <a:rPr sz="825" b="0" dirty="0" err="1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날짜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: [</a:t>
            </a:r>
            <a:r>
              <a:rPr lang="en-US" sz="825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2026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lang="en-US"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05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-</a:t>
            </a:r>
            <a:r>
              <a:rPr lang="en-US"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12</a:t>
            </a:r>
            <a:r>
              <a:rPr sz="825" b="0" dirty="0">
                <a:solidFill>
                  <a:srgbClr val="AFC1D4"/>
                </a:solidFill>
                <a:latin typeface="Malgun Gothic"/>
                <a:ea typeface="Malgun Gothic"/>
                <a:cs typeface="Malgun Gothic"/>
              </a:rPr>
              <a:t>]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57EDF8-7328-4C4C-9A15-78F4CA62C6D8}"/>
              </a:ext>
            </a:extLst>
          </p:cNvPr>
          <p:cNvSpPr>
            <a:spLocks noGrp="1"/>
          </p:cNvSpPr>
          <p:nvPr/>
        </p:nvSpPr>
        <p:spPr>
          <a:xfrm>
            <a:off x="8477250" y="4267200"/>
            <a:ext cx="23431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Small LM</a:t>
            </a:r>
          </a:p>
          <a:p>
            <a:pPr algn="ctr">
              <a:def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SFT / KD / Quant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547F9D-A543-468E-B1BD-3E65D4058CA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2040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28C5E8F-7E96-47C0-AD99-2D7C862AB191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9FB2CA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9FB2C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903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B"/>
          </a:solidFill>
          <a:ln w="9525">
            <a:solidFill>
              <a:srgbClr val="F6F8FB"/>
            </a:solidFill>
          </a:ln>
        </p:spPr>
      </p:sp>
      <p:sp>
        <p:nvSpPr>
          <p:cNvPr id="3" name="top bar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4" name="top rule"/>
          <p:cNvSpPr/>
          <p:nvPr/>
        </p:nvSpPr>
        <p:spPr>
          <a:xfrm>
            <a:off x="0" y="841248"/>
            <a:ext cx="12188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5" name="section mark"/>
          <p:cNvSpPr/>
          <p:nvPr/>
        </p:nvSpPr>
        <p:spPr>
          <a:xfrm>
            <a:off x="566928" y="393192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6" name="section label"/>
          <p:cNvSpPr/>
          <p:nvPr/>
        </p:nvSpPr>
        <p:spPr>
          <a:xfrm>
            <a:off x="758952" y="365760"/>
            <a:ext cx="4005072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713" b="1">
                <a:solidFill>
                  <a:srgbClr val="5E6E83"/>
                </a:solidFill>
                <a:latin typeface="Malgun Gothic"/>
                <a:ea typeface="Malgun Gothic"/>
              </a:rPr>
              <a:t>BACKGROUND</a:t>
            </a:r>
          </a:p>
        </p:txBody>
      </p:sp>
      <p:sp>
        <p:nvSpPr>
          <p:cNvPr id="7" name="page number"/>
          <p:cNvSpPr/>
          <p:nvPr/>
        </p:nvSpPr>
        <p:spPr>
          <a:xfrm>
            <a:off x="11292840" y="347472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ko-KR" sz="750" b="1">
                <a:solidFill>
                  <a:srgbClr val="5E6E83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8" name="title"/>
          <p:cNvSpPr/>
          <p:nvPr/>
        </p:nvSpPr>
        <p:spPr>
          <a:xfrm>
            <a:off x="566928" y="100584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175" b="1">
                <a:solidFill>
                  <a:srgbClr val="081A33"/>
                </a:solidFill>
                <a:latin typeface="Malgun Gothic"/>
                <a:ea typeface="Malgun Gothic"/>
              </a:rPr>
              <a:t>Research Background</a:t>
            </a:r>
          </a:p>
        </p:txBody>
      </p:sp>
      <p:sp>
        <p:nvSpPr>
          <p:cNvPr id="9" name="bottom rule"/>
          <p:cNvSpPr/>
          <p:nvPr/>
        </p:nvSpPr>
        <p:spPr>
          <a:xfrm>
            <a:off x="566928" y="6153912"/>
            <a:ext cx="11045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10" name="takeaway mark"/>
          <p:cNvSpPr/>
          <p:nvPr/>
        </p:nvSpPr>
        <p:spPr>
          <a:xfrm>
            <a:off x="566928" y="6364224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1" name="takeaway"/>
          <p:cNvSpPr/>
          <p:nvPr/>
        </p:nvSpPr>
        <p:spPr>
          <a:xfrm>
            <a:off x="758952" y="6312068"/>
            <a:ext cx="10012680" cy="26517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핵심: 실제 앱 채점 흐름에서 연구 질문을 도출</a:t>
            </a:r>
          </a:p>
        </p:txBody>
      </p:sp>
      <p:sp>
        <p:nvSpPr>
          <p:cNvPr id="12" name="left card"/>
          <p:cNvSpPr/>
          <p:nvPr/>
        </p:nvSpPr>
        <p:spPr>
          <a:xfrm>
            <a:off x="758952" y="1993392"/>
            <a:ext cx="461772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3" name="right card"/>
          <p:cNvSpPr/>
          <p:nvPr/>
        </p:nvSpPr>
        <p:spPr>
          <a:xfrm>
            <a:off x="6108192" y="1993392"/>
            <a:ext cx="4983480" cy="306324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</a:ln>
        </p:spPr>
      </p:sp>
      <p:sp>
        <p:nvSpPr>
          <p:cNvPr id="14" name="left card title"/>
          <p:cNvSpPr/>
          <p:nvPr/>
        </p:nvSpPr>
        <p:spPr>
          <a:xfrm>
            <a:off x="1042416" y="23317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50" b="1">
                <a:solidFill>
                  <a:srgbClr val="081A33"/>
                </a:solidFill>
                <a:latin typeface="Malgun Gothic"/>
                <a:ea typeface="Malgun Gothic"/>
              </a:rPr>
              <a:t>Vocabulary app context</a:t>
            </a:r>
          </a:p>
        </p:txBody>
      </p:sp>
      <p:sp>
        <p:nvSpPr>
          <p:cNvPr id="15" name="left accent"/>
          <p:cNvSpPr/>
          <p:nvPr/>
        </p:nvSpPr>
        <p:spPr>
          <a:xfrm>
            <a:off x="1042416" y="2770632"/>
            <a:ext cx="1965960" cy="2743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6" name="bullet square"/>
          <p:cNvSpPr/>
          <p:nvPr/>
        </p:nvSpPr>
        <p:spPr>
          <a:xfrm>
            <a:off x="1078992" y="312267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7" name="bullet text"/>
          <p:cNvSpPr/>
          <p:nvPr/>
        </p:nvSpPr>
        <p:spPr>
          <a:xfrm>
            <a:off x="1261872" y="306324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altLang="en-US" sz="900" dirty="0">
                <a:solidFill>
                  <a:srgbClr val="081A33"/>
                </a:solidFill>
                <a:latin typeface="Malgun Gothic"/>
                <a:ea typeface="Malgun Gothic"/>
              </a:rPr>
              <a:t>기존의</a:t>
            </a:r>
            <a:r>
              <a:rPr lang="ko-KR" sz="900" dirty="0">
                <a:solidFill>
                  <a:srgbClr val="081A33"/>
                </a:solidFill>
                <a:latin typeface="Malgun Gothic"/>
                <a:ea typeface="Malgun Gothic"/>
              </a:rPr>
              <a:t> 단어 시험: 한글 직접 입력 대신 선택형 채점</a:t>
            </a:r>
          </a:p>
        </p:txBody>
      </p:sp>
      <p:sp>
        <p:nvSpPr>
          <p:cNvPr id="18" name="bullet square"/>
          <p:cNvSpPr/>
          <p:nvPr/>
        </p:nvSpPr>
        <p:spPr>
          <a:xfrm>
            <a:off x="1078992" y="362559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9" name="bullet text"/>
          <p:cNvSpPr/>
          <p:nvPr/>
        </p:nvSpPr>
        <p:spPr>
          <a:xfrm>
            <a:off x="1261872" y="356616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>
                <a:solidFill>
                  <a:srgbClr val="081A33"/>
                </a:solidFill>
                <a:latin typeface="Malgun Gothic"/>
                <a:ea typeface="Malgun Gothic"/>
              </a:rPr>
              <a:t>입력 뜻 vs 정답 뜻 semantic similarity 비교</a:t>
            </a:r>
          </a:p>
        </p:txBody>
      </p:sp>
      <p:sp>
        <p:nvSpPr>
          <p:cNvPr id="20" name="bullet square"/>
          <p:cNvSpPr/>
          <p:nvPr/>
        </p:nvSpPr>
        <p:spPr>
          <a:xfrm>
            <a:off x="1078992" y="412851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1" name="bullet text"/>
          <p:cNvSpPr/>
          <p:nvPr/>
        </p:nvSpPr>
        <p:spPr>
          <a:xfrm>
            <a:off x="1261872" y="406908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>
                <a:solidFill>
                  <a:srgbClr val="081A33"/>
                </a:solidFill>
                <a:latin typeface="Malgun Gothic"/>
                <a:ea typeface="Malgun Gothic"/>
              </a:rPr>
              <a:t>짧은 답/다의어에서 embedding 오판 가능성</a:t>
            </a:r>
          </a:p>
        </p:txBody>
      </p:sp>
      <p:sp>
        <p:nvSpPr>
          <p:cNvPr id="22" name="arrow"/>
          <p:cNvSpPr/>
          <p:nvPr/>
        </p:nvSpPr>
        <p:spPr>
          <a:xfrm>
            <a:off x="5559552" y="32461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2100" b="1">
                <a:solidFill>
                  <a:srgbClr val="24A9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right card title"/>
          <p:cNvSpPr/>
          <p:nvPr/>
        </p:nvSpPr>
        <p:spPr>
          <a:xfrm>
            <a:off x="6419088" y="23317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550" b="1">
                <a:solidFill>
                  <a:srgbClr val="FFFFFF"/>
                </a:solidFill>
                <a:latin typeface="Malgun Gothic"/>
                <a:ea typeface="Malgun Gothic"/>
              </a:rPr>
              <a:t>Experiment trigger</a:t>
            </a:r>
          </a:p>
        </p:txBody>
      </p:sp>
      <p:sp>
        <p:nvSpPr>
          <p:cNvPr id="24" name="right accent"/>
          <p:cNvSpPr/>
          <p:nvPr/>
        </p:nvSpPr>
        <p:spPr>
          <a:xfrm>
            <a:off x="6419088" y="2770632"/>
            <a:ext cx="1965960" cy="2743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5" name="bullet square"/>
          <p:cNvSpPr/>
          <p:nvPr/>
        </p:nvSpPr>
        <p:spPr>
          <a:xfrm>
            <a:off x="6446520" y="312267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6" name="bullet text"/>
          <p:cNvSpPr/>
          <p:nvPr/>
        </p:nvSpPr>
        <p:spPr>
          <a:xfrm>
            <a:off x="6629400" y="306324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altLang="en-US" sz="900" dirty="0">
                <a:solidFill>
                  <a:srgbClr val="D9E6F2"/>
                </a:solidFill>
                <a:latin typeface="Malgun Gothic"/>
                <a:ea typeface="Malgun Gothic"/>
              </a:rPr>
              <a:t>일정 이상 글자에 대한 </a:t>
            </a:r>
            <a:r>
              <a:rPr lang="ko-KR" sz="900" dirty="0">
                <a:solidFill>
                  <a:srgbClr val="D9E6F2"/>
                </a:solidFill>
                <a:latin typeface="Malgun Gothic"/>
                <a:ea typeface="Malgun Gothic"/>
              </a:rPr>
              <a:t>LLM 재검사는 채점 품질을 보완할 수 있음</a:t>
            </a:r>
          </a:p>
        </p:txBody>
      </p:sp>
      <p:sp>
        <p:nvSpPr>
          <p:cNvPr id="27" name="bullet square"/>
          <p:cNvSpPr/>
          <p:nvPr/>
        </p:nvSpPr>
        <p:spPr>
          <a:xfrm>
            <a:off x="6446520" y="362559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8" name="bullet text"/>
          <p:cNvSpPr/>
          <p:nvPr/>
        </p:nvSpPr>
        <p:spPr>
          <a:xfrm>
            <a:off x="6629400" y="356616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>
                <a:solidFill>
                  <a:srgbClr val="D9E6F2"/>
                </a:solidFill>
                <a:latin typeface="Malgun Gothic"/>
                <a:ea typeface="Malgun Gothic"/>
              </a:rPr>
              <a:t>반복 사용에서는 API cost와 latency가 누적</a:t>
            </a:r>
          </a:p>
        </p:txBody>
      </p:sp>
      <p:sp>
        <p:nvSpPr>
          <p:cNvPr id="29" name="bullet square"/>
          <p:cNvSpPr/>
          <p:nvPr/>
        </p:nvSpPr>
        <p:spPr>
          <a:xfrm>
            <a:off x="6446520" y="412851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0" name="bullet text"/>
          <p:cNvSpPr/>
          <p:nvPr/>
        </p:nvSpPr>
        <p:spPr>
          <a:xfrm>
            <a:off x="6629400" y="406908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>
                <a:solidFill>
                  <a:srgbClr val="D9E6F2"/>
                </a:solidFill>
                <a:latin typeface="Malgun Gothic"/>
                <a:ea typeface="Malgun Gothic"/>
              </a:rPr>
              <a:t>Small LM / KD embedding 경로의 실용성 검증 필요</a:t>
            </a:r>
          </a:p>
        </p:txBody>
      </p:sp>
      <p:sp>
        <p:nvSpPr>
          <p:cNvPr id="31" name="center band"/>
          <p:cNvSpPr/>
          <p:nvPr/>
        </p:nvSpPr>
        <p:spPr>
          <a:xfrm>
            <a:off x="1965960" y="5285232"/>
            <a:ext cx="8275320" cy="402336"/>
          </a:xfrm>
          <a:prstGeom prst="rect">
            <a:avLst/>
          </a:prstGeom>
          <a:solidFill>
            <a:srgbClr val="EAF8F6"/>
          </a:solidFill>
          <a:ln w="9525">
            <a:solidFill>
              <a:srgbClr val="CFE9E5"/>
            </a:solidFill>
          </a:ln>
        </p:spPr>
      </p:sp>
      <p:sp>
        <p:nvSpPr>
          <p:cNvPr id="32" name="center band text"/>
          <p:cNvSpPr/>
          <p:nvPr/>
        </p:nvSpPr>
        <p:spPr>
          <a:xfrm>
            <a:off x="2148840" y="5376672"/>
            <a:ext cx="7909560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ko-KR" sz="850" b="1">
                <a:solidFill>
                  <a:srgbClr val="06172F"/>
                </a:solidFill>
                <a:latin typeface="Malgun Gothic"/>
                <a:ea typeface="Malgun Gothic"/>
              </a:rPr>
              <a:t>bounded vocabulary judging task로 정식화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B"/>
          </a:solidFill>
          <a:ln w="9525">
            <a:solidFill>
              <a:srgbClr val="F6F8FB"/>
            </a:solidFill>
          </a:ln>
        </p:spPr>
      </p:sp>
      <p:sp>
        <p:nvSpPr>
          <p:cNvPr id="3" name="top bar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4" name="top rule"/>
          <p:cNvSpPr/>
          <p:nvPr/>
        </p:nvSpPr>
        <p:spPr>
          <a:xfrm>
            <a:off x="0" y="841248"/>
            <a:ext cx="12188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5" name="section mark"/>
          <p:cNvSpPr/>
          <p:nvPr/>
        </p:nvSpPr>
        <p:spPr>
          <a:xfrm>
            <a:off x="566928" y="393192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6" name="section label"/>
          <p:cNvSpPr/>
          <p:nvPr/>
        </p:nvSpPr>
        <p:spPr>
          <a:xfrm>
            <a:off x="758952" y="365760"/>
            <a:ext cx="4005072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713" b="1">
                <a:solidFill>
                  <a:srgbClr val="5E6E83"/>
                </a:solidFill>
                <a:latin typeface="Malgun Gothic"/>
                <a:ea typeface="Malgun Gothic"/>
              </a:rPr>
              <a:t>BACKGROUND</a:t>
            </a:r>
          </a:p>
        </p:txBody>
      </p:sp>
      <p:sp>
        <p:nvSpPr>
          <p:cNvPr id="7" name="page number"/>
          <p:cNvSpPr/>
          <p:nvPr/>
        </p:nvSpPr>
        <p:spPr>
          <a:xfrm>
            <a:off x="11292840" y="347472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ko-KR" sz="750" b="1">
                <a:solidFill>
                  <a:srgbClr val="5E6E83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8" name="title"/>
          <p:cNvSpPr/>
          <p:nvPr/>
        </p:nvSpPr>
        <p:spPr>
          <a:xfrm>
            <a:off x="566928" y="100584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175" b="1">
                <a:solidFill>
                  <a:srgbClr val="081A33"/>
                </a:solidFill>
                <a:latin typeface="Malgun Gothic"/>
                <a:ea typeface="Malgun Gothic"/>
              </a:rPr>
              <a:t>App Scoring Problem</a:t>
            </a:r>
          </a:p>
        </p:txBody>
      </p:sp>
      <p:sp>
        <p:nvSpPr>
          <p:cNvPr id="9" name="bottom rule"/>
          <p:cNvSpPr/>
          <p:nvPr/>
        </p:nvSpPr>
        <p:spPr>
          <a:xfrm>
            <a:off x="566928" y="6153912"/>
            <a:ext cx="11045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10" name="takeaway mark"/>
          <p:cNvSpPr/>
          <p:nvPr/>
        </p:nvSpPr>
        <p:spPr>
          <a:xfrm>
            <a:off x="566928" y="6364224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1" name="takeaway"/>
          <p:cNvSpPr/>
          <p:nvPr/>
        </p:nvSpPr>
        <p:spPr>
          <a:xfrm>
            <a:off x="758952" y="6312068"/>
            <a:ext cx="10012680" cy="26517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핵심: 채점 비용 문제를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small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model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/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embedding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KD 실험으로 연결</a:t>
            </a:r>
          </a:p>
        </p:txBody>
      </p:sp>
      <p:sp>
        <p:nvSpPr>
          <p:cNvPr id="12" name="card 1"/>
          <p:cNvSpPr/>
          <p:nvPr/>
        </p:nvSpPr>
        <p:spPr>
          <a:xfrm>
            <a:off x="694944" y="1883664"/>
            <a:ext cx="32461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3" name="card accent 1"/>
          <p:cNvSpPr/>
          <p:nvPr/>
        </p:nvSpPr>
        <p:spPr>
          <a:xfrm>
            <a:off x="694944" y="1883664"/>
            <a:ext cx="3246120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4" name="card title 1"/>
          <p:cNvSpPr/>
          <p:nvPr/>
        </p:nvSpPr>
        <p:spPr>
          <a:xfrm>
            <a:off x="969264" y="22585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 b="1">
                <a:solidFill>
                  <a:srgbClr val="081A33"/>
                </a:solidFill>
                <a:latin typeface="Malgun Gothic"/>
                <a:ea typeface="Malgun Gothic"/>
              </a:rPr>
              <a:t>1. 기존 앱 구조</a:t>
            </a:r>
          </a:p>
        </p:txBody>
      </p:sp>
      <p:sp>
        <p:nvSpPr>
          <p:cNvPr id="15" name="card divider 1"/>
          <p:cNvSpPr/>
          <p:nvPr/>
        </p:nvSpPr>
        <p:spPr>
          <a:xfrm>
            <a:off x="969264" y="269748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16" name="bullet square"/>
          <p:cNvSpPr/>
          <p:nvPr/>
        </p:nvSpPr>
        <p:spPr>
          <a:xfrm>
            <a:off x="987552" y="30586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7" name="bullet text"/>
          <p:cNvSpPr/>
          <p:nvPr/>
        </p:nvSpPr>
        <p:spPr>
          <a:xfrm>
            <a:off x="1170432" y="29992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mxbai-large embedding 기반</a:t>
            </a:r>
          </a:p>
        </p:txBody>
      </p:sp>
      <p:sp>
        <p:nvSpPr>
          <p:cNvPr id="18" name="bullet square"/>
          <p:cNvSpPr/>
          <p:nvPr/>
        </p:nvSpPr>
        <p:spPr>
          <a:xfrm>
            <a:off x="987552" y="35158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9" name="bullet text"/>
          <p:cNvSpPr/>
          <p:nvPr/>
        </p:nvSpPr>
        <p:spPr>
          <a:xfrm>
            <a:off x="1170432" y="34564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입력 뜻과 정답 뜻 similarity 비교</a:t>
            </a:r>
          </a:p>
        </p:txBody>
      </p:sp>
      <p:sp>
        <p:nvSpPr>
          <p:cNvPr id="20" name="bullet square"/>
          <p:cNvSpPr/>
          <p:nvPr/>
        </p:nvSpPr>
        <p:spPr>
          <a:xfrm>
            <a:off x="987552" y="39730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1" name="bullet text"/>
          <p:cNvSpPr/>
          <p:nvPr/>
        </p:nvSpPr>
        <p:spPr>
          <a:xfrm>
            <a:off x="1170432" y="39136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threshold로 정답/오답 판별</a:t>
            </a:r>
          </a:p>
        </p:txBody>
      </p:sp>
      <p:sp>
        <p:nvSpPr>
          <p:cNvPr id="22" name="card 2"/>
          <p:cNvSpPr/>
          <p:nvPr/>
        </p:nvSpPr>
        <p:spPr>
          <a:xfrm>
            <a:off x="4480560" y="1883664"/>
            <a:ext cx="324612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23" name="card accent 2"/>
          <p:cNvSpPr/>
          <p:nvPr/>
        </p:nvSpPr>
        <p:spPr>
          <a:xfrm>
            <a:off x="4480560" y="1883664"/>
            <a:ext cx="3246120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4" name="card title 2"/>
          <p:cNvSpPr/>
          <p:nvPr/>
        </p:nvSpPr>
        <p:spPr>
          <a:xfrm>
            <a:off x="4754880" y="22585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 b="1">
                <a:solidFill>
                  <a:srgbClr val="081A33"/>
                </a:solidFill>
                <a:latin typeface="Malgun Gothic"/>
                <a:ea typeface="Malgun Gothic"/>
              </a:rPr>
              <a:t>2. 실패 패턴</a:t>
            </a:r>
          </a:p>
        </p:txBody>
      </p:sp>
      <p:sp>
        <p:nvSpPr>
          <p:cNvPr id="25" name="card divider 2"/>
          <p:cNvSpPr/>
          <p:nvPr/>
        </p:nvSpPr>
        <p:spPr>
          <a:xfrm>
            <a:off x="4754880" y="269748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26" name="bullet square"/>
          <p:cNvSpPr/>
          <p:nvPr/>
        </p:nvSpPr>
        <p:spPr>
          <a:xfrm>
            <a:off x="4773168" y="30586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7" name="bullet text"/>
          <p:cNvSpPr/>
          <p:nvPr/>
        </p:nvSpPr>
        <p:spPr>
          <a:xfrm>
            <a:off x="4956048" y="29992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3글자 이하 뜻에서 similarity 신뢰도 하락</a:t>
            </a:r>
          </a:p>
        </p:txBody>
      </p:sp>
      <p:sp>
        <p:nvSpPr>
          <p:cNvPr id="28" name="bullet square"/>
          <p:cNvSpPr/>
          <p:nvPr/>
        </p:nvSpPr>
        <p:spPr>
          <a:xfrm>
            <a:off x="4773168" y="35158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9" name="bullet text"/>
          <p:cNvSpPr/>
          <p:nvPr/>
        </p:nvSpPr>
        <p:spPr>
          <a:xfrm>
            <a:off x="4956048" y="34564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다른 의미도 유사도 1.0 발생</a:t>
            </a:r>
          </a:p>
        </p:txBody>
      </p:sp>
      <p:sp>
        <p:nvSpPr>
          <p:cNvPr id="30" name="bullet square"/>
          <p:cNvSpPr/>
          <p:nvPr/>
        </p:nvSpPr>
        <p:spPr>
          <a:xfrm>
            <a:off x="4773168" y="39730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1" name="bullet text"/>
          <p:cNvSpPr/>
          <p:nvPr/>
        </p:nvSpPr>
        <p:spPr>
          <a:xfrm>
            <a:off x="4956048" y="39136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5E6E83"/>
                </a:solidFill>
                <a:latin typeface="Malgun Gothic"/>
                <a:ea typeface="Malgun Gothic"/>
              </a:rPr>
              <a:t>embedding space collision 가능성</a:t>
            </a:r>
          </a:p>
        </p:txBody>
      </p:sp>
      <p:sp>
        <p:nvSpPr>
          <p:cNvPr id="32" name="card 3"/>
          <p:cNvSpPr/>
          <p:nvPr/>
        </p:nvSpPr>
        <p:spPr>
          <a:xfrm>
            <a:off x="8211312" y="1883664"/>
            <a:ext cx="3246120" cy="315468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</a:ln>
        </p:spPr>
      </p:sp>
      <p:sp>
        <p:nvSpPr>
          <p:cNvPr id="33" name="card accent 3"/>
          <p:cNvSpPr/>
          <p:nvPr/>
        </p:nvSpPr>
        <p:spPr>
          <a:xfrm>
            <a:off x="8211312" y="1883664"/>
            <a:ext cx="3246120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4" name="card title 3"/>
          <p:cNvSpPr/>
          <p:nvPr/>
        </p:nvSpPr>
        <p:spPr>
          <a:xfrm>
            <a:off x="8485632" y="2258568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50" b="1">
                <a:solidFill>
                  <a:srgbClr val="FFFFFF"/>
                </a:solidFill>
                <a:latin typeface="Malgun Gothic"/>
                <a:ea typeface="Malgun Gothic"/>
              </a:rPr>
              <a:t>3. 보완 방식</a:t>
            </a:r>
          </a:p>
        </p:txBody>
      </p:sp>
      <p:sp>
        <p:nvSpPr>
          <p:cNvPr id="35" name="card divider 3"/>
          <p:cNvSpPr/>
          <p:nvPr/>
        </p:nvSpPr>
        <p:spPr>
          <a:xfrm>
            <a:off x="8485632" y="269748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36" name="bullet square"/>
          <p:cNvSpPr/>
          <p:nvPr/>
        </p:nvSpPr>
        <p:spPr>
          <a:xfrm>
            <a:off x="8503920" y="30586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7" name="bullet text"/>
          <p:cNvSpPr/>
          <p:nvPr/>
        </p:nvSpPr>
        <p:spPr>
          <a:xfrm>
            <a:off x="8686800" y="29992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D9E6F2"/>
                </a:solidFill>
                <a:latin typeface="Malgun Gothic"/>
                <a:ea typeface="Malgun Gothic"/>
              </a:rPr>
              <a:t>4글자 이상: embedding + threshold</a:t>
            </a:r>
          </a:p>
        </p:txBody>
      </p:sp>
      <p:sp>
        <p:nvSpPr>
          <p:cNvPr id="38" name="bullet square"/>
          <p:cNvSpPr/>
          <p:nvPr/>
        </p:nvSpPr>
        <p:spPr>
          <a:xfrm>
            <a:off x="8503920" y="35158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9" name="bullet text"/>
          <p:cNvSpPr/>
          <p:nvPr/>
        </p:nvSpPr>
        <p:spPr>
          <a:xfrm>
            <a:off x="8686800" y="34564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D9E6F2"/>
                </a:solidFill>
                <a:latin typeface="Malgun Gothic"/>
                <a:ea typeface="Malgun Gothic"/>
              </a:rPr>
              <a:t>짧은 답/유사도 1.0: Qwen API 재검사</a:t>
            </a:r>
          </a:p>
        </p:txBody>
      </p:sp>
      <p:sp>
        <p:nvSpPr>
          <p:cNvPr id="40" name="bullet square"/>
          <p:cNvSpPr/>
          <p:nvPr/>
        </p:nvSpPr>
        <p:spPr>
          <a:xfrm>
            <a:off x="8503920" y="397306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41" name="bullet text"/>
          <p:cNvSpPr/>
          <p:nvPr/>
        </p:nvSpPr>
        <p:spPr>
          <a:xfrm>
            <a:off x="8686800" y="391363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30">
                <a:solidFill>
                  <a:srgbClr val="D9E6F2"/>
                </a:solidFill>
                <a:latin typeface="Malgun Gothic"/>
                <a:ea typeface="Malgun Gothic"/>
              </a:rPr>
              <a:t>남은 이슈: API cost / latency</a:t>
            </a:r>
          </a:p>
        </p:txBody>
      </p:sp>
      <p:sp>
        <p:nvSpPr>
          <p:cNvPr id="42" name="research bridge"/>
          <p:cNvSpPr/>
          <p:nvPr/>
        </p:nvSpPr>
        <p:spPr>
          <a:xfrm>
            <a:off x="1143000" y="5358384"/>
            <a:ext cx="9930384" cy="457200"/>
          </a:xfrm>
          <a:prstGeom prst="rect">
            <a:avLst/>
          </a:prstGeom>
          <a:solidFill>
            <a:srgbClr val="EAF8F6"/>
          </a:solidFill>
          <a:ln w="9525">
            <a:solidFill>
              <a:srgbClr val="CFE9E5"/>
            </a:solidFill>
          </a:ln>
        </p:spPr>
      </p:sp>
      <p:sp>
        <p:nvSpPr>
          <p:cNvPr id="43" name="research bridge text"/>
          <p:cNvSpPr/>
          <p:nvPr/>
        </p:nvSpPr>
        <p:spPr>
          <a:xfrm>
            <a:off x="1325880" y="5468112"/>
            <a:ext cx="9564624" cy="16459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ctr"/>
            <a:r>
              <a:rPr lang="ko-KR" sz="850" b="1">
                <a:solidFill>
                  <a:srgbClr val="06172F"/>
                </a:solidFill>
                <a:latin typeface="Malgun Gothic"/>
                <a:ea typeface="Malgun Gothic"/>
              </a:rPr>
              <a:t>연구 전환: LLM 재검사를 small model 또는 KD embedding으로 대체 가능한지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>
            <a:extLst>
              <a:ext uri="{FF2B5EF4-FFF2-40B4-BE49-F238E27FC236}">
                <a16:creationId xmlns:a16="http://schemas.microsoft.com/office/drawing/2014/main" id="{1AFEEC3E-EE5A-481E-82DE-81604B399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2F9B4D87-F1D0-44BD-A731-4C1F814D22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D0850F-314C-44AF-88D6-532AE6C4782E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C1216EC-7E9B-426D-BB99-8E0D887DC359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C42C9848-E0D1-4BB5-993E-8DE93334A8CD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MOTIVATION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4D11FB-8447-4111-B25E-A787F75F3844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AD902A-73D0-44E5-9024-7278071C57C0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Why Small LMs?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39DC8F-59D2-4365-86AF-3CCB4D5D2207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42A0DF-46E7-4B9C-ABDD-0AD20E805A95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70AD2-9DF1-4977-9CC3-4C808430F3AD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제한된 vocabulary judging task에서 small model 가능성 검토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724487-1C51-4ABF-A2D7-11390F04FC5C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4095750" cy="25717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4693831-DCF4-4228-93DB-25ECD335ACF7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dirty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Large LLM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F84286-3E96-4167-91D0-B83E468C3FBF}"/>
              </a:ext>
            </a:extLst>
          </p:cNvPr>
          <p:cNvSpPr>
            <a:spLocks noGrp="1"/>
          </p:cNvSpPr>
          <p:nvPr/>
        </p:nvSpPr>
        <p:spPr>
          <a:xfrm>
            <a:off x="952500" y="2971800"/>
            <a:ext cx="21907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강력한</a:t>
            </a:r>
            <a:r>
              <a:rPr sz="1200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언어</a:t>
            </a:r>
            <a:r>
              <a:rPr sz="1200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이해</a:t>
            </a:r>
            <a:endParaRPr sz="1200" b="0" dirty="0">
              <a:solidFill>
                <a:srgbClr val="5E6E8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높은</a:t>
            </a:r>
            <a:r>
              <a:rPr sz="1200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reasoning </a:t>
            </a: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품질</a:t>
            </a:r>
            <a:endParaRPr sz="1200" b="0" dirty="0">
              <a:solidFill>
                <a:srgbClr val="5E6E83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defRPr sz="12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범용</a:t>
            </a:r>
            <a:r>
              <a:rPr sz="1200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task </a:t>
            </a:r>
            <a:r>
              <a:rPr sz="1200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대응</a:t>
            </a:r>
            <a:endParaRPr sz="1200" b="0" dirty="0">
              <a:solidFill>
                <a:srgbClr val="5E6E8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075783F-7B69-4BE7-B4EF-C8B7B220A18A}"/>
              </a:ext>
            </a:extLst>
          </p:cNvPr>
          <p:cNvSpPr>
            <a:spLocks noGrp="1"/>
          </p:cNvSpPr>
          <p:nvPr/>
        </p:nvSpPr>
        <p:spPr>
          <a:xfrm>
            <a:off x="3352800" y="2476500"/>
            <a:ext cx="838200" cy="838200"/>
          </a:xfrm>
          <a:prstGeom prst="ellipse">
            <a:avLst/>
          </a:prstGeom>
          <a:solidFill>
            <a:srgbClr val="061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0404CE0-4F94-4DE5-991E-669F2E4129AB}"/>
              </a:ext>
            </a:extLst>
          </p:cNvPr>
          <p:cNvSpPr>
            <a:spLocks noGrp="1"/>
          </p:cNvSpPr>
          <p:nvPr/>
        </p:nvSpPr>
        <p:spPr>
          <a:xfrm>
            <a:off x="3486150" y="2743200"/>
            <a:ext cx="57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$$$</a:t>
            </a:r>
          </a:p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latency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C3476E3-A216-4330-883C-89802CC4AC49}"/>
              </a:ext>
            </a:extLst>
          </p:cNvPr>
          <p:cNvSpPr>
            <a:spLocks noGrp="1"/>
          </p:cNvSpPr>
          <p:nvPr/>
        </p:nvSpPr>
        <p:spPr>
          <a:xfrm>
            <a:off x="952500" y="4038600"/>
            <a:ext cx="31432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문제: 모든 bounded task에 같은 비용 구조가 필요한가?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B26039-EC9F-4521-B7EB-625B5209A355}"/>
              </a:ext>
            </a:extLst>
          </p:cNvPr>
          <p:cNvSpPr>
            <a:spLocks noGrp="1"/>
          </p:cNvSpPr>
          <p:nvPr/>
        </p:nvSpPr>
        <p:spPr>
          <a:xfrm>
            <a:off x="5334000" y="2190750"/>
            <a:ext cx="5524500" cy="2571750"/>
          </a:xfrm>
          <a:prstGeom prst="rect">
            <a:avLst/>
          </a:prstGeom>
          <a:solidFill>
            <a:srgbClr val="EAF8F6"/>
          </a:solidFill>
          <a:ln w="9525">
            <a:solidFill>
              <a:srgbClr val="D8F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967F04-F37C-47E8-8584-6EBFE47274F8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TOEIC Business Vocabulary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42A82E-B0F8-44F1-ACE0-9157EFCF4B37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28750" cy="285750"/>
          </a:xfrm>
          <a:prstGeom prst="rect">
            <a:avLst/>
          </a:prstGeom>
          <a:solidFill>
            <a:srgbClr val="EAF8F6"/>
          </a:solidFill>
          <a:ln w="9525">
            <a:solidFill>
              <a:srgbClr val="EAF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0403F9-A672-4CE8-826F-C7FE53AE3052}"/>
              </a:ext>
            </a:extLst>
          </p:cNvPr>
          <p:cNvSpPr>
            <a:spLocks noGrp="1"/>
          </p:cNvSpPr>
          <p:nvPr/>
        </p:nvSpPr>
        <p:spPr>
          <a:xfrm>
            <a:off x="5753100" y="308610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제한된 domain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4D43BA-69F9-4595-A38B-6DFB35CFBD3D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619250" cy="285750"/>
          </a:xfrm>
          <a:prstGeom prst="rect">
            <a:avLst/>
          </a:prstGeom>
          <a:solidFill>
            <a:srgbClr val="EAF8F6"/>
          </a:solidFill>
          <a:ln w="9525">
            <a:solidFill>
              <a:srgbClr val="EAF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C26E21-39EE-4EE2-8DB7-D9A9CDAE6305}"/>
              </a:ext>
            </a:extLst>
          </p:cNvPr>
          <p:cNvSpPr>
            <a:spLocks noGrp="1"/>
          </p:cNvSpPr>
          <p:nvPr/>
        </p:nvSpPr>
        <p:spPr>
          <a:xfrm>
            <a:off x="7353300" y="3086100"/>
            <a:ext cx="1390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명확한 정답 구조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E642B41-F287-4C70-A3E5-DBC1F070712F}"/>
              </a:ext>
            </a:extLst>
          </p:cNvPr>
          <p:cNvSpPr>
            <a:spLocks noGrp="1"/>
          </p:cNvSpPr>
          <p:nvPr/>
        </p:nvSpPr>
        <p:spPr>
          <a:xfrm>
            <a:off x="9029700" y="3028950"/>
            <a:ext cx="1428750" cy="285750"/>
          </a:xfrm>
          <a:prstGeom prst="rect">
            <a:avLst/>
          </a:prstGeom>
          <a:solidFill>
            <a:srgbClr val="EAF8F6"/>
          </a:solidFill>
          <a:ln w="9525">
            <a:solidFill>
              <a:srgbClr val="EAF8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6FC82A0-6B6A-4E82-A993-B056FF87214C}"/>
              </a:ext>
            </a:extLst>
          </p:cNvPr>
          <p:cNvSpPr>
            <a:spLocks noGrp="1"/>
          </p:cNvSpPr>
          <p:nvPr/>
        </p:nvSpPr>
        <p:spPr>
          <a:xfrm>
            <a:off x="9144000" y="3086100"/>
            <a:ext cx="1200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반복 가능한 평가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47B640-A3F8-47F9-8AB6-650C5EABF17C}"/>
              </a:ext>
            </a:extLst>
          </p:cNvPr>
          <p:cNvSpPr>
            <a:spLocks noGrp="1"/>
          </p:cNvSpPr>
          <p:nvPr/>
        </p:nvSpPr>
        <p:spPr>
          <a:xfrm>
            <a:off x="5638800" y="3771900"/>
            <a:ext cx="457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가설: 1B~3B Small LM도 SFT, Knowledge Distillation, Quantization을 통해 경쟁력 있는 효율을 보일 수 있다.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437C41-E3D4-485C-BFC2-37DA08278E2F}"/>
              </a:ext>
            </a:extLst>
          </p:cNvPr>
          <p:cNvSpPr>
            <a:spLocks noGrp="1"/>
          </p:cNvSpPr>
          <p:nvPr/>
        </p:nvSpPr>
        <p:spPr>
          <a:xfrm>
            <a:off x="762000" y="515302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F08BDD-9591-4E75-8AAC-C5A1C2376AF3}"/>
              </a:ext>
            </a:extLst>
          </p:cNvPr>
          <p:cNvSpPr>
            <a:spLocks noGrp="1"/>
          </p:cNvSpPr>
          <p:nvPr/>
        </p:nvSpPr>
        <p:spPr>
          <a:xfrm>
            <a:off x="952500" y="5086350"/>
            <a:ext cx="962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대형 LLM(Large LLM)은 높은 품질을 보이지만 비용과 latency 부담이 크다.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6CA2B42-809D-462C-AFD3-F7C2D227570E}"/>
              </a:ext>
            </a:extLst>
          </p:cNvPr>
          <p:cNvSpPr>
            <a:spLocks noGrp="1"/>
          </p:cNvSpPr>
          <p:nvPr/>
        </p:nvSpPr>
        <p:spPr>
          <a:xfrm>
            <a:off x="762000" y="543877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1A4C100-F75C-4CB1-AA60-93C4C75A9AA6}"/>
              </a:ext>
            </a:extLst>
          </p:cNvPr>
          <p:cNvSpPr>
            <a:spLocks noGrp="1"/>
          </p:cNvSpPr>
          <p:nvPr/>
        </p:nvSpPr>
        <p:spPr>
          <a:xfrm>
            <a:off x="952500" y="5372100"/>
            <a:ext cx="962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TOEIC business vocabulary는 domain과 정답 구조가 비교적 제한적이다.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81C0E52-CD0F-4F96-A3F5-B1947478591A}"/>
              </a:ext>
            </a:extLst>
          </p:cNvPr>
          <p:cNvSpPr>
            <a:spLocks noGrp="1"/>
          </p:cNvSpPr>
          <p:nvPr/>
        </p:nvSpPr>
        <p:spPr>
          <a:xfrm>
            <a:off x="762000" y="572452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011216-18C4-47FC-8E56-882AAE3C2A90}"/>
              </a:ext>
            </a:extLst>
          </p:cNvPr>
          <p:cNvSpPr>
            <a:spLocks noGrp="1"/>
          </p:cNvSpPr>
          <p:nvPr/>
        </p:nvSpPr>
        <p:spPr>
          <a:xfrm>
            <a:off x="952500" y="5657850"/>
            <a:ext cx="962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소형 모델(Small LM)이 충분한 정확도-효율 trade-off를 만들 가능성이 있다.</a:t>
            </a:r>
          </a:p>
        </p:txBody>
      </p:sp>
    </p:spTree>
    <p:extLst>
      <p:ext uri="{BB962C8B-B14F-4D97-AF65-F5344CB8AC3E}">
        <p14:creationId xmlns:p14="http://schemas.microsoft.com/office/powerpoint/2010/main" val="95580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ackground">
            <a:extLst>
              <a:ext uri="{FF2B5EF4-FFF2-40B4-BE49-F238E27FC236}">
                <a16:creationId xmlns:a16="http://schemas.microsoft.com/office/drawing/2014/main" id="{E1E38FFE-DE51-4F1F-9880-2E314479D329}"/>
              </a:ext>
            </a:extLst>
          </p:cNvPr>
          <p:cNvSpPr>
            <a:spLocks noGrp="1"/>
          </p:cNvSpPr>
          <p:nvPr/>
        </p:nvSpPr>
        <p:spPr>
          <a:xfrm>
            <a:off x="95250" y="279102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57FE36F0-F8E4-4C35-8406-B04208CF52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4578FE-ACC3-4D97-8AAE-80126F2B1B1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070E9E36-F96E-4A88-B4B6-1CF463B38636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038792A9-92E0-4CA7-9A47-90C3F5A453E0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RESEARCH QUESTION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D29617-591D-4458-B380-3897D2CF0EE6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BB5215-B7C3-47AA-A141-2D3B7BF8D078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Replacement Boundary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BD16743-FDA9-4142-A0DA-865969F391C9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6A0DDA-C5ED-48C5-B73C-FBD08A6B2839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60F868-1004-4E97-A2E2-0344F1906E6E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small LM과 discriminative baseline을 함께 비교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CD42CBD-1426-41C7-92CD-C07AF8C07ABA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6477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C1A24D-93F5-4FAF-A32E-9E3233F721A6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495300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CA0578-3555-48B5-9D1E-67B7D9B6ACA8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19050" cy="190500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BF18B20-9307-43F7-8571-A2D66710D83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model scale / cost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C7813B-34DD-43A6-8E89-A578F9F83336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performance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C6BF298-D0DE-4782-938D-5C62040189C2}"/>
              </a:ext>
            </a:extLst>
          </p:cNvPr>
          <p:cNvSpPr>
            <a:spLocks noGrp="1"/>
          </p:cNvSpPr>
          <p:nvPr/>
        </p:nvSpPr>
        <p:spPr>
          <a:xfrm>
            <a:off x="2333625" y="4210050"/>
            <a:ext cx="171450" cy="171450"/>
          </a:xfrm>
          <a:prstGeom prst="ellipse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E4E66FB-59B0-4ACC-A69E-864EEF3AA0AF}"/>
              </a:ext>
            </a:extLst>
          </p:cNvPr>
          <p:cNvSpPr>
            <a:spLocks noGrp="1"/>
          </p:cNvSpPr>
          <p:nvPr/>
        </p:nvSpPr>
        <p:spPr>
          <a:xfrm>
            <a:off x="1971675" y="39624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zero-shot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A7B12ED-DCAD-4963-AC26-386477D3A3B8}"/>
              </a:ext>
            </a:extLst>
          </p:cNvPr>
          <p:cNvSpPr>
            <a:spLocks noGrp="1"/>
          </p:cNvSpPr>
          <p:nvPr/>
        </p:nvSpPr>
        <p:spPr>
          <a:xfrm>
            <a:off x="3238500" y="3790950"/>
            <a:ext cx="171450" cy="171450"/>
          </a:xfrm>
          <a:prstGeom prst="ellipse">
            <a:avLst/>
          </a:prstGeom>
          <a:solidFill>
            <a:srgbClr val="D8F0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E91B0FE-9009-4F89-B480-9A6E2A922D5F}"/>
              </a:ext>
            </a:extLst>
          </p:cNvPr>
          <p:cNvSpPr>
            <a:spLocks noGrp="1"/>
          </p:cNvSpPr>
          <p:nvPr/>
        </p:nvSpPr>
        <p:spPr>
          <a:xfrm>
            <a:off x="2876550" y="35433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SFT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C0CB2180-7A7C-4E2E-98C5-9C6DEBA053C2}"/>
              </a:ext>
            </a:extLst>
          </p:cNvPr>
          <p:cNvSpPr>
            <a:spLocks noGrp="1"/>
          </p:cNvSpPr>
          <p:nvPr/>
        </p:nvSpPr>
        <p:spPr>
          <a:xfrm>
            <a:off x="3981450" y="3448050"/>
            <a:ext cx="171450" cy="171450"/>
          </a:xfrm>
          <a:prstGeom prst="ellipse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55CF73E-58A6-4069-814E-02DA2350BD31}"/>
              </a:ext>
            </a:extLst>
          </p:cNvPr>
          <p:cNvSpPr>
            <a:spLocks noGrp="1"/>
          </p:cNvSpPr>
          <p:nvPr/>
        </p:nvSpPr>
        <p:spPr>
          <a:xfrm>
            <a:off x="3619500" y="32004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KD + Quant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F088D0B-0C6E-445D-8376-C6083269D54D}"/>
              </a:ext>
            </a:extLst>
          </p:cNvPr>
          <p:cNvSpPr>
            <a:spLocks noGrp="1"/>
          </p:cNvSpPr>
          <p:nvPr/>
        </p:nvSpPr>
        <p:spPr>
          <a:xfrm>
            <a:off x="5810250" y="3028950"/>
            <a:ext cx="171450" cy="171450"/>
          </a:xfrm>
          <a:prstGeom prst="ellipse">
            <a:avLst/>
          </a:prstGeom>
          <a:solidFill>
            <a:srgbClr val="061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5B1B84B-9287-4669-B5E1-88F46E8AD591}"/>
              </a:ext>
            </a:extLst>
          </p:cNvPr>
          <p:cNvSpPr>
            <a:spLocks noGrp="1"/>
          </p:cNvSpPr>
          <p:nvPr/>
        </p:nvSpPr>
        <p:spPr>
          <a:xfrm>
            <a:off x="5448300" y="27813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Teacher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BB0F46-0BE6-4A70-A7B9-DA6C9F81F0D4}"/>
              </a:ext>
            </a:extLst>
          </p:cNvPr>
          <p:cNvSpPr>
            <a:spLocks noGrp="1"/>
          </p:cNvSpPr>
          <p:nvPr/>
        </p:nvSpPr>
        <p:spPr>
          <a:xfrm>
            <a:off x="3652721" y="3174702"/>
            <a:ext cx="1428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4A9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03D69C-C0E5-4E75-A44A-1D90F53CE6E3}"/>
              </a:ext>
            </a:extLst>
          </p:cNvPr>
          <p:cNvSpPr>
            <a:spLocks noGrp="1"/>
          </p:cNvSpPr>
          <p:nvPr/>
        </p:nvSpPr>
        <p:spPr>
          <a:xfrm>
            <a:off x="4019550" y="340995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검증 구간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98BFAE5-229B-425B-B761-393E9430D3AA}"/>
              </a:ext>
            </a:extLst>
          </p:cNvPr>
          <p:cNvSpPr>
            <a:spLocks noGrp="1"/>
          </p:cNvSpPr>
          <p:nvPr/>
        </p:nvSpPr>
        <p:spPr>
          <a:xfrm>
            <a:off x="7715250" y="2247900"/>
            <a:ext cx="3238500" cy="31432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CE6C11-F2EF-4267-A834-D0EF130AF317}"/>
              </a:ext>
            </a:extLst>
          </p:cNvPr>
          <p:cNvSpPr>
            <a:spLocks noGrp="1"/>
          </p:cNvSpPr>
          <p:nvPr/>
        </p:nvSpPr>
        <p:spPr>
          <a:xfrm>
            <a:off x="8001000" y="2533650"/>
            <a:ext cx="171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 질문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99040B-0959-4C87-8078-26209CBB0F42}"/>
              </a:ext>
            </a:extLst>
          </p:cNvPr>
          <p:cNvSpPr>
            <a:spLocks noGrp="1"/>
          </p:cNvSpPr>
          <p:nvPr/>
        </p:nvSpPr>
        <p:spPr>
          <a:xfrm>
            <a:off x="8001000" y="313372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7E63B0-E577-4A34-8FE0-85DFA0BA082E}"/>
              </a:ext>
            </a:extLst>
          </p:cNvPr>
          <p:cNvSpPr>
            <a:spLocks noGrp="1"/>
          </p:cNvSpPr>
          <p:nvPr/>
        </p:nvSpPr>
        <p:spPr>
          <a:xfrm>
            <a:off x="8191500" y="30670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성능: Accuracy, Macro-F1, Calibration Error(ECE)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7EAC06-31DA-4A42-A1A1-217314B013F4}"/>
              </a:ext>
            </a:extLst>
          </p:cNvPr>
          <p:cNvSpPr>
            <a:spLocks noGrp="1"/>
          </p:cNvSpPr>
          <p:nvPr/>
        </p:nvSpPr>
        <p:spPr>
          <a:xfrm>
            <a:off x="8001000" y="357187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0C69C7F-11CC-4CA8-AA75-72BE82B5B348}"/>
              </a:ext>
            </a:extLst>
          </p:cNvPr>
          <p:cNvSpPr>
            <a:spLocks noGrp="1"/>
          </p:cNvSpPr>
          <p:nvPr/>
        </p:nvSpPr>
        <p:spPr>
          <a:xfrm>
            <a:off x="8191500" y="35052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효율: latency, tokens/sec, VRAM/RAM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F94D505-2AF0-4DF0-B800-94BA8D3FB6EE}"/>
              </a:ext>
            </a:extLst>
          </p:cNvPr>
          <p:cNvSpPr>
            <a:spLocks noGrp="1"/>
          </p:cNvSpPr>
          <p:nvPr/>
        </p:nvSpPr>
        <p:spPr>
          <a:xfrm>
            <a:off x="8001000" y="401002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C3CF6E-926F-49E0-8EE6-3D6B0328E33E}"/>
              </a:ext>
            </a:extLst>
          </p:cNvPr>
          <p:cNvSpPr>
            <a:spLocks noGrp="1"/>
          </p:cNvSpPr>
          <p:nvPr/>
        </p:nvSpPr>
        <p:spPr>
          <a:xfrm>
            <a:off x="8191500" y="394335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실용성: cost per 1000 questions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70AEF31-6E31-4629-AE3C-9430F9DD8ED9}"/>
              </a:ext>
            </a:extLst>
          </p:cNvPr>
          <p:cNvSpPr>
            <a:spLocks noGrp="1"/>
          </p:cNvSpPr>
          <p:nvPr/>
        </p:nvSpPr>
        <p:spPr>
          <a:xfrm>
            <a:off x="8001000" y="4448175"/>
            <a:ext cx="66675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861A402-6211-45C7-945E-851F16DFB178}"/>
              </a:ext>
            </a:extLst>
          </p:cNvPr>
          <p:cNvSpPr>
            <a:spLocks noGrp="1"/>
          </p:cNvSpPr>
          <p:nvPr/>
        </p:nvSpPr>
        <p:spPr>
          <a:xfrm>
            <a:off x="8191500" y="4381500"/>
            <a:ext cx="2381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비교 단위: 동일 split에서 mxbai / scorer / cross-encoder / Small LM 비교</a:t>
            </a:r>
          </a:p>
        </p:txBody>
      </p:sp>
    </p:spTree>
    <p:extLst>
      <p:ext uri="{BB962C8B-B14F-4D97-AF65-F5344CB8AC3E}">
        <p14:creationId xmlns:p14="http://schemas.microsoft.com/office/powerpoint/2010/main" val="25852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ackground">
            <a:extLst>
              <a:ext uri="{FF2B5EF4-FFF2-40B4-BE49-F238E27FC236}">
                <a16:creationId xmlns:a16="http://schemas.microsoft.com/office/drawing/2014/main" id="{C2884FDE-2C64-4BA8-9BA6-97F937A00F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1F23ABF4-E922-42FF-BAF5-55B80C902C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0291A4-7400-465D-B84C-7081784A040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10DF2E7-AEE4-489B-89A1-58C8E1F30F9C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4F63EC7D-7C09-4C99-90CA-AFC8439716C8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HYPOTHESES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9787237-06C6-4E23-A2C3-EF39393A364E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269A1D-6FC2-42A3-B6A7-4762F3BC6F49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Hypotheses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3CCBEF9-5875-478F-856F-2D5B93236CF0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2E18F0-FA85-4CAA-8C7B-9D8D4980478D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AF7056-1CB2-4BAB-9797-0CBE070B688B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embedding classifier baseline 대비 small LM 필요성 검증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D639C83-6CF6-41DA-9793-5B581A20B810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21907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F77195-6683-4267-B1A4-BE5058B09215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H1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3274C8-E2A8-4167-9CB2-F04A8AF832A0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SFT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AEFC15-3060-4C6B-8E81-7295826C61E3}"/>
              </a:ext>
            </a:extLst>
          </p:cNvPr>
          <p:cNvSpPr>
            <a:spLocks noGrp="1"/>
          </p:cNvSpPr>
          <p:nvPr/>
        </p:nvSpPr>
        <p:spPr>
          <a:xfrm>
            <a:off x="990600" y="3467100"/>
            <a:ext cx="1762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zero-shot 대비 성능 향상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24DAFCA-C26D-4027-8D8A-4654998E0649}"/>
              </a:ext>
            </a:extLst>
          </p:cNvPr>
          <p:cNvSpPr>
            <a:spLocks noGrp="1"/>
          </p:cNvSpPr>
          <p:nvPr/>
        </p:nvSpPr>
        <p:spPr>
          <a:xfrm>
            <a:off x="2990850" y="3105150"/>
            <a:ext cx="514350" cy="190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920494-AEAF-483F-BE7A-FE92C095D9FD}"/>
              </a:ext>
            </a:extLst>
          </p:cNvPr>
          <p:cNvSpPr>
            <a:spLocks noGrp="1"/>
          </p:cNvSpPr>
          <p:nvPr/>
        </p:nvSpPr>
        <p:spPr>
          <a:xfrm>
            <a:off x="3505200" y="2724150"/>
            <a:ext cx="21907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B666238-9F94-429E-B17D-2F41B53611B4}"/>
              </a:ext>
            </a:extLst>
          </p:cNvPr>
          <p:cNvSpPr>
            <a:spLocks noGrp="1"/>
          </p:cNvSpPr>
          <p:nvPr/>
        </p:nvSpPr>
        <p:spPr>
          <a:xfrm>
            <a:off x="3695700" y="29146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H2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414E8F-F5DB-47B0-A47E-1D4EEFA0872F}"/>
              </a:ext>
            </a:extLst>
          </p:cNvPr>
          <p:cNvSpPr>
            <a:spLocks noGrp="1"/>
          </p:cNvSpPr>
          <p:nvPr/>
        </p:nvSpPr>
        <p:spPr>
          <a:xfrm>
            <a:off x="3695700" y="342900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SFT / Embedding KD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FDB6744-3AF2-4C6B-BE30-4406325D54E1}"/>
              </a:ext>
            </a:extLst>
          </p:cNvPr>
          <p:cNvSpPr>
            <a:spLocks noGrp="1"/>
          </p:cNvSpPr>
          <p:nvPr/>
        </p:nvSpPr>
        <p:spPr>
          <a:xfrm>
            <a:off x="3695700" y="3924300"/>
            <a:ext cx="1762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SFT와 embedding scorer 모두 teacher signal 학습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969143-9E28-421E-B8F2-A026A781CFB4}"/>
              </a:ext>
            </a:extLst>
          </p:cNvPr>
          <p:cNvSpPr>
            <a:spLocks noGrp="1"/>
          </p:cNvSpPr>
          <p:nvPr/>
        </p:nvSpPr>
        <p:spPr>
          <a:xfrm>
            <a:off x="5695950" y="3562350"/>
            <a:ext cx="514350" cy="190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54AA55-A758-4624-A7D7-8B2F222580BE}"/>
              </a:ext>
            </a:extLst>
          </p:cNvPr>
          <p:cNvSpPr>
            <a:spLocks noGrp="1"/>
          </p:cNvSpPr>
          <p:nvPr/>
        </p:nvSpPr>
        <p:spPr>
          <a:xfrm>
            <a:off x="6210300" y="2266950"/>
            <a:ext cx="2190750" cy="17145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7E9F04D-7853-427C-B7DD-8DDEF0EE232E}"/>
              </a:ext>
            </a:extLst>
          </p:cNvPr>
          <p:cNvSpPr>
            <a:spLocks noGrp="1"/>
          </p:cNvSpPr>
          <p:nvPr/>
        </p:nvSpPr>
        <p:spPr>
          <a:xfrm>
            <a:off x="6400800" y="24574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H3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B4FCFBE-9C89-45E9-8C30-0C53B7AB476E}"/>
              </a:ext>
            </a:extLst>
          </p:cNvPr>
          <p:cNvSpPr>
            <a:spLocks noGrp="1"/>
          </p:cNvSpPr>
          <p:nvPr/>
        </p:nvSpPr>
        <p:spPr>
          <a:xfrm>
            <a:off x="6400800" y="297180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KD + 4bit Quantization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C4F19E-115F-4B9D-AE9F-82C0ECD528AA}"/>
              </a:ext>
            </a:extLst>
          </p:cNvPr>
          <p:cNvSpPr>
            <a:spLocks noGrp="1"/>
          </p:cNvSpPr>
          <p:nvPr/>
        </p:nvSpPr>
        <p:spPr>
          <a:xfrm>
            <a:off x="6400800" y="3467100"/>
            <a:ext cx="1762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경량화 후 성능 하락이 제한적일 가능성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395E56E-BC8F-4C3C-87AF-17A93EF3313A}"/>
              </a:ext>
            </a:extLst>
          </p:cNvPr>
          <p:cNvSpPr>
            <a:spLocks noGrp="1"/>
          </p:cNvSpPr>
          <p:nvPr/>
        </p:nvSpPr>
        <p:spPr>
          <a:xfrm>
            <a:off x="8401050" y="3105150"/>
            <a:ext cx="514350" cy="190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F17DF0B-ADB8-46AF-BFDE-E54842081FBF}"/>
              </a:ext>
            </a:extLst>
          </p:cNvPr>
          <p:cNvSpPr>
            <a:spLocks noGrp="1"/>
          </p:cNvSpPr>
          <p:nvPr/>
        </p:nvSpPr>
        <p:spPr>
          <a:xfrm>
            <a:off x="8915400" y="2724150"/>
            <a:ext cx="2190750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25175A9-66BB-4022-96E5-E5CAFB55F48C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571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H4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5666B15-E5EC-438C-B3B2-DCDFD9B41C6C}"/>
              </a:ext>
            </a:extLst>
          </p:cNvPr>
          <p:cNvSpPr>
            <a:spLocks noGrp="1"/>
          </p:cNvSpPr>
          <p:nvPr/>
        </p:nvSpPr>
        <p:spPr>
          <a:xfrm>
            <a:off x="9105900" y="342900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Efficiency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A435BA9-97C8-4545-99A6-FE48C740F0AA}"/>
              </a:ext>
            </a:extLst>
          </p:cNvPr>
          <p:cNvSpPr>
            <a:spLocks noGrp="1"/>
          </p:cNvSpPr>
          <p:nvPr/>
        </p:nvSpPr>
        <p:spPr>
          <a:xfrm>
            <a:off x="9105900" y="3924300"/>
            <a:ext cx="17621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strong baseline 대비 이점이 있을 때만 실용적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5F7AEE8-6499-4513-9402-B65B679A4E68}"/>
              </a:ext>
            </a:extLst>
          </p:cNvPr>
          <p:cNvSpPr>
            <a:spLocks noGrp="1"/>
          </p:cNvSpPr>
          <p:nvPr/>
        </p:nvSpPr>
        <p:spPr>
          <a:xfrm>
            <a:off x="3505200" y="5048250"/>
            <a:ext cx="514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mxbai baseline | SFT(+KD) | KD embedding | Quant</a:t>
            </a:r>
          </a:p>
        </p:txBody>
      </p:sp>
    </p:spTree>
    <p:extLst>
      <p:ext uri="{BB962C8B-B14F-4D97-AF65-F5344CB8AC3E}">
        <p14:creationId xmlns:p14="http://schemas.microsoft.com/office/powerpoint/2010/main" val="1082732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ackground">
            <a:extLst>
              <a:ext uri="{FF2B5EF4-FFF2-40B4-BE49-F238E27FC236}">
                <a16:creationId xmlns:a16="http://schemas.microsoft.com/office/drawing/2014/main" id="{D31DB279-8CFC-4071-8D25-6626BB708F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CFB64EE6-36F4-40A6-8D32-E0DAC863FA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242546-ACD2-4543-A39F-B5CEC30F9A9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9A825AB-8931-403D-8D1E-18BCBEFE9668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61561743-B19A-42E4-8D96-7645A575180E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DATASET OVERVIEW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74396-2056-4813-BFB9-4B9ADC6396B5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B7B896-77B6-40D6-8A6E-855CC945DBD0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Dataset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154EDF-CE65-4327-A921-80E1BA6245E0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2EB53-ED9B-4FCB-BC1A-B89B1DFB81D9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811DF9-B18C-480C-84FA-2026D7EBD389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GT 보존 + 생성 문항 품질 관리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348F860-0DE1-4F2A-ABE6-C6B9DEC249F4}"/>
              </a:ext>
            </a:extLst>
          </p:cNvPr>
          <p:cNvSpPr>
            <a:spLocks noGrp="1"/>
          </p:cNvSpPr>
          <p:nvPr/>
        </p:nvSpPr>
        <p:spPr>
          <a:xfrm>
            <a:off x="4629150" y="2476500"/>
            <a:ext cx="2381250" cy="2381250"/>
          </a:xfrm>
          <a:prstGeom prst="ellipse">
            <a:avLst/>
          </a:prstGeom>
          <a:solidFill>
            <a:srgbClr val="06172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AA55DE-C39A-4C2B-92F3-39897CDDA5A9}"/>
              </a:ext>
            </a:extLst>
          </p:cNvPr>
          <p:cNvSpPr>
            <a:spLocks noGrp="1"/>
          </p:cNvSpPr>
          <p:nvPr/>
        </p:nvSpPr>
        <p:spPr>
          <a:xfrm>
            <a:off x="4914900" y="2990850"/>
            <a:ext cx="18097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~2,000</a:t>
            </a:r>
          </a:p>
          <a:p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Ground Truth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8B2E90-27A9-41BD-8528-8464306AFBBB}"/>
              </a:ext>
            </a:extLst>
          </p:cNvPr>
          <p:cNvSpPr>
            <a:spLocks noGrp="1"/>
          </p:cNvSpPr>
          <p:nvPr/>
        </p:nvSpPr>
        <p:spPr>
          <a:xfrm>
            <a:off x="1047750" y="2324100"/>
            <a:ext cx="247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567F90-68F6-4FAA-BD34-31FF2A43C1DB}"/>
              </a:ext>
            </a:extLst>
          </p:cNvPr>
          <p:cNvSpPr>
            <a:spLocks noGrp="1"/>
          </p:cNvSpPr>
          <p:nvPr/>
        </p:nvSpPr>
        <p:spPr>
          <a:xfrm>
            <a:off x="1219200" y="2495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Synonym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A648A29-99BF-416E-9F2E-EA9F63AFF863}"/>
              </a:ext>
            </a:extLst>
          </p:cNvPr>
          <p:cNvSpPr>
            <a:spLocks noGrp="1"/>
          </p:cNvSpPr>
          <p:nvPr/>
        </p:nvSpPr>
        <p:spPr>
          <a:xfrm>
            <a:off x="1219200" y="28003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동의어 쌍 / 선택지 구성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3AC992-AB4B-4F71-ADDF-A226956E8DDF}"/>
              </a:ext>
            </a:extLst>
          </p:cNvPr>
          <p:cNvSpPr>
            <a:spLocks noGrp="1"/>
          </p:cNvSpPr>
          <p:nvPr/>
        </p:nvSpPr>
        <p:spPr>
          <a:xfrm>
            <a:off x="3524250" y="2743200"/>
            <a:ext cx="110490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32E19C-BBA1-4385-8128-30C261B1AA4A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247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6762E85-0513-43F7-B0B9-F7DC150ACDE6}"/>
              </a:ext>
            </a:extLst>
          </p:cNvPr>
          <p:cNvSpPr>
            <a:spLocks noGrp="1"/>
          </p:cNvSpPr>
          <p:nvPr/>
        </p:nvSpPr>
        <p:spPr>
          <a:xfrm>
            <a:off x="8362950" y="2495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Antonym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2108820-AFB3-42C6-B5C8-F947F6263020}"/>
              </a:ext>
            </a:extLst>
          </p:cNvPr>
          <p:cNvSpPr>
            <a:spLocks noGrp="1"/>
          </p:cNvSpPr>
          <p:nvPr/>
        </p:nvSpPr>
        <p:spPr>
          <a:xfrm>
            <a:off x="8362950" y="28003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반의어 쌍 / 의미 대비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70DA8E-1AB7-43C7-B242-24C76244D21A}"/>
              </a:ext>
            </a:extLst>
          </p:cNvPr>
          <p:cNvSpPr>
            <a:spLocks noGrp="1"/>
          </p:cNvSpPr>
          <p:nvPr/>
        </p:nvSpPr>
        <p:spPr>
          <a:xfrm>
            <a:off x="7010400" y="2743200"/>
            <a:ext cx="110490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99AC9D4-D41C-4BDD-86EF-D590D5F93FF8}"/>
              </a:ext>
            </a:extLst>
          </p:cNvPr>
          <p:cNvSpPr>
            <a:spLocks noGrp="1"/>
          </p:cNvSpPr>
          <p:nvPr/>
        </p:nvSpPr>
        <p:spPr>
          <a:xfrm>
            <a:off x="1047750" y="4210050"/>
            <a:ext cx="2476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C7CE07D-07AC-40BF-9B16-211B78245259}"/>
              </a:ext>
            </a:extLst>
          </p:cNvPr>
          <p:cNvSpPr>
            <a:spLocks noGrp="1"/>
          </p:cNvSpPr>
          <p:nvPr/>
        </p:nvSpPr>
        <p:spPr>
          <a:xfrm>
            <a:off x="1219200" y="4381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Examples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5B98EDD-F412-4182-8FBF-79A18CB7E8A3}"/>
              </a:ext>
            </a:extLst>
          </p:cNvPr>
          <p:cNvSpPr>
            <a:spLocks noGrp="1"/>
          </p:cNvSpPr>
          <p:nvPr/>
        </p:nvSpPr>
        <p:spPr>
          <a:xfrm>
            <a:off x="1219200" y="46863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단어별 예시문장 n개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3D50701-5F8A-4ADD-8854-40113B5F1758}"/>
              </a:ext>
            </a:extLst>
          </p:cNvPr>
          <p:cNvSpPr>
            <a:spLocks noGrp="1"/>
          </p:cNvSpPr>
          <p:nvPr/>
        </p:nvSpPr>
        <p:spPr>
          <a:xfrm>
            <a:off x="3524250" y="4629150"/>
            <a:ext cx="110490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DFC38F6-25C9-4F74-BAC0-120594CC49CB}"/>
              </a:ext>
            </a:extLst>
          </p:cNvPr>
          <p:cNvSpPr>
            <a:spLocks noGrp="1"/>
          </p:cNvSpPr>
          <p:nvPr/>
        </p:nvSpPr>
        <p:spPr>
          <a:xfrm>
            <a:off x="8191500" y="4210050"/>
            <a:ext cx="2476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24A9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3191CA4-E568-4438-9404-43C2B4287DCA}"/>
              </a:ext>
            </a:extLst>
          </p:cNvPr>
          <p:cNvSpPr>
            <a:spLocks noGrp="1"/>
          </p:cNvSpPr>
          <p:nvPr/>
        </p:nvSpPr>
        <p:spPr>
          <a:xfrm>
            <a:off x="8362950" y="4381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Context Cloze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4D52D14-9C6D-4471-A168-21ADFE9792D9}"/>
              </a:ext>
            </a:extLst>
          </p:cNvPr>
          <p:cNvSpPr>
            <a:spLocks noGrp="1"/>
          </p:cNvSpPr>
          <p:nvPr/>
        </p:nvSpPr>
        <p:spPr>
          <a:xfrm>
            <a:off x="8362950" y="46863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원본에는 없음: LLM 2차 생성 예정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FCD938-2368-4CAE-9551-6BC2979CA79E}"/>
              </a:ext>
            </a:extLst>
          </p:cNvPr>
          <p:cNvSpPr>
            <a:spLocks noGrp="1"/>
          </p:cNvSpPr>
          <p:nvPr/>
        </p:nvSpPr>
        <p:spPr>
          <a:xfrm>
            <a:off x="7010400" y="4629150"/>
            <a:ext cx="110490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DB946BE-F602-48F4-8F94-A703F5BC0584}"/>
              </a:ext>
            </a:extLst>
          </p:cNvPr>
          <p:cNvSpPr>
            <a:spLocks noGrp="1"/>
          </p:cNvSpPr>
          <p:nvPr/>
        </p:nvSpPr>
        <p:spPr>
          <a:xfrm>
            <a:off x="2781300" y="5334000"/>
            <a:ext cx="609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문맥 빈칸(Context Cloze)은 원본 GT에 직접 없으므로 생성 데이터로 별도 versioning</a:t>
            </a:r>
          </a:p>
        </p:txBody>
      </p:sp>
    </p:spTree>
    <p:extLst>
      <p:ext uri="{BB962C8B-B14F-4D97-AF65-F5344CB8AC3E}">
        <p14:creationId xmlns:p14="http://schemas.microsoft.com/office/powerpoint/2010/main" val="212534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B"/>
          </a:solidFill>
          <a:ln w="9525">
            <a:solidFill>
              <a:srgbClr val="F6F8FB"/>
            </a:solidFill>
          </a:ln>
        </p:spPr>
      </p:sp>
      <p:sp>
        <p:nvSpPr>
          <p:cNvPr id="3" name="top bar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4" name="top rule"/>
          <p:cNvSpPr/>
          <p:nvPr/>
        </p:nvSpPr>
        <p:spPr>
          <a:xfrm>
            <a:off x="0" y="841248"/>
            <a:ext cx="12188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5" name="section mark"/>
          <p:cNvSpPr/>
          <p:nvPr/>
        </p:nvSpPr>
        <p:spPr>
          <a:xfrm>
            <a:off x="566928" y="393192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6" name="section label"/>
          <p:cNvSpPr/>
          <p:nvPr/>
        </p:nvSpPr>
        <p:spPr>
          <a:xfrm>
            <a:off x="758952" y="365760"/>
            <a:ext cx="4005072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713" b="1">
                <a:solidFill>
                  <a:srgbClr val="5E6E83"/>
                </a:solidFill>
                <a:latin typeface="Malgun Gothic"/>
                <a:ea typeface="Malgun Gothic"/>
              </a:rPr>
              <a:t>DATA AUGMENTATION</a:t>
            </a:r>
          </a:p>
        </p:txBody>
      </p:sp>
      <p:sp>
        <p:nvSpPr>
          <p:cNvPr id="7" name="page number"/>
          <p:cNvSpPr/>
          <p:nvPr/>
        </p:nvSpPr>
        <p:spPr>
          <a:xfrm>
            <a:off x="11292840" y="347472"/>
            <a:ext cx="365760" cy="1737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ko-KR" sz="750" b="1">
                <a:solidFill>
                  <a:srgbClr val="5E6E83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8" name="title"/>
          <p:cNvSpPr/>
          <p:nvPr/>
        </p:nvSpPr>
        <p:spPr>
          <a:xfrm>
            <a:off x="566928" y="1005840"/>
            <a:ext cx="9509760" cy="56692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175" b="1">
                <a:solidFill>
                  <a:srgbClr val="081A33"/>
                </a:solidFill>
                <a:latin typeface="Malgun Gothic"/>
                <a:ea typeface="Malgun Gothic"/>
              </a:rPr>
              <a:t>Teacher LLM Augmentation</a:t>
            </a:r>
          </a:p>
        </p:txBody>
      </p:sp>
      <p:sp>
        <p:nvSpPr>
          <p:cNvPr id="9" name="bottom rule"/>
          <p:cNvSpPr/>
          <p:nvPr/>
        </p:nvSpPr>
        <p:spPr>
          <a:xfrm>
            <a:off x="566928" y="6153912"/>
            <a:ext cx="11045952" cy="9144"/>
          </a:xfrm>
          <a:prstGeom prst="rect">
            <a:avLst/>
          </a:prstGeom>
          <a:solidFill>
            <a:srgbClr val="DCE3EC"/>
          </a:solidFill>
          <a:ln w="9525">
            <a:solidFill>
              <a:srgbClr val="DCE3EC"/>
            </a:solidFill>
          </a:ln>
        </p:spPr>
      </p:sp>
      <p:sp>
        <p:nvSpPr>
          <p:cNvPr id="10" name="takeaway mark"/>
          <p:cNvSpPr/>
          <p:nvPr/>
        </p:nvSpPr>
        <p:spPr>
          <a:xfrm>
            <a:off x="566928" y="6364224"/>
            <a:ext cx="91440" cy="91440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1" name="takeaway"/>
          <p:cNvSpPr/>
          <p:nvPr/>
        </p:nvSpPr>
        <p:spPr>
          <a:xfrm>
            <a:off x="758952" y="6320535"/>
            <a:ext cx="10012680" cy="26517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핵심: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Teacher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LLM 출력은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GT를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대체하지 않고 </a:t>
            </a:r>
            <a:r>
              <a:rPr lang="ko-KR" sz="900" b="1" dirty="0" err="1">
                <a:solidFill>
                  <a:srgbClr val="081A33"/>
                </a:solidFill>
                <a:latin typeface="Malgun Gothic"/>
                <a:ea typeface="Malgun Gothic"/>
              </a:rPr>
              <a:t>augmentation</a:t>
            </a:r>
            <a:r>
              <a:rPr lang="ko-KR" sz="900" b="1" dirty="0">
                <a:solidFill>
                  <a:srgbClr val="081A33"/>
                </a:solidFill>
                <a:latin typeface="Malgun Gothic"/>
                <a:ea typeface="Malgun Gothic"/>
              </a:rPr>
              <a:t> 후보로 관리</a:t>
            </a:r>
          </a:p>
        </p:txBody>
      </p:sp>
      <p:sp>
        <p:nvSpPr>
          <p:cNvPr id="12" name="card 1"/>
          <p:cNvSpPr/>
          <p:nvPr/>
        </p:nvSpPr>
        <p:spPr>
          <a:xfrm>
            <a:off x="749808" y="1938528"/>
            <a:ext cx="327355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13" name="card accent 1"/>
          <p:cNvSpPr/>
          <p:nvPr/>
        </p:nvSpPr>
        <p:spPr>
          <a:xfrm>
            <a:off x="749808" y="1938528"/>
            <a:ext cx="3273552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4" name="card title 1"/>
          <p:cNvSpPr/>
          <p:nvPr/>
        </p:nvSpPr>
        <p:spPr>
          <a:xfrm>
            <a:off x="1024128" y="23042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10" b="1">
                <a:solidFill>
                  <a:srgbClr val="081A33"/>
                </a:solidFill>
                <a:latin typeface="Malgun Gothic"/>
                <a:ea typeface="Malgun Gothic"/>
              </a:rPr>
              <a:t>01  Raw GT anchor</a:t>
            </a:r>
          </a:p>
        </p:txBody>
      </p:sp>
      <p:sp>
        <p:nvSpPr>
          <p:cNvPr id="15" name="divider 1"/>
          <p:cNvSpPr/>
          <p:nvPr/>
        </p:nvSpPr>
        <p:spPr>
          <a:xfrm>
            <a:off x="1024128" y="274320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16" name="bullet mark"/>
          <p:cNvSpPr/>
          <p:nvPr/>
        </p:nvSpPr>
        <p:spPr>
          <a:xfrm>
            <a:off x="1042416" y="3063240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7" name="bullet text"/>
          <p:cNvSpPr/>
          <p:nvPr/>
        </p:nvSpPr>
        <p:spPr>
          <a:xfrm>
            <a:off x="1225296" y="299923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5E6E83"/>
                </a:solidFill>
                <a:latin typeface="Malgun Gothic"/>
                <a:ea typeface="Malgun Gothic"/>
              </a:rPr>
              <a:t>synonym / antonym / examples 보존</a:t>
            </a:r>
          </a:p>
        </p:txBody>
      </p:sp>
      <p:sp>
        <p:nvSpPr>
          <p:cNvPr id="18" name="bullet mark"/>
          <p:cNvSpPr/>
          <p:nvPr/>
        </p:nvSpPr>
        <p:spPr>
          <a:xfrm>
            <a:off x="1042416" y="349300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19" name="bullet text"/>
          <p:cNvSpPr/>
          <p:nvPr/>
        </p:nvSpPr>
        <p:spPr>
          <a:xfrm>
            <a:off x="1225296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5E6E83"/>
                </a:solidFill>
                <a:latin typeface="Malgun Gothic"/>
                <a:ea typeface="Malgun Gothic"/>
              </a:rPr>
              <a:t>정답 label은 평가 기준으로 유지</a:t>
            </a:r>
          </a:p>
        </p:txBody>
      </p:sp>
      <p:sp>
        <p:nvSpPr>
          <p:cNvPr id="20" name="bullet mark"/>
          <p:cNvSpPr/>
          <p:nvPr/>
        </p:nvSpPr>
        <p:spPr>
          <a:xfrm>
            <a:off x="1042416" y="392277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1" name="bullet text"/>
          <p:cNvSpPr/>
          <p:nvPr/>
        </p:nvSpPr>
        <p:spPr>
          <a:xfrm>
            <a:off x="1225296" y="385876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5E6E83"/>
                </a:solidFill>
                <a:latin typeface="Malgun Gothic"/>
                <a:ea typeface="Malgun Gothic"/>
              </a:rPr>
              <a:t>train / eval split 전 중복 확인</a:t>
            </a:r>
          </a:p>
        </p:txBody>
      </p:sp>
      <p:sp>
        <p:nvSpPr>
          <p:cNvPr id="22" name="arrow 1"/>
          <p:cNvSpPr/>
          <p:nvPr/>
        </p:nvSpPr>
        <p:spPr>
          <a:xfrm>
            <a:off x="4178808" y="31546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850" b="1">
                <a:solidFill>
                  <a:srgbClr val="24A9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3" name="card 2"/>
          <p:cNvSpPr/>
          <p:nvPr/>
        </p:nvSpPr>
        <p:spPr>
          <a:xfrm>
            <a:off x="4443984" y="1938528"/>
            <a:ext cx="3273552" cy="301752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</a:ln>
        </p:spPr>
      </p:sp>
      <p:sp>
        <p:nvSpPr>
          <p:cNvPr id="24" name="card accent 2"/>
          <p:cNvSpPr/>
          <p:nvPr/>
        </p:nvSpPr>
        <p:spPr>
          <a:xfrm>
            <a:off x="4443984" y="1938528"/>
            <a:ext cx="3273552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5" name="card title 2"/>
          <p:cNvSpPr/>
          <p:nvPr/>
        </p:nvSpPr>
        <p:spPr>
          <a:xfrm>
            <a:off x="4718304" y="23042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10" b="1">
                <a:solidFill>
                  <a:srgbClr val="FFFFFF"/>
                </a:solidFill>
                <a:latin typeface="Malgun Gothic"/>
                <a:ea typeface="Malgun Gothic"/>
              </a:rPr>
              <a:t>02  Teacher LLM</a:t>
            </a:r>
          </a:p>
        </p:txBody>
      </p:sp>
      <p:sp>
        <p:nvSpPr>
          <p:cNvPr id="26" name="divider 2"/>
          <p:cNvSpPr/>
          <p:nvPr/>
        </p:nvSpPr>
        <p:spPr>
          <a:xfrm>
            <a:off x="4718304" y="274320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27" name="bullet mark"/>
          <p:cNvSpPr/>
          <p:nvPr/>
        </p:nvSpPr>
        <p:spPr>
          <a:xfrm>
            <a:off x="4736592" y="3063240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28" name="bullet text"/>
          <p:cNvSpPr/>
          <p:nvPr/>
        </p:nvSpPr>
        <p:spPr>
          <a:xfrm>
            <a:off x="4919472" y="299923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D9E6F2"/>
                </a:solidFill>
                <a:latin typeface="Malgun Gothic"/>
                <a:ea typeface="Malgun Gothic"/>
              </a:rPr>
              <a:t>context cloze 후보 생성</a:t>
            </a:r>
          </a:p>
        </p:txBody>
      </p:sp>
      <p:sp>
        <p:nvSpPr>
          <p:cNvPr id="29" name="bullet mark"/>
          <p:cNvSpPr/>
          <p:nvPr/>
        </p:nvSpPr>
        <p:spPr>
          <a:xfrm>
            <a:off x="4736592" y="349300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0" name="bullet text"/>
          <p:cNvSpPr/>
          <p:nvPr/>
        </p:nvSpPr>
        <p:spPr>
          <a:xfrm>
            <a:off x="4919472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altLang="en-US" sz="860" dirty="0">
                <a:solidFill>
                  <a:srgbClr val="D9E6F2"/>
                </a:solidFill>
                <a:latin typeface="Malgun Gothic"/>
                <a:ea typeface="Malgun Gothic"/>
              </a:rPr>
              <a:t>오답 후보</a:t>
            </a:r>
            <a:r>
              <a:rPr lang="en-US" altLang="ko-KR" sz="860" dirty="0">
                <a:solidFill>
                  <a:srgbClr val="D9E6F2"/>
                </a:solidFill>
                <a:latin typeface="Malgun Gothic"/>
                <a:ea typeface="Malgun Gothic"/>
              </a:rPr>
              <a:t>/</a:t>
            </a:r>
            <a:r>
              <a:rPr lang="ko-KR" altLang="en-US" sz="860">
                <a:solidFill>
                  <a:srgbClr val="D9E6F2"/>
                </a:solidFill>
                <a:latin typeface="Malgun Gothic"/>
                <a:ea typeface="Malgun Gothic"/>
              </a:rPr>
              <a:t>근거 생성</a:t>
            </a:r>
            <a:endParaRPr lang="ko-KR" sz="860" dirty="0">
              <a:solidFill>
                <a:srgbClr val="D9E6F2"/>
              </a:solidFill>
              <a:latin typeface="Malgun Gothic"/>
              <a:ea typeface="Malgun Gothic"/>
            </a:endParaRPr>
          </a:p>
        </p:txBody>
      </p:sp>
      <p:sp>
        <p:nvSpPr>
          <p:cNvPr id="31" name="bullet mark"/>
          <p:cNvSpPr/>
          <p:nvPr/>
        </p:nvSpPr>
        <p:spPr>
          <a:xfrm>
            <a:off x="4736592" y="3922776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2" name="bullet text"/>
          <p:cNvSpPr/>
          <p:nvPr/>
        </p:nvSpPr>
        <p:spPr>
          <a:xfrm>
            <a:off x="4919472" y="3858768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 dirty="0" err="1">
                <a:solidFill>
                  <a:srgbClr val="D9E6F2"/>
                </a:solidFill>
                <a:latin typeface="Malgun Gothic"/>
                <a:ea typeface="Malgun Gothic"/>
              </a:rPr>
              <a:t>soft</a:t>
            </a:r>
            <a:r>
              <a:rPr lang="ko-KR" sz="860" dirty="0">
                <a:solidFill>
                  <a:srgbClr val="D9E6F2"/>
                </a:solidFill>
                <a:latin typeface="Malgun Gothic"/>
                <a:ea typeface="Malgun Gothic"/>
              </a:rPr>
              <a:t> </a:t>
            </a:r>
            <a:r>
              <a:rPr lang="ko-KR" sz="860" dirty="0" err="1">
                <a:solidFill>
                  <a:srgbClr val="D9E6F2"/>
                </a:solidFill>
                <a:latin typeface="Malgun Gothic"/>
                <a:ea typeface="Malgun Gothic"/>
              </a:rPr>
              <a:t>label</a:t>
            </a:r>
            <a:r>
              <a:rPr lang="ko-KR" sz="860" dirty="0">
                <a:solidFill>
                  <a:srgbClr val="D9E6F2"/>
                </a:solidFill>
                <a:latin typeface="Malgun Gothic"/>
                <a:ea typeface="Malgun Gothic"/>
              </a:rPr>
              <a:t> / </a:t>
            </a:r>
            <a:r>
              <a:rPr lang="ko-KR" sz="860" dirty="0" err="1">
                <a:solidFill>
                  <a:srgbClr val="D9E6F2"/>
                </a:solidFill>
                <a:latin typeface="Malgun Gothic"/>
                <a:ea typeface="Malgun Gothic"/>
              </a:rPr>
              <a:t>candidate</a:t>
            </a:r>
            <a:r>
              <a:rPr lang="ko-KR" sz="860" dirty="0">
                <a:solidFill>
                  <a:srgbClr val="D9E6F2"/>
                </a:solidFill>
                <a:latin typeface="Malgun Gothic"/>
                <a:ea typeface="Malgun Gothic"/>
              </a:rPr>
              <a:t> </a:t>
            </a:r>
            <a:r>
              <a:rPr lang="ko-KR" sz="860" dirty="0" err="1">
                <a:solidFill>
                  <a:srgbClr val="D9E6F2"/>
                </a:solidFill>
                <a:latin typeface="Malgun Gothic"/>
                <a:ea typeface="Malgun Gothic"/>
              </a:rPr>
              <a:t>score</a:t>
            </a:r>
            <a:r>
              <a:rPr lang="ko-KR" sz="860" dirty="0">
                <a:solidFill>
                  <a:srgbClr val="D9E6F2"/>
                </a:solidFill>
                <a:latin typeface="Malgun Gothic"/>
                <a:ea typeface="Malgun Gothic"/>
              </a:rPr>
              <a:t> 제공</a:t>
            </a:r>
          </a:p>
        </p:txBody>
      </p:sp>
      <p:sp>
        <p:nvSpPr>
          <p:cNvPr id="33" name="arrow 2"/>
          <p:cNvSpPr/>
          <p:nvPr/>
        </p:nvSpPr>
        <p:spPr>
          <a:xfrm>
            <a:off x="7872984" y="3154680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850" b="1">
                <a:solidFill>
                  <a:srgbClr val="24A99A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4" name="card 3"/>
          <p:cNvSpPr/>
          <p:nvPr/>
        </p:nvSpPr>
        <p:spPr>
          <a:xfrm>
            <a:off x="8138160" y="1938528"/>
            <a:ext cx="327355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</a:ln>
        </p:spPr>
      </p:sp>
      <p:sp>
        <p:nvSpPr>
          <p:cNvPr id="35" name="card accent 3"/>
          <p:cNvSpPr/>
          <p:nvPr/>
        </p:nvSpPr>
        <p:spPr>
          <a:xfrm>
            <a:off x="8138160" y="1938528"/>
            <a:ext cx="3273552" cy="73152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6" name="card title 3"/>
          <p:cNvSpPr/>
          <p:nvPr/>
        </p:nvSpPr>
        <p:spPr>
          <a:xfrm>
            <a:off x="8412480" y="23042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210" b="1">
                <a:solidFill>
                  <a:srgbClr val="081A33"/>
                </a:solidFill>
                <a:latin typeface="Malgun Gothic"/>
                <a:ea typeface="Malgun Gothic"/>
              </a:rPr>
              <a:t>03  Augmented set</a:t>
            </a:r>
          </a:p>
        </p:txBody>
      </p:sp>
      <p:sp>
        <p:nvSpPr>
          <p:cNvPr id="37" name="divider 3"/>
          <p:cNvSpPr/>
          <p:nvPr/>
        </p:nvSpPr>
        <p:spPr>
          <a:xfrm>
            <a:off x="8412480" y="2743200"/>
            <a:ext cx="2377440" cy="18288"/>
          </a:xfrm>
          <a:prstGeom prst="rect">
            <a:avLst/>
          </a:prstGeom>
          <a:solidFill>
            <a:srgbClr val="C8D3E0"/>
          </a:solidFill>
          <a:ln w="9525">
            <a:solidFill>
              <a:srgbClr val="C8D3E0"/>
            </a:solidFill>
          </a:ln>
        </p:spPr>
      </p:sp>
      <p:sp>
        <p:nvSpPr>
          <p:cNvPr id="38" name="bullet mark"/>
          <p:cNvSpPr/>
          <p:nvPr/>
        </p:nvSpPr>
        <p:spPr>
          <a:xfrm>
            <a:off x="8430768" y="3063240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39" name="bullet text"/>
          <p:cNvSpPr/>
          <p:nvPr/>
        </p:nvSpPr>
        <p:spPr>
          <a:xfrm>
            <a:off x="8613648" y="2999232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5E6E83"/>
                </a:solidFill>
                <a:latin typeface="Malgun Gothic"/>
                <a:ea typeface="Malgun Gothic"/>
              </a:rPr>
              <a:t>SFT / KD 학습 후보로 사용</a:t>
            </a:r>
          </a:p>
        </p:txBody>
      </p:sp>
      <p:sp>
        <p:nvSpPr>
          <p:cNvPr id="40" name="bullet mark"/>
          <p:cNvSpPr/>
          <p:nvPr/>
        </p:nvSpPr>
        <p:spPr>
          <a:xfrm>
            <a:off x="8430768" y="3493008"/>
            <a:ext cx="64008" cy="64008"/>
          </a:xfrm>
          <a:prstGeom prst="rect">
            <a:avLst/>
          </a:prstGeom>
          <a:solidFill>
            <a:srgbClr val="24A99A"/>
          </a:solidFill>
          <a:ln w="9525">
            <a:solidFill>
              <a:srgbClr val="24A99A"/>
            </a:solidFill>
          </a:ln>
        </p:spPr>
      </p:sp>
      <p:sp>
        <p:nvSpPr>
          <p:cNvPr id="41" name="bullet text"/>
          <p:cNvSpPr/>
          <p:nvPr/>
        </p:nvSpPr>
        <p:spPr>
          <a:xfrm>
            <a:off x="8613648" y="3429000"/>
            <a:ext cx="2578608" cy="29260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860">
                <a:solidFill>
                  <a:srgbClr val="5E6E83"/>
                </a:solidFill>
                <a:latin typeface="Malgun Gothic"/>
                <a:ea typeface="Malgun Gothic"/>
              </a:rPr>
              <a:t>embedding KD scorer 학습 신호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>
            <a:extLst>
              <a:ext uri="{FF2B5EF4-FFF2-40B4-BE49-F238E27FC236}">
                <a16:creationId xmlns:a16="http://schemas.microsoft.com/office/drawing/2014/main" id="{F834D692-165B-4572-909D-0948507990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E5FD85F7-B9BC-43F6-81ED-E201C0262A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6C31E08-9F6A-4423-9FB5-86C447834B2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B8FA280D-BAD4-4E1A-86C6-D46B6B3EFA8B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513CEF3A-CB47-4F09-9909-C04C7D7BF87B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TASK DEFINITION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DEC87D-F636-4A8C-BA8B-5DE19E1B8282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E608D6A-0368-4AAB-8A3D-AD0862D70440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Task Format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29FD77-DC62-4D44-8B04-A064ACE75890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F09907-FB5C-462B-95D7-4E260D18610D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885C654-778A-469A-9F76-2DE14CE7C4D5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response path와 discriminative scoring path를 함께 비교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DAFAB6-5F63-487F-A8C5-92ADD487E1BC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285750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920487-1DBC-42B9-B5D6-645971B8EA9A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514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Input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92BB0C-F7A5-49B3-95B3-68D569028BF6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51460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TOEIC business word</a:t>
            </a:r>
          </a:p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예시문장</a:t>
            </a: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문맥</a:t>
            </a: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(context)</a:t>
            </a:r>
          </a:p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문항</a:t>
            </a: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유형</a:t>
            </a:r>
            <a:r>
              <a:rPr sz="938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(type)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07E754D-C5D7-4D04-8489-B05E6C732A46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87630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1CFB98-56D3-4ED8-81FC-A15C754A03D7}"/>
              </a:ext>
            </a:extLst>
          </p:cNvPr>
          <p:cNvSpPr>
            <a:spLocks noGrp="1"/>
          </p:cNvSpPr>
          <p:nvPr/>
        </p:nvSpPr>
        <p:spPr>
          <a:xfrm>
            <a:off x="4476750" y="2057400"/>
            <a:ext cx="2628900" cy="123825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24E504-9E94-49DE-B51B-B4517E8B4FE9}"/>
              </a:ext>
            </a:extLst>
          </p:cNvPr>
          <p:cNvSpPr>
            <a:spLocks noGrp="1"/>
          </p:cNvSpPr>
          <p:nvPr/>
        </p:nvSpPr>
        <p:spPr>
          <a:xfrm>
            <a:off x="4648200" y="22288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Response 기반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2EFF4D-A839-46BE-B5B4-5E3ED9849904}"/>
              </a:ext>
            </a:extLst>
          </p:cNvPr>
          <p:cNvSpPr>
            <a:spLocks noGrp="1"/>
          </p:cNvSpPr>
          <p:nvPr/>
        </p:nvSpPr>
        <p:spPr>
          <a:xfrm>
            <a:off x="4648200" y="25717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모델이 정답/오답 판별과 설명을 직접 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D8FAED-8F6B-42B9-AF96-0F454A7A2868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2628900" cy="123825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C12A0B-B289-4951-855B-7A1E99F14EC7}"/>
              </a:ext>
            </a:extLst>
          </p:cNvPr>
          <p:cNvSpPr>
            <a:spLocks noGrp="1"/>
          </p:cNvSpPr>
          <p:nvPr/>
        </p:nvSpPr>
        <p:spPr>
          <a:xfrm>
            <a:off x="4648200" y="37909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Embedding 기반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3389F4-5085-4D0F-AB4B-76C4013ED96E}"/>
              </a:ext>
            </a:extLst>
          </p:cNvPr>
          <p:cNvSpPr>
            <a:spLocks noGrp="1"/>
          </p:cNvSpPr>
          <p:nvPr/>
        </p:nvSpPr>
        <p:spPr>
          <a:xfrm>
            <a:off x="4648200" y="4133850"/>
            <a:ext cx="2286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mxbai threshold / MLP scorer / cross-encoder 후보 점수화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10A476-9295-4C0C-9119-C367BD4056F9}"/>
              </a:ext>
            </a:extLst>
          </p:cNvPr>
          <p:cNvSpPr>
            <a:spLocks noGrp="1"/>
          </p:cNvSpPr>
          <p:nvPr/>
        </p:nvSpPr>
        <p:spPr>
          <a:xfrm>
            <a:off x="7105650" y="2667000"/>
            <a:ext cx="8191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F8EC6D-8377-46BC-BEF0-884D410F21AF}"/>
              </a:ext>
            </a:extLst>
          </p:cNvPr>
          <p:cNvSpPr>
            <a:spLocks noGrp="1"/>
          </p:cNvSpPr>
          <p:nvPr/>
        </p:nvSpPr>
        <p:spPr>
          <a:xfrm>
            <a:off x="7105650" y="4248150"/>
            <a:ext cx="8191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3BED0E-6013-424F-8AA8-692B7986EDAD}"/>
              </a:ext>
            </a:extLst>
          </p:cNvPr>
          <p:cNvSpPr>
            <a:spLocks noGrp="1"/>
          </p:cNvSpPr>
          <p:nvPr/>
        </p:nvSpPr>
        <p:spPr>
          <a:xfrm>
            <a:off x="7924800" y="2305050"/>
            <a:ext cx="3143250" cy="20955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4D70449-5EF6-47E1-A1DE-0C69B9514E8B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BFAE0B-E544-4E21-9C3D-7D1DA9715BAB}"/>
              </a:ext>
            </a:extLst>
          </p:cNvPr>
          <p:cNvSpPr>
            <a:spLocks noGrp="1"/>
          </p:cNvSpPr>
          <p:nvPr/>
        </p:nvSpPr>
        <p:spPr>
          <a:xfrm>
            <a:off x="8096250" y="2819400"/>
            <a:ext cx="28003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정답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index / confidence</a:t>
            </a:r>
          </a:p>
          <a:p>
            <a:pPr algn="l">
              <a:def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의미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설명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(meaning explanation)</a:t>
            </a:r>
          </a:p>
          <a:p>
            <a:pPr algn="l">
              <a:def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오답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소거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(distractor elimination)</a:t>
            </a:r>
          </a:p>
          <a:p>
            <a:pPr algn="l">
              <a:defRPr sz="93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후보별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점수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또는</a:t>
            </a:r>
            <a:r>
              <a:rPr sz="938" b="0" dirty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38" b="0" dirty="0" err="1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근거</a:t>
            </a:r>
            <a:endParaRPr sz="938" b="0" dirty="0">
              <a:solidFill>
                <a:srgbClr val="D9E6F2"/>
              </a:solidFill>
              <a:latin typeface="Malgun Gothic"/>
              <a:ea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4825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ackground">
            <a:extLst>
              <a:ext uri="{FF2B5EF4-FFF2-40B4-BE49-F238E27FC236}">
                <a16:creationId xmlns:a16="http://schemas.microsoft.com/office/drawing/2014/main" id="{87E6DE46-49DB-40A8-A093-7C18BEE0EF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931A0470-E8AC-4E96-B42C-98A08C1D53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DF8EB99-001E-40BF-BF2B-F899BD30833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59BBA2B7-1088-4C65-B67B-6B2BD47C8597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45EFC9CC-975D-4FB4-85B4-97942A386591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SUB-TASK DESIGN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C598B27-63D9-4F2E-B807-A57B8920E366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26138A-16BD-4592-B557-5892E3C62C3F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Sub-tasks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448868F-200C-432E-8FD2-01BA1022C784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CD9E39-8966-4670-B035-066D02EDBF75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46F225A-8B33-4023-8B25-3DC10FF91BAB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context cloze는 예시문장 기반 LLM 2차 생성 데이터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8C60F8-343A-4182-A61F-E33AC35561CF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2476500" cy="4000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775E81-D2F4-4DA3-B94C-ACAB1DBB32EC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2247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Sub-task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0B9C0D-E2FB-4296-8A04-9A13C17E7D9D}"/>
              </a:ext>
            </a:extLst>
          </p:cNvPr>
          <p:cNvSpPr>
            <a:spLocks noGrp="1"/>
          </p:cNvSpPr>
          <p:nvPr/>
        </p:nvSpPr>
        <p:spPr>
          <a:xfrm>
            <a:off x="3143250" y="2076450"/>
            <a:ext cx="4953000" cy="4000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83AAE7A-79DB-4883-BF0F-DB2BC6CF7BD0}"/>
              </a:ext>
            </a:extLst>
          </p:cNvPr>
          <p:cNvSpPr>
            <a:spLocks noGrp="1"/>
          </p:cNvSpPr>
          <p:nvPr/>
        </p:nvSpPr>
        <p:spPr>
          <a:xfrm>
            <a:off x="3257550" y="2171700"/>
            <a:ext cx="472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B05406D-BDDA-48DE-9A8D-75A1297FCD3A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2857500" cy="4000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7B4524-6CC2-44F8-96A2-1D0F3D1E0C50}"/>
              </a:ext>
            </a:extLst>
          </p:cNvPr>
          <p:cNvSpPr>
            <a:spLocks noGrp="1"/>
          </p:cNvSpPr>
          <p:nvPr/>
        </p:nvSpPr>
        <p:spPr>
          <a:xfrm>
            <a:off x="8210550" y="2171700"/>
            <a:ext cx="2628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A755538-BFF8-47F3-BC4A-FB1CBA2CA81B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476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E216D93-EF07-4C6D-B688-386518568CA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247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동의어 선택</a:t>
            </a:r>
          </a:p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(Synonym)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8D34B4-97D8-4986-B9CE-9236EAE89304}"/>
              </a:ext>
            </a:extLst>
          </p:cNvPr>
          <p:cNvSpPr>
            <a:spLocks noGrp="1"/>
          </p:cNvSpPr>
          <p:nvPr/>
        </p:nvSpPr>
        <p:spPr>
          <a:xfrm>
            <a:off x="3143250" y="2476500"/>
            <a:ext cx="49530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B03180-F0C9-4D34-8039-22B64C0B2892}"/>
              </a:ext>
            </a:extLst>
          </p:cNvPr>
          <p:cNvSpPr>
            <a:spLocks noGrp="1"/>
          </p:cNvSpPr>
          <p:nvPr/>
        </p:nvSpPr>
        <p:spPr>
          <a:xfrm>
            <a:off x="3257550" y="2571750"/>
            <a:ext cx="4724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choose closest TOEIC business synonym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8B2FF3-6EFB-4F89-B066-D675E9658229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2857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FEB71F7-291E-4EEA-A777-26D38E10A0CE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2628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Accuracy, F1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1E53608-F9AE-4766-AD75-85286936162F}"/>
              </a:ext>
            </a:extLst>
          </p:cNvPr>
          <p:cNvSpPr>
            <a:spLocks noGrp="1"/>
          </p:cNvSpPr>
          <p:nvPr/>
        </p:nvSpPr>
        <p:spPr>
          <a:xfrm>
            <a:off x="666750" y="3086100"/>
            <a:ext cx="2476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FF2789E-CEF4-4277-8D03-950534F424B2}"/>
              </a:ext>
            </a:extLst>
          </p:cNvPr>
          <p:cNvSpPr>
            <a:spLocks noGrp="1"/>
          </p:cNvSpPr>
          <p:nvPr/>
        </p:nvSpPr>
        <p:spPr>
          <a:xfrm>
            <a:off x="781050" y="3181350"/>
            <a:ext cx="2247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반의어 선택</a:t>
            </a:r>
          </a:p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(Antonym)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56F944C-6877-4E71-A802-9B947A2F8438}"/>
              </a:ext>
            </a:extLst>
          </p:cNvPr>
          <p:cNvSpPr>
            <a:spLocks noGrp="1"/>
          </p:cNvSpPr>
          <p:nvPr/>
        </p:nvSpPr>
        <p:spPr>
          <a:xfrm>
            <a:off x="3143250" y="3086100"/>
            <a:ext cx="4953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E599ABB-C20E-456A-A575-15913BB5E9A2}"/>
              </a:ext>
            </a:extLst>
          </p:cNvPr>
          <p:cNvSpPr>
            <a:spLocks noGrp="1"/>
          </p:cNvSpPr>
          <p:nvPr/>
        </p:nvSpPr>
        <p:spPr>
          <a:xfrm>
            <a:off x="3257550" y="3181350"/>
            <a:ext cx="4724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choose opposite meaning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2DE426-4C19-4A3B-88A2-24D4010AFAB0}"/>
              </a:ext>
            </a:extLst>
          </p:cNvPr>
          <p:cNvSpPr>
            <a:spLocks noGrp="1"/>
          </p:cNvSpPr>
          <p:nvPr/>
        </p:nvSpPr>
        <p:spPr>
          <a:xfrm>
            <a:off x="8096250" y="3086100"/>
            <a:ext cx="2857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CF513DC-4211-4383-85B3-6075F9F1510E}"/>
              </a:ext>
            </a:extLst>
          </p:cNvPr>
          <p:cNvSpPr>
            <a:spLocks noGrp="1"/>
          </p:cNvSpPr>
          <p:nvPr/>
        </p:nvSpPr>
        <p:spPr>
          <a:xfrm>
            <a:off x="8210550" y="3181350"/>
            <a:ext cx="2628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598109-3354-4A9D-A542-3C6FB1128349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2476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98BEAE4-C144-4EA1-B681-A31BFEEA0067}"/>
              </a:ext>
            </a:extLst>
          </p:cNvPr>
          <p:cNvSpPr>
            <a:spLocks noGrp="1"/>
          </p:cNvSpPr>
          <p:nvPr/>
        </p:nvSpPr>
        <p:spPr>
          <a:xfrm>
            <a:off x="781050" y="3790950"/>
            <a:ext cx="2247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문맥 빈칸</a:t>
            </a:r>
          </a:p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(Context Cloze)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8D822BD-B382-4C5E-BE65-FAE7C2C47841}"/>
              </a:ext>
            </a:extLst>
          </p:cNvPr>
          <p:cNvSpPr>
            <a:spLocks noGrp="1"/>
          </p:cNvSpPr>
          <p:nvPr/>
        </p:nvSpPr>
        <p:spPr>
          <a:xfrm>
            <a:off x="3143250" y="3695700"/>
            <a:ext cx="49530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0E98EF-8748-407A-9183-59A982FB84D2}"/>
              </a:ext>
            </a:extLst>
          </p:cNvPr>
          <p:cNvSpPr>
            <a:spLocks noGrp="1"/>
          </p:cNvSpPr>
          <p:nvPr/>
        </p:nvSpPr>
        <p:spPr>
          <a:xfrm>
            <a:off x="3257550" y="3790950"/>
            <a:ext cx="4724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business email / schedule / contract context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8CC1308-B17F-4662-A92F-15F6DEA72078}"/>
              </a:ext>
            </a:extLst>
          </p:cNvPr>
          <p:cNvSpPr>
            <a:spLocks noGrp="1"/>
          </p:cNvSpPr>
          <p:nvPr/>
        </p:nvSpPr>
        <p:spPr>
          <a:xfrm>
            <a:off x="8096250" y="3695700"/>
            <a:ext cx="2857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64368E7-06FE-4E0D-ADAA-1EC7D8206DE0}"/>
              </a:ext>
            </a:extLst>
          </p:cNvPr>
          <p:cNvSpPr>
            <a:spLocks noGrp="1"/>
          </p:cNvSpPr>
          <p:nvPr/>
        </p:nvSpPr>
        <p:spPr>
          <a:xfrm>
            <a:off x="8210550" y="3790950"/>
            <a:ext cx="2628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163D47D-B926-4DCD-84B8-3406A9BAE833}"/>
              </a:ext>
            </a:extLst>
          </p:cNvPr>
          <p:cNvSpPr>
            <a:spLocks noGrp="1"/>
          </p:cNvSpPr>
          <p:nvPr/>
        </p:nvSpPr>
        <p:spPr>
          <a:xfrm>
            <a:off x="666750" y="4305300"/>
            <a:ext cx="2476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C02F993-B17E-4427-A77A-BE14ED0F9358}"/>
              </a:ext>
            </a:extLst>
          </p:cNvPr>
          <p:cNvSpPr>
            <a:spLocks noGrp="1"/>
          </p:cNvSpPr>
          <p:nvPr/>
        </p:nvSpPr>
        <p:spPr>
          <a:xfrm>
            <a:off x="781050" y="4400550"/>
            <a:ext cx="2247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의미 설명</a:t>
            </a:r>
          </a:p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(Meaning Explanation)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79BED3E-38A8-4329-8881-40104482CDE9}"/>
              </a:ext>
            </a:extLst>
          </p:cNvPr>
          <p:cNvSpPr>
            <a:spLocks noGrp="1"/>
          </p:cNvSpPr>
          <p:nvPr/>
        </p:nvSpPr>
        <p:spPr>
          <a:xfrm>
            <a:off x="3143250" y="4305300"/>
            <a:ext cx="4953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B371A48-6CB0-4A10-A61D-74FCD51E17DF}"/>
              </a:ext>
            </a:extLst>
          </p:cNvPr>
          <p:cNvSpPr>
            <a:spLocks noGrp="1"/>
          </p:cNvSpPr>
          <p:nvPr/>
        </p:nvSpPr>
        <p:spPr>
          <a:xfrm>
            <a:off x="3257550" y="4400550"/>
            <a:ext cx="4724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단어 의미를 한국어로 설명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2D3181F-2873-44A3-8571-32FC7FA8764F}"/>
              </a:ext>
            </a:extLst>
          </p:cNvPr>
          <p:cNvSpPr>
            <a:spLocks noGrp="1"/>
          </p:cNvSpPr>
          <p:nvPr/>
        </p:nvSpPr>
        <p:spPr>
          <a:xfrm>
            <a:off x="8096250" y="4305300"/>
            <a:ext cx="28575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4F46454-EE4C-434D-AA73-9AB1DD518020}"/>
              </a:ext>
            </a:extLst>
          </p:cNvPr>
          <p:cNvSpPr>
            <a:spLocks noGrp="1"/>
          </p:cNvSpPr>
          <p:nvPr/>
        </p:nvSpPr>
        <p:spPr>
          <a:xfrm>
            <a:off x="8210550" y="4400550"/>
            <a:ext cx="2628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LLM judge + human spot check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BFDF028-EC8A-440B-BC45-4204DB4EDBA5}"/>
              </a:ext>
            </a:extLst>
          </p:cNvPr>
          <p:cNvSpPr>
            <a:spLocks noGrp="1"/>
          </p:cNvSpPr>
          <p:nvPr/>
        </p:nvSpPr>
        <p:spPr>
          <a:xfrm>
            <a:off x="666750" y="4914900"/>
            <a:ext cx="2476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C4B83B5-3A7A-45E2-8D76-A80B1F103637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2247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오답 소거</a:t>
            </a:r>
          </a:p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(Distractor Elimination)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BDE4A1E-CA38-441A-8B65-5F71AFE55460}"/>
              </a:ext>
            </a:extLst>
          </p:cNvPr>
          <p:cNvSpPr>
            <a:spLocks noGrp="1"/>
          </p:cNvSpPr>
          <p:nvPr/>
        </p:nvSpPr>
        <p:spPr>
          <a:xfrm>
            <a:off x="3143250" y="4914900"/>
            <a:ext cx="49530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C686307-657C-4827-9245-E1755E257D44}"/>
              </a:ext>
            </a:extLst>
          </p:cNvPr>
          <p:cNvSpPr>
            <a:spLocks noGrp="1"/>
          </p:cNvSpPr>
          <p:nvPr/>
        </p:nvSpPr>
        <p:spPr>
          <a:xfrm>
            <a:off x="3257550" y="5010150"/>
            <a:ext cx="47244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왜 나머지 선택지가 틀렸는지 설명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FE45D32-ADF3-4742-9DC0-29E33F2F06B6}"/>
              </a:ext>
            </a:extLst>
          </p:cNvPr>
          <p:cNvSpPr>
            <a:spLocks noGrp="1"/>
          </p:cNvSpPr>
          <p:nvPr/>
        </p:nvSpPr>
        <p:spPr>
          <a:xfrm>
            <a:off x="8096250" y="4914900"/>
            <a:ext cx="285750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06A5AC7-6A46-4101-BDC7-A18CE6D5D539}"/>
              </a:ext>
            </a:extLst>
          </p:cNvPr>
          <p:cNvSpPr>
            <a:spLocks noGrp="1"/>
          </p:cNvSpPr>
          <p:nvPr/>
        </p:nvSpPr>
        <p:spPr>
          <a:xfrm>
            <a:off x="8210550" y="5010150"/>
            <a:ext cx="26289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reasoning faithfulness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A21297A-F5D3-45FE-8EF3-00E163D50725}"/>
              </a:ext>
            </a:extLst>
          </p:cNvPr>
          <p:cNvSpPr>
            <a:spLocks noGrp="1"/>
          </p:cNvSpPr>
          <p:nvPr/>
        </p:nvSpPr>
        <p:spPr>
          <a:xfrm>
            <a:off x="3848100" y="5715000"/>
            <a:ext cx="447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Context Cloze는 예시문장 기반 LLM 2차 생성 데이터</a:t>
            </a:r>
          </a:p>
        </p:txBody>
      </p:sp>
    </p:spTree>
    <p:extLst>
      <p:ext uri="{BB962C8B-B14F-4D97-AF65-F5344CB8AC3E}">
        <p14:creationId xmlns:p14="http://schemas.microsoft.com/office/powerpoint/2010/main" val="1754127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ackground">
            <a:extLst>
              <a:ext uri="{FF2B5EF4-FFF2-40B4-BE49-F238E27FC236}">
                <a16:creationId xmlns:a16="http://schemas.microsoft.com/office/drawing/2014/main" id="{98F185C6-53B5-4BA3-9E5A-BCE750EF73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150B74DB-6FDA-4B1D-81E0-53BCF4438B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FA6612-BCDC-4C1D-A15A-0C839328680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802A537B-4E4F-4DA4-9781-B92431B3E285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EB93D49-95C6-4FB5-849C-C93401168E6D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DATA PIPELINE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CE2EED-1757-4026-A044-C5297E1E15C9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B9ED537-3124-457B-9748-74809DFC9066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Validation Pipeline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A272C6-6147-48CD-B42D-EEAD1743D74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17C3F0-3E0E-498B-B7BF-5BC60C88CB5A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1D571DC-7F23-472B-9BEA-972FC00DEF13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생성 데이터 품질을 pipeline 단계에서 통제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B1C7E94-A04E-4B6E-8988-1CCC92793B44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6764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65F7532-6A25-44BD-A381-D0A3F31CCD4E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BE8036-D2E0-4EE5-80D7-407F346018CD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Raw GT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B00545-9224-49F0-A2E9-4DDAF88AF692}"/>
              </a:ext>
            </a:extLst>
          </p:cNvPr>
          <p:cNvSpPr>
            <a:spLocks noGrp="1"/>
          </p:cNvSpPr>
          <p:nvPr/>
        </p:nvSpPr>
        <p:spPr>
          <a:xfrm>
            <a:off x="838200" y="33909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동의어 / 반의어 / 예시문장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2E2F9A-BE81-4EA0-8ACD-A5258BF0F8A9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764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4F0C37A-D3AE-44B7-8F56-F8904C5A57F9}"/>
              </a:ext>
            </a:extLst>
          </p:cNvPr>
          <p:cNvSpPr>
            <a:spLocks noGrp="1"/>
          </p:cNvSpPr>
          <p:nvPr/>
        </p:nvSpPr>
        <p:spPr>
          <a:xfrm>
            <a:off x="2990850" y="32956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F10CA2-C770-40C6-B6D8-934B476E2CEB}"/>
              </a:ext>
            </a:extLst>
          </p:cNvPr>
          <p:cNvSpPr>
            <a:spLocks noGrp="1"/>
          </p:cNvSpPr>
          <p:nvPr/>
        </p:nvSpPr>
        <p:spPr>
          <a:xfrm>
            <a:off x="2990850" y="356235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LLM 생성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E457D9-0960-451D-B0CA-F64EEAB5F6DE}"/>
              </a:ext>
            </a:extLst>
          </p:cNvPr>
          <p:cNvSpPr>
            <a:spLocks noGrp="1"/>
          </p:cNvSpPr>
          <p:nvPr/>
        </p:nvSpPr>
        <p:spPr>
          <a:xfrm>
            <a:off x="2990850" y="398145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context cloze 후보 생성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3350414-C011-4A0D-BA04-B019A25E10FE}"/>
              </a:ext>
            </a:extLst>
          </p:cNvPr>
          <p:cNvSpPr>
            <a:spLocks noGrp="1"/>
          </p:cNvSpPr>
          <p:nvPr/>
        </p:nvSpPr>
        <p:spPr>
          <a:xfrm>
            <a:off x="4991100" y="2552700"/>
            <a:ext cx="16764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28548A-B473-4249-81E5-7192FA976A97}"/>
              </a:ext>
            </a:extLst>
          </p:cNvPr>
          <p:cNvSpPr>
            <a:spLocks noGrp="1"/>
          </p:cNvSpPr>
          <p:nvPr/>
        </p:nvSpPr>
        <p:spPr>
          <a:xfrm>
            <a:off x="5143500" y="27051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0E3EFFA-D8C8-462B-B6BA-F15CD8691ED8}"/>
              </a:ext>
            </a:extLst>
          </p:cNvPr>
          <p:cNvSpPr>
            <a:spLocks noGrp="1"/>
          </p:cNvSpPr>
          <p:nvPr/>
        </p:nvSpPr>
        <p:spPr>
          <a:xfrm>
            <a:off x="5143500" y="297180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자동 필터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261A19-5B49-438E-8788-B1CF92F89544}"/>
              </a:ext>
            </a:extLst>
          </p:cNvPr>
          <p:cNvSpPr>
            <a:spLocks noGrp="1"/>
          </p:cNvSpPr>
          <p:nvPr/>
        </p:nvSpPr>
        <p:spPr>
          <a:xfrm>
            <a:off x="5143500" y="33909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중복 / 모호 / 난이도 이상치 제거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289142C-3653-48F2-8DAB-5CBDE1A17421}"/>
              </a:ext>
            </a:extLst>
          </p:cNvPr>
          <p:cNvSpPr>
            <a:spLocks noGrp="1"/>
          </p:cNvSpPr>
          <p:nvPr/>
        </p:nvSpPr>
        <p:spPr>
          <a:xfrm>
            <a:off x="7143750" y="3143250"/>
            <a:ext cx="1676400" cy="12954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8DDE0C4-12CA-4011-A19C-4F6849071543}"/>
              </a:ext>
            </a:extLst>
          </p:cNvPr>
          <p:cNvSpPr>
            <a:spLocks noGrp="1"/>
          </p:cNvSpPr>
          <p:nvPr/>
        </p:nvSpPr>
        <p:spPr>
          <a:xfrm>
            <a:off x="7296150" y="329565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8E70AA5-3D7C-4E8B-9EDC-6DD15AEB192F}"/>
              </a:ext>
            </a:extLst>
          </p:cNvPr>
          <p:cNvSpPr>
            <a:spLocks noGrp="1"/>
          </p:cNvSpPr>
          <p:nvPr/>
        </p:nvSpPr>
        <p:spPr>
          <a:xfrm>
            <a:off x="7296150" y="356235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Teacher 검수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117F5DF-42A9-4F3A-B8A9-29901F8B9FF0}"/>
              </a:ext>
            </a:extLst>
          </p:cNvPr>
          <p:cNvSpPr>
            <a:spLocks noGrp="1"/>
          </p:cNvSpPr>
          <p:nvPr/>
        </p:nvSpPr>
        <p:spPr>
          <a:xfrm>
            <a:off x="7296150" y="398145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LLM-as-a-judge 1차 품질 평가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ED52226-ED2D-4DB1-B84D-F9E45410A7BA}"/>
              </a:ext>
            </a:extLst>
          </p:cNvPr>
          <p:cNvSpPr>
            <a:spLocks noGrp="1"/>
          </p:cNvSpPr>
          <p:nvPr/>
        </p:nvSpPr>
        <p:spPr>
          <a:xfrm>
            <a:off x="9296400" y="2552700"/>
            <a:ext cx="16764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17EA52A-0BBA-4056-8E21-175611628513}"/>
              </a:ext>
            </a:extLst>
          </p:cNvPr>
          <p:cNvSpPr>
            <a:spLocks noGrp="1"/>
          </p:cNvSpPr>
          <p:nvPr/>
        </p:nvSpPr>
        <p:spPr>
          <a:xfrm>
            <a:off x="9448800" y="2705100"/>
            <a:ext cx="361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572E7A1-BC7B-4829-A888-FAFC846583F8}"/>
              </a:ext>
            </a:extLst>
          </p:cNvPr>
          <p:cNvSpPr>
            <a:spLocks noGrp="1"/>
          </p:cNvSpPr>
          <p:nvPr/>
        </p:nvSpPr>
        <p:spPr>
          <a:xfrm>
            <a:off x="9448800" y="2971800"/>
            <a:ext cx="13144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Human spot check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89CABFD-3557-4D1A-9137-531A1F84AEAB}"/>
              </a:ext>
            </a:extLst>
          </p:cNvPr>
          <p:cNvSpPr>
            <a:spLocks noGrp="1"/>
          </p:cNvSpPr>
          <p:nvPr/>
        </p:nvSpPr>
        <p:spPr>
          <a:xfrm>
            <a:off x="9448800" y="339090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표본 검수와 rubric 보정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949E90C-E07A-4203-8C6B-BF526B598DF3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8382000" cy="514350"/>
          </a:xfrm>
          <a:prstGeom prst="rect">
            <a:avLst/>
          </a:prstGeom>
          <a:solidFill>
            <a:srgbClr val="EAF8F6"/>
          </a:solidFill>
          <a:ln w="9525">
            <a:solidFill>
              <a:srgbClr val="D8F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0D327D1-C35A-49ED-9F4E-B57D0CFC6A1F}"/>
              </a:ext>
            </a:extLst>
          </p:cNvPr>
          <p:cNvSpPr>
            <a:spLocks noGrp="1"/>
          </p:cNvSpPr>
          <p:nvPr/>
        </p:nvSpPr>
        <p:spPr>
          <a:xfrm>
            <a:off x="2114550" y="514350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quality gates: duplicate removal · ambiguity check · teacher/judge validation · human spot check</a:t>
            </a:r>
          </a:p>
        </p:txBody>
      </p:sp>
      <p:sp>
        <p:nvSpPr>
          <p:cNvPr id="15" name="connector-15"/>
          <p:cNvSpPr>
            <a:spLocks noGrp="1"/>
          </p:cNvSpPr>
          <p:nvPr/>
        </p:nvSpPr>
        <p:spPr>
          <a:xfrm>
            <a:off x="2419350" y="3190875"/>
            <a:ext cx="2857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5" name="connector-dot-15"/>
          <p:cNvSpPr>
            <a:spLocks noGrp="1"/>
          </p:cNvSpPr>
          <p:nvPr/>
        </p:nvSpPr>
        <p:spPr>
          <a:xfrm>
            <a:off x="2743200" y="3171825"/>
            <a:ext cx="57150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1" name="connector-21"/>
          <p:cNvSpPr>
            <a:spLocks noGrp="1"/>
          </p:cNvSpPr>
          <p:nvPr/>
        </p:nvSpPr>
        <p:spPr>
          <a:xfrm>
            <a:off x="4591050" y="3781425"/>
            <a:ext cx="2857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1" name="connector-dot-21"/>
          <p:cNvSpPr>
            <a:spLocks noGrp="1"/>
          </p:cNvSpPr>
          <p:nvPr/>
        </p:nvSpPr>
        <p:spPr>
          <a:xfrm>
            <a:off x="4914900" y="3762375"/>
            <a:ext cx="57150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27" name="connector-27"/>
          <p:cNvSpPr>
            <a:spLocks noGrp="1"/>
          </p:cNvSpPr>
          <p:nvPr/>
        </p:nvSpPr>
        <p:spPr>
          <a:xfrm>
            <a:off x="6724650" y="3190875"/>
            <a:ext cx="2857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7" name="connector-dot-27"/>
          <p:cNvSpPr>
            <a:spLocks noGrp="1"/>
          </p:cNvSpPr>
          <p:nvPr/>
        </p:nvSpPr>
        <p:spPr>
          <a:xfrm>
            <a:off x="7048500" y="3171825"/>
            <a:ext cx="57150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33" name="connector-33"/>
          <p:cNvSpPr>
            <a:spLocks noGrp="1"/>
          </p:cNvSpPr>
          <p:nvPr/>
        </p:nvSpPr>
        <p:spPr>
          <a:xfrm>
            <a:off x="8877300" y="3781425"/>
            <a:ext cx="2857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33" name="connector-dot-33"/>
          <p:cNvSpPr>
            <a:spLocks noGrp="1"/>
          </p:cNvSpPr>
          <p:nvPr/>
        </p:nvSpPr>
        <p:spPr>
          <a:xfrm>
            <a:off x="9201150" y="3762375"/>
            <a:ext cx="57150" cy="66675"/>
          </a:xfrm>
          <a:prstGeom prst="rect">
            <a:avLst/>
          </a:prstGeom>
          <a:solidFill>
            <a:srgbClr val="24A99A"/>
          </a:solidFill>
          <a:ln w="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635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ackground">
            <a:extLst>
              <a:ext uri="{FF2B5EF4-FFF2-40B4-BE49-F238E27FC236}">
                <a16:creationId xmlns:a16="http://schemas.microsoft.com/office/drawing/2014/main" id="{B563C870-0EA6-4408-91C0-524991DB36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3E9B0278-20BA-4145-A6C2-D7679D528D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C31432-4BE0-4F70-8266-2B96A8BDAB6A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B31C0FF8-862A-4C45-8537-3C28E202A6D4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B9A76C7-6385-4B2E-BF61-A3F7BD306ADD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MODEL GROUPS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D6D665-BB7D-4579-AEAB-FEFF58475495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3F81EF-6383-49B5-AF8C-F0B374584346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Model Groups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DDD1E0-4587-4A6A-8B6C-A5FEB76833A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CA5D41-4075-4359-B8AE-6E089FCF7C56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1534AE-B986-46B4-A07B-21855F007F93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teacher와 discriminative baseline을 함께 기준선으로 사용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735F59A-E428-4352-BBEC-3FC36A9F3B4F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2000250" cy="4191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68B630D-1852-4EBA-AA40-E9B04A357E99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D3BA0C-4A29-4530-99E5-3DF41FA17C50}"/>
              </a:ext>
            </a:extLst>
          </p:cNvPr>
          <p:cNvSpPr>
            <a:spLocks noGrp="1"/>
          </p:cNvSpPr>
          <p:nvPr/>
        </p:nvSpPr>
        <p:spPr>
          <a:xfrm>
            <a:off x="2705100" y="2000250"/>
            <a:ext cx="4095750" cy="4191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20D40E6-805C-455D-9CB6-4225E520493B}"/>
              </a:ext>
            </a:extLst>
          </p:cNvPr>
          <p:cNvSpPr>
            <a:spLocks noGrp="1"/>
          </p:cNvSpPr>
          <p:nvPr/>
        </p:nvSpPr>
        <p:spPr>
          <a:xfrm>
            <a:off x="2819400" y="2095500"/>
            <a:ext cx="3867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0DFEDFA-A3EA-4952-A4A1-8CD4A9C21CCD}"/>
              </a:ext>
            </a:extLst>
          </p:cNvPr>
          <p:cNvSpPr>
            <a:spLocks noGrp="1"/>
          </p:cNvSpPr>
          <p:nvPr/>
        </p:nvSpPr>
        <p:spPr>
          <a:xfrm>
            <a:off x="6800850" y="2000250"/>
            <a:ext cx="4095750" cy="4191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3398592-470D-40B5-B08B-361A9539D380}"/>
              </a:ext>
            </a:extLst>
          </p:cNvPr>
          <p:cNvSpPr>
            <a:spLocks noGrp="1"/>
          </p:cNvSpPr>
          <p:nvPr/>
        </p:nvSpPr>
        <p:spPr>
          <a:xfrm>
            <a:off x="6915150" y="2095500"/>
            <a:ext cx="3867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F6BC6A9-C4E8-4253-88D2-B206559EC71F}"/>
              </a:ext>
            </a:extLst>
          </p:cNvPr>
          <p:cNvSpPr>
            <a:spLocks noGrp="1"/>
          </p:cNvSpPr>
          <p:nvPr/>
        </p:nvSpPr>
        <p:spPr>
          <a:xfrm>
            <a:off x="704850" y="2419350"/>
            <a:ext cx="2000250" cy="60960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3D325D-AFEA-4630-AA83-4A2BE1303E5D}"/>
              </a:ext>
            </a:extLst>
          </p:cNvPr>
          <p:cNvSpPr>
            <a:spLocks noGrp="1"/>
          </p:cNvSpPr>
          <p:nvPr/>
        </p:nvSpPr>
        <p:spPr>
          <a:xfrm>
            <a:off x="819150" y="2514600"/>
            <a:ext cx="1771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Teacher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923153-8E25-4149-BEBC-5ED13BFB0249}"/>
              </a:ext>
            </a:extLst>
          </p:cNvPr>
          <p:cNvSpPr>
            <a:spLocks noGrp="1"/>
          </p:cNvSpPr>
          <p:nvPr/>
        </p:nvSpPr>
        <p:spPr>
          <a:xfrm>
            <a:off x="2705100" y="2419350"/>
            <a:ext cx="4095750" cy="60960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09A81C-0C27-42DD-A70A-2485740F64B7}"/>
              </a:ext>
            </a:extLst>
          </p:cNvPr>
          <p:cNvSpPr>
            <a:spLocks noGrp="1"/>
          </p:cNvSpPr>
          <p:nvPr/>
        </p:nvSpPr>
        <p:spPr>
          <a:xfrm>
            <a:off x="2819400" y="25146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GPT-4급 / Claude급 / 대형 LLM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367E90-BCCD-41F2-AD31-B3F72805925C}"/>
              </a:ext>
            </a:extLst>
          </p:cNvPr>
          <p:cNvSpPr>
            <a:spLocks noGrp="1"/>
          </p:cNvSpPr>
          <p:nvPr/>
        </p:nvSpPr>
        <p:spPr>
          <a:xfrm>
            <a:off x="6800850" y="2419350"/>
            <a:ext cx="4095750" cy="60960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550998-9CEC-4044-B7D4-03EC719CAF1F}"/>
              </a:ext>
            </a:extLst>
          </p:cNvPr>
          <p:cNvSpPr>
            <a:spLocks noGrp="1"/>
          </p:cNvSpPr>
          <p:nvPr/>
        </p:nvSpPr>
        <p:spPr>
          <a:xfrm>
            <a:off x="6915150" y="25146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상한 성능 측정, pseudo-label source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A81264B-E026-46AC-A1B0-7D0E4656453E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2000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999D6F9-03AA-42D5-8834-58079E844D4F}"/>
              </a:ext>
            </a:extLst>
          </p:cNvPr>
          <p:cNvSpPr>
            <a:spLocks noGrp="1"/>
          </p:cNvSpPr>
          <p:nvPr/>
        </p:nvSpPr>
        <p:spPr>
          <a:xfrm>
            <a:off x="819150" y="3124200"/>
            <a:ext cx="1771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zero-shot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2A0C47-B5BC-4852-AB97-F0CBA33E9AC2}"/>
              </a:ext>
            </a:extLst>
          </p:cNvPr>
          <p:cNvSpPr>
            <a:spLocks noGrp="1"/>
          </p:cNvSpPr>
          <p:nvPr/>
        </p:nvSpPr>
        <p:spPr>
          <a:xfrm>
            <a:off x="2705100" y="30289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2723AF4-FB96-4776-B6AB-16AA00424839}"/>
              </a:ext>
            </a:extLst>
          </p:cNvPr>
          <p:cNvSpPr>
            <a:spLocks noGrp="1"/>
          </p:cNvSpPr>
          <p:nvPr/>
        </p:nvSpPr>
        <p:spPr>
          <a:xfrm>
            <a:off x="2819400" y="31242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1B~3B 모델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DB4F0BB-9EAF-4B54-B25B-DD773806FF85}"/>
              </a:ext>
            </a:extLst>
          </p:cNvPr>
          <p:cNvSpPr>
            <a:spLocks noGrp="1"/>
          </p:cNvSpPr>
          <p:nvPr/>
        </p:nvSpPr>
        <p:spPr>
          <a:xfrm>
            <a:off x="6800850" y="30289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EE8BB2A-A284-44B2-B880-85627B092050}"/>
              </a:ext>
            </a:extLst>
          </p:cNvPr>
          <p:cNvSpPr>
            <a:spLocks noGrp="1"/>
          </p:cNvSpPr>
          <p:nvPr/>
        </p:nvSpPr>
        <p:spPr>
          <a:xfrm>
            <a:off x="6915150" y="31242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generative LM 기본 성능 확인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B9A02C1-38F8-47C7-9E6E-98D3591C43E0}"/>
              </a:ext>
            </a:extLst>
          </p:cNvPr>
          <p:cNvSpPr>
            <a:spLocks noGrp="1"/>
          </p:cNvSpPr>
          <p:nvPr/>
        </p:nvSpPr>
        <p:spPr>
          <a:xfrm>
            <a:off x="704850" y="3638550"/>
            <a:ext cx="20002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EE2FFDF-F3F4-4A68-9EF2-A73836A6DFA8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771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SFT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3947448-BDEA-4751-9D54-26D27351D5DC}"/>
              </a:ext>
            </a:extLst>
          </p:cNvPr>
          <p:cNvSpPr>
            <a:spLocks noGrp="1"/>
          </p:cNvSpPr>
          <p:nvPr/>
        </p:nvSpPr>
        <p:spPr>
          <a:xfrm>
            <a:off x="2705100" y="3638550"/>
            <a:ext cx="40957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027252-04EE-4C52-96E4-89DCBA143C46}"/>
              </a:ext>
            </a:extLst>
          </p:cNvPr>
          <p:cNvSpPr>
            <a:spLocks noGrp="1"/>
          </p:cNvSpPr>
          <p:nvPr/>
        </p:nvSpPr>
        <p:spPr>
          <a:xfrm>
            <a:off x="2819400" y="37338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GT 2,000개 fine-tuning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C476047-6E6A-431D-B2E0-F182EEE8A485}"/>
              </a:ext>
            </a:extLst>
          </p:cNvPr>
          <p:cNvSpPr>
            <a:spLocks noGrp="1"/>
          </p:cNvSpPr>
          <p:nvPr/>
        </p:nvSpPr>
        <p:spPr>
          <a:xfrm>
            <a:off x="6800850" y="3638550"/>
            <a:ext cx="40957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7E5F3A6-4DF4-45AA-BC73-0A01D6B4B0E2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GT 학습 + KD 적용 가능 경로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037B01-CF00-458B-AABA-42F7067758AB}"/>
              </a:ext>
            </a:extLst>
          </p:cNvPr>
          <p:cNvSpPr>
            <a:spLocks noGrp="1"/>
          </p:cNvSpPr>
          <p:nvPr/>
        </p:nvSpPr>
        <p:spPr>
          <a:xfrm>
            <a:off x="704850" y="4248150"/>
            <a:ext cx="2000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04482DB-0300-4B2B-9072-B8B6AE7C381D}"/>
              </a:ext>
            </a:extLst>
          </p:cNvPr>
          <p:cNvSpPr>
            <a:spLocks noGrp="1"/>
          </p:cNvSpPr>
          <p:nvPr/>
        </p:nvSpPr>
        <p:spPr>
          <a:xfrm>
            <a:off x="819150" y="4343400"/>
            <a:ext cx="1771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KD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54A08C2-9E6A-4B32-BA3F-25E95CEBF1C4}"/>
              </a:ext>
            </a:extLst>
          </p:cNvPr>
          <p:cNvSpPr>
            <a:spLocks noGrp="1"/>
          </p:cNvSpPr>
          <p:nvPr/>
        </p:nvSpPr>
        <p:spPr>
          <a:xfrm>
            <a:off x="2705100" y="42481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E7DDE2-77EB-4A4A-AB6B-75B3B9627C16}"/>
              </a:ext>
            </a:extLst>
          </p:cNvPr>
          <p:cNvSpPr>
            <a:spLocks noGrp="1"/>
          </p:cNvSpPr>
          <p:nvPr/>
        </p:nvSpPr>
        <p:spPr>
          <a:xfrm>
            <a:off x="2819400" y="43434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Response KD / mxbai+LLM → KD embedding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E1EC1FC-F134-4A04-AFEA-3C2B9610268A}"/>
              </a:ext>
            </a:extLst>
          </p:cNvPr>
          <p:cNvSpPr>
            <a:spLocks noGrp="1"/>
          </p:cNvSpPr>
          <p:nvPr/>
        </p:nvSpPr>
        <p:spPr>
          <a:xfrm>
            <a:off x="6800850" y="4248150"/>
            <a:ext cx="4095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4B2BA29-4397-4DFA-BC14-39607EE7CD86}"/>
              </a:ext>
            </a:extLst>
          </p:cNvPr>
          <p:cNvSpPr>
            <a:spLocks noGrp="1"/>
          </p:cNvSpPr>
          <p:nvPr/>
        </p:nvSpPr>
        <p:spPr>
          <a:xfrm>
            <a:off x="6915150" y="43434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SFT/embedding 경로 모두에서 KD 효과 확인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A259A73-4D6D-4665-A3CD-E5EF4A5EE92A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20002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C43239E-0EC3-4FF6-B8D8-7AF3E35477FD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7716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KD + Quant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AE870B-860D-461B-BA28-3FA961102A52}"/>
              </a:ext>
            </a:extLst>
          </p:cNvPr>
          <p:cNvSpPr>
            <a:spLocks noGrp="1"/>
          </p:cNvSpPr>
          <p:nvPr/>
        </p:nvSpPr>
        <p:spPr>
          <a:xfrm>
            <a:off x="2705100" y="4857750"/>
            <a:ext cx="40957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84B60B-EA9C-42FD-8C2D-C5280C8FACFA}"/>
              </a:ext>
            </a:extLst>
          </p:cNvPr>
          <p:cNvSpPr>
            <a:spLocks noGrp="1"/>
          </p:cNvSpPr>
          <p:nvPr/>
        </p:nvSpPr>
        <p:spPr>
          <a:xfrm>
            <a:off x="2819400" y="49530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8bit / 4bit quantization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2F0DA2A-6E00-4DBF-946C-E2EBF966F837}"/>
              </a:ext>
            </a:extLst>
          </p:cNvPr>
          <p:cNvSpPr>
            <a:spLocks noGrp="1"/>
          </p:cNvSpPr>
          <p:nvPr/>
        </p:nvSpPr>
        <p:spPr>
          <a:xfrm>
            <a:off x="6800850" y="4857750"/>
            <a:ext cx="4095750" cy="60960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59C63FB-CDE9-4FAD-839E-3389712DC62D}"/>
              </a:ext>
            </a:extLst>
          </p:cNvPr>
          <p:cNvSpPr>
            <a:spLocks noGrp="1"/>
          </p:cNvSpPr>
          <p:nvPr/>
        </p:nvSpPr>
        <p:spPr>
          <a:xfrm>
            <a:off x="6915150" y="4953000"/>
            <a:ext cx="3867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경량화 후 성능 유지 확인</a:t>
            </a:r>
          </a:p>
        </p:txBody>
      </p:sp>
    </p:spTree>
    <p:extLst>
      <p:ext uri="{BB962C8B-B14F-4D97-AF65-F5344CB8AC3E}">
        <p14:creationId xmlns:p14="http://schemas.microsoft.com/office/powerpoint/2010/main" val="573014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">
            <a:extLst>
              <a:ext uri="{FF2B5EF4-FFF2-40B4-BE49-F238E27FC236}">
                <a16:creationId xmlns:a16="http://schemas.microsoft.com/office/drawing/2014/main" id="{589A659B-2F34-4F78-8B37-DA721BDDD3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4072C08F-6E2B-45FC-B9AC-4CDBEFECE0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7C4684A-BBA1-4D53-8819-81981C01699C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67C333A9-2501-4909-A26B-7CAD0FBE765D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221443A4-0A4F-46E0-B979-48C0EC34C8A5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TRAINING STRATEGY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D1E862-245C-4C06-A65D-C3F18544C547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5C8101-A78B-44DA-AB2D-EB4ADCB48D75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SFT / Embedding KD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B01AFF-B3F7-486B-B888-A5ECA775B915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76D9EA-2D5E-41DA-A363-D6C214BF5457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F9039E-701F-4878-AC3C-7B7AC0348922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KD는 SFT path와 embedding path 모두에 적용 가능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D99416-57FB-41C7-8EDA-051CB33D9247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91465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1E190-29F6-49F6-BE9C-74CE2F0DB26B}"/>
              </a:ext>
            </a:extLst>
          </p:cNvPr>
          <p:cNvSpPr>
            <a:spLocks noGrp="1"/>
          </p:cNvSpPr>
          <p:nvPr/>
        </p:nvSpPr>
        <p:spPr>
          <a:xfrm>
            <a:off x="1085850" y="25717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SFT</a:t>
            </a:r>
          </a:p>
          <a:p>
            <a:pPr algn="ctr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(Supervised Fine-Tuning)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373F548-29C5-41BA-8650-C29565E39FA8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96215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7BF5A3-B3A6-4A59-9FE3-19471B7188F0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GT 정답 label 학습 + KD 적용 가능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F2B029-FD79-42C9-A6E4-13581510C742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효과: zero-shot 대비 기본 성능 개선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BE42A4-4782-4416-A448-7F0C7B311B9E}"/>
              </a:ext>
            </a:extLst>
          </p:cNvPr>
          <p:cNvSpPr>
            <a:spLocks noGrp="1"/>
          </p:cNvSpPr>
          <p:nvPr/>
        </p:nvSpPr>
        <p:spPr>
          <a:xfrm>
            <a:off x="3790950" y="3524250"/>
            <a:ext cx="5905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FA3A53-BF67-46E6-B152-F03424996701}"/>
              </a:ext>
            </a:extLst>
          </p:cNvPr>
          <p:cNvSpPr>
            <a:spLocks noGrp="1"/>
          </p:cNvSpPr>
          <p:nvPr/>
        </p:nvSpPr>
        <p:spPr>
          <a:xfrm>
            <a:off x="4296883" y="3401533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F9CB74D-D101-42F2-8725-70E45E4AD24A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2914650" cy="24003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B9EFD38-F7AB-4B26-9156-8853828CD7BC}"/>
              </a:ext>
            </a:extLst>
          </p:cNvPr>
          <p:cNvSpPr>
            <a:spLocks noGrp="1"/>
          </p:cNvSpPr>
          <p:nvPr/>
        </p:nvSpPr>
        <p:spPr>
          <a:xfrm>
            <a:off x="4591050" y="25717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KD</a:t>
            </a:r>
          </a:p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(Knowledge Distillation)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13B01E-CADC-4B98-B691-DEFF754F72CC}"/>
              </a:ext>
            </a:extLst>
          </p:cNvPr>
          <p:cNvSpPr>
            <a:spLocks noGrp="1"/>
          </p:cNvSpPr>
          <p:nvPr/>
        </p:nvSpPr>
        <p:spPr>
          <a:xfrm>
            <a:off x="4857750" y="3257550"/>
            <a:ext cx="1962150" cy="190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86901C6-E192-4C4A-A795-CAC92BC1A7D6}"/>
              </a:ext>
            </a:extLst>
          </p:cNvPr>
          <p:cNvSpPr>
            <a:spLocks noGrp="1"/>
          </p:cNvSpPr>
          <p:nvPr/>
        </p:nvSpPr>
        <p:spPr>
          <a:xfrm>
            <a:off x="4648200" y="35052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mxbai+LLM signal → KD embedding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5DB5E9-62A1-4F79-B0C8-1A81123A87CD}"/>
              </a:ext>
            </a:extLst>
          </p:cNvPr>
          <p:cNvSpPr>
            <a:spLocks noGrp="1"/>
          </p:cNvSpPr>
          <p:nvPr/>
        </p:nvSpPr>
        <p:spPr>
          <a:xfrm>
            <a:off x="4648200" y="40957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효과: SFT와 embedding scorer에 teacher signal 전달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4C252F3-1827-4243-B5E3-42232404BB43}"/>
              </a:ext>
            </a:extLst>
          </p:cNvPr>
          <p:cNvSpPr>
            <a:spLocks noGrp="1"/>
          </p:cNvSpPr>
          <p:nvPr/>
        </p:nvSpPr>
        <p:spPr>
          <a:xfrm>
            <a:off x="7296150" y="3524250"/>
            <a:ext cx="59055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8D08BC-FE3A-4070-8541-9092261BE3B2}"/>
              </a:ext>
            </a:extLst>
          </p:cNvPr>
          <p:cNvSpPr>
            <a:spLocks noGrp="1"/>
          </p:cNvSpPr>
          <p:nvPr/>
        </p:nvSpPr>
        <p:spPr>
          <a:xfrm>
            <a:off x="7802083" y="3401533"/>
            <a:ext cx="19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65D0BD3-E5C0-4BE6-85D2-B3A38F01AAF7}"/>
              </a:ext>
            </a:extLst>
          </p:cNvPr>
          <p:cNvSpPr>
            <a:spLocks noGrp="1"/>
          </p:cNvSpPr>
          <p:nvPr/>
        </p:nvSpPr>
        <p:spPr>
          <a:xfrm>
            <a:off x="7886700" y="2324100"/>
            <a:ext cx="2914650" cy="24003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870D1E6-C533-4489-82CC-330681518E24}"/>
              </a:ext>
            </a:extLst>
          </p:cNvPr>
          <p:cNvSpPr>
            <a:spLocks noGrp="1"/>
          </p:cNvSpPr>
          <p:nvPr/>
        </p:nvSpPr>
        <p:spPr>
          <a:xfrm>
            <a:off x="8096250" y="2571750"/>
            <a:ext cx="2476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Quantization</a:t>
            </a:r>
          </a:p>
          <a:p>
            <a:pPr algn="ctr">
              <a:def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(8bit / 4bit)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9C1E72-6BBA-437D-8575-381038BFAA65}"/>
              </a:ext>
            </a:extLst>
          </p:cNvPr>
          <p:cNvSpPr>
            <a:spLocks noGrp="1"/>
          </p:cNvSpPr>
          <p:nvPr/>
        </p:nvSpPr>
        <p:spPr>
          <a:xfrm>
            <a:off x="8362950" y="3257550"/>
            <a:ext cx="1962150" cy="19050"/>
          </a:xfrm>
          <a:prstGeom prst="rect">
            <a:avLst/>
          </a:prstGeom>
          <a:solidFill>
            <a:srgbClr val="C8D3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B91503D-BC9E-4C11-AC97-3FE6F3AACBD2}"/>
              </a:ext>
            </a:extLst>
          </p:cNvPr>
          <p:cNvSpPr>
            <a:spLocks noGrp="1"/>
          </p:cNvSpPr>
          <p:nvPr/>
        </p:nvSpPr>
        <p:spPr>
          <a:xfrm>
            <a:off x="8153400" y="3505200"/>
            <a:ext cx="2381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학습/KD 이후 8bit·4bit 경량화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E35E80A-F99B-46AD-B197-49B3CC390766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효과: VRAM/RAM과 latency 절감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48F1F9C-DF0E-4095-9A00-2641AF3C8F49}"/>
              </a:ext>
            </a:extLst>
          </p:cNvPr>
          <p:cNvSpPr>
            <a:spLocks noGrp="1"/>
          </p:cNvSpPr>
          <p:nvPr/>
        </p:nvSpPr>
        <p:spPr>
          <a:xfrm>
            <a:off x="1714500" y="514350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비교 관점: SFT path KD · embedding path KD · quantization 후 성능 보존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3B2DD5E-BE65-46C1-A6C0-6FEBE46DEDEF}"/>
              </a:ext>
            </a:extLst>
          </p:cNvPr>
          <p:cNvSpPr>
            <a:spLocks noGrp="1"/>
          </p:cNvSpPr>
          <p:nvPr/>
        </p:nvSpPr>
        <p:spPr>
          <a:xfrm>
            <a:off x="7772400" y="5772150"/>
            <a:ext cx="342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Refs: Hinton et al. 2015; Dettmers et al. 2023.</a:t>
            </a:r>
          </a:p>
        </p:txBody>
      </p:sp>
    </p:spTree>
    <p:extLst>
      <p:ext uri="{BB962C8B-B14F-4D97-AF65-F5344CB8AC3E}">
        <p14:creationId xmlns:p14="http://schemas.microsoft.com/office/powerpoint/2010/main" val="1741910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ackground">
            <a:extLst>
              <a:ext uri="{FF2B5EF4-FFF2-40B4-BE49-F238E27FC236}">
                <a16:creationId xmlns:a16="http://schemas.microsoft.com/office/drawing/2014/main" id="{03D6D2AF-C71A-43FB-B6DF-E9C002D5AE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4EFAB871-E5F2-4CC9-A515-B7AB17EC0B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54FC2E-B012-43A1-B20D-F0163EE33B59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EAD35109-A2F9-44B1-B0E1-0B4E3E2009CA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F8FEF0DF-5750-4135-8E78-43B25260A34F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EVALUATION METRICS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5AED8FC-A936-4B70-92EC-4ED03C60D79D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2E7F5E-B2FF-45B4-9D61-075836EDF5FC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Metrics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1C3FE2-E5CD-4A84-ACCA-C91E03F54F9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F97C2D-F1FD-4CF9-A903-C60C77D50BE4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87AF45-F9C5-41AA-B6E8-28FF4C11D1AC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품질 지표와 운영 지표를 함께 확인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63797AE-771D-4193-854B-5C6437A04769}"/>
              </a:ext>
            </a:extLst>
          </p:cNvPr>
          <p:cNvSpPr>
            <a:spLocks noGrp="1"/>
          </p:cNvSpPr>
          <p:nvPr/>
        </p:nvSpPr>
        <p:spPr>
          <a:xfrm>
            <a:off x="704850" y="2190750"/>
            <a:ext cx="4953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DBE607-3677-4344-B8D9-9F4902CB1374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Quality metrics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11DA3E8-3877-4A60-B19D-00DD10C3A352}"/>
              </a:ext>
            </a:extLst>
          </p:cNvPr>
          <p:cNvSpPr>
            <a:spLocks noGrp="1"/>
          </p:cNvSpPr>
          <p:nvPr/>
        </p:nvSpPr>
        <p:spPr>
          <a:xfrm>
            <a:off x="971550" y="30765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024F72-1779-41AB-9656-0E8027FADF7F}"/>
              </a:ext>
            </a:extLst>
          </p:cNvPr>
          <p:cNvSpPr>
            <a:spLocks noGrp="1"/>
          </p:cNvSpPr>
          <p:nvPr/>
        </p:nvSpPr>
        <p:spPr>
          <a:xfrm>
            <a:off x="1181100" y="30099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Accuracy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2B75A0-5B53-4497-9C2A-3B916BEE9750}"/>
              </a:ext>
            </a:extLst>
          </p:cNvPr>
          <p:cNvSpPr>
            <a:spLocks noGrp="1"/>
          </p:cNvSpPr>
          <p:nvPr/>
        </p:nvSpPr>
        <p:spPr>
          <a:xfrm>
            <a:off x="3086100" y="30099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기본 정답률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DA63F4-3B3C-4A0E-A416-F29FDB360D7F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FE0459-4103-44F7-A5EB-5CE69B7DF97B}"/>
              </a:ext>
            </a:extLst>
          </p:cNvPr>
          <p:cNvSpPr>
            <a:spLocks noGrp="1"/>
          </p:cNvSpPr>
          <p:nvPr/>
        </p:nvSpPr>
        <p:spPr>
          <a:xfrm>
            <a:off x="1181100" y="35052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Macro-F1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437D38-6747-4191-93D3-D1B3A833C8B3}"/>
              </a:ext>
            </a:extLst>
          </p:cNvPr>
          <p:cNvSpPr>
            <a:spLocks noGrp="1"/>
          </p:cNvSpPr>
          <p:nvPr/>
        </p:nvSpPr>
        <p:spPr>
          <a:xfrm>
            <a:off x="3086100" y="35052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품사/유형 불균형 대응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C24D62-12FD-4751-B475-D714BD4AC278}"/>
              </a:ext>
            </a:extLst>
          </p:cNvPr>
          <p:cNvSpPr>
            <a:spLocks noGrp="1"/>
          </p:cNvSpPr>
          <p:nvPr/>
        </p:nvSpPr>
        <p:spPr>
          <a:xfrm>
            <a:off x="971550" y="40671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C4FCB3-C071-4BF8-A4E0-D4A9EFF203C1}"/>
              </a:ext>
            </a:extLst>
          </p:cNvPr>
          <p:cNvSpPr>
            <a:spLocks noGrp="1"/>
          </p:cNvSpPr>
          <p:nvPr/>
        </p:nvSpPr>
        <p:spPr>
          <a:xfrm>
            <a:off x="1181100" y="40005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ECE / Calibration Error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EE695A-B051-4125-93BC-057AD7C80264}"/>
              </a:ext>
            </a:extLst>
          </p:cNvPr>
          <p:cNvSpPr>
            <a:spLocks noGrp="1"/>
          </p:cNvSpPr>
          <p:nvPr/>
        </p:nvSpPr>
        <p:spPr>
          <a:xfrm>
            <a:off x="3086100" y="40005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confidence가 믿을 만한지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A1154FD-11FF-4873-B3D9-E8927205842F}"/>
              </a:ext>
            </a:extLst>
          </p:cNvPr>
          <p:cNvSpPr>
            <a:spLocks noGrp="1"/>
          </p:cNvSpPr>
          <p:nvPr/>
        </p:nvSpPr>
        <p:spPr>
          <a:xfrm>
            <a:off x="6534150" y="2190750"/>
            <a:ext cx="4953000" cy="31432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9259EDD-5DA9-43AF-80B4-4D5099BAEA8A}"/>
              </a:ext>
            </a:extLst>
          </p:cNvPr>
          <p:cNvSpPr>
            <a:spLocks noGrp="1"/>
          </p:cNvSpPr>
          <p:nvPr/>
        </p:nvSpPr>
        <p:spPr>
          <a:xfrm>
            <a:off x="6781800" y="245745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Efficiency metrics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2136324-D0DC-45EE-B341-48E1A39E2BEF}"/>
              </a:ext>
            </a:extLst>
          </p:cNvPr>
          <p:cNvSpPr>
            <a:spLocks noGrp="1"/>
          </p:cNvSpPr>
          <p:nvPr/>
        </p:nvSpPr>
        <p:spPr>
          <a:xfrm>
            <a:off x="6800850" y="30765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7BA01CF-EEAC-4477-92A6-E6BFCF1AC528}"/>
              </a:ext>
            </a:extLst>
          </p:cNvPr>
          <p:cNvSpPr>
            <a:spLocks noGrp="1"/>
          </p:cNvSpPr>
          <p:nvPr/>
        </p:nvSpPr>
        <p:spPr>
          <a:xfrm>
            <a:off x="7010400" y="30099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latency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F2AB60-FBE9-434D-BCA0-4BB21CF8FD51}"/>
              </a:ext>
            </a:extLst>
          </p:cNvPr>
          <p:cNvSpPr>
            <a:spLocks noGrp="1"/>
          </p:cNvSpPr>
          <p:nvPr/>
        </p:nvSpPr>
        <p:spPr>
          <a:xfrm>
            <a:off x="8915400" y="30099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응답 속도 장점 확인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D5158E2-E408-4501-9E1C-A33B99E157F1}"/>
              </a:ext>
            </a:extLst>
          </p:cNvPr>
          <p:cNvSpPr>
            <a:spLocks noGrp="1"/>
          </p:cNvSpPr>
          <p:nvPr/>
        </p:nvSpPr>
        <p:spPr>
          <a:xfrm>
            <a:off x="6800850" y="35718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2A62160-9AB0-4C58-98B1-431CEEEA1F87}"/>
              </a:ext>
            </a:extLst>
          </p:cNvPr>
          <p:cNvSpPr>
            <a:spLocks noGrp="1"/>
          </p:cNvSpPr>
          <p:nvPr/>
        </p:nvSpPr>
        <p:spPr>
          <a:xfrm>
            <a:off x="7010400" y="35052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VRAM/RAM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4A3815C-7470-4B39-BD31-FF78079B7B84}"/>
              </a:ext>
            </a:extLst>
          </p:cNvPr>
          <p:cNvSpPr>
            <a:spLocks noGrp="1"/>
          </p:cNvSpPr>
          <p:nvPr/>
        </p:nvSpPr>
        <p:spPr>
          <a:xfrm>
            <a:off x="8915400" y="35052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실제 배포 가능성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E18ABE7-A5B6-4538-ABCD-23AF65A47F03}"/>
              </a:ext>
            </a:extLst>
          </p:cNvPr>
          <p:cNvSpPr>
            <a:spLocks noGrp="1"/>
          </p:cNvSpPr>
          <p:nvPr/>
        </p:nvSpPr>
        <p:spPr>
          <a:xfrm>
            <a:off x="6800850" y="40671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41B612-9BEC-4A69-86EC-93DFACF32D14}"/>
              </a:ext>
            </a:extLst>
          </p:cNvPr>
          <p:cNvSpPr>
            <a:spLocks noGrp="1"/>
          </p:cNvSpPr>
          <p:nvPr/>
        </p:nvSpPr>
        <p:spPr>
          <a:xfrm>
            <a:off x="7010400" y="40005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tokens/sec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74FD414-F808-4600-9C4F-CE12614D3374}"/>
              </a:ext>
            </a:extLst>
          </p:cNvPr>
          <p:cNvSpPr>
            <a:spLocks noGrp="1"/>
          </p:cNvSpPr>
          <p:nvPr/>
        </p:nvSpPr>
        <p:spPr>
          <a:xfrm>
            <a:off x="8915400" y="40005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추론 효율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C505648-96C0-4C1A-B7BF-14F15DD7CB37}"/>
              </a:ext>
            </a:extLst>
          </p:cNvPr>
          <p:cNvSpPr>
            <a:spLocks noGrp="1"/>
          </p:cNvSpPr>
          <p:nvPr/>
        </p:nvSpPr>
        <p:spPr>
          <a:xfrm>
            <a:off x="6800850" y="4562475"/>
            <a:ext cx="85725" cy="8572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D9A6CBE-F1B5-4265-B516-4CE40E0DEF16}"/>
              </a:ext>
            </a:extLst>
          </p:cNvPr>
          <p:cNvSpPr>
            <a:spLocks noGrp="1"/>
          </p:cNvSpPr>
          <p:nvPr/>
        </p:nvSpPr>
        <p:spPr>
          <a:xfrm>
            <a:off x="7010400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cost per 1000 questions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A33589-4418-4D15-8275-F5048748D71A}"/>
              </a:ext>
            </a:extLst>
          </p:cNvPr>
          <p:cNvSpPr>
            <a:spLocks noGrp="1"/>
          </p:cNvSpPr>
          <p:nvPr/>
        </p:nvSpPr>
        <p:spPr>
          <a:xfrm>
            <a:off x="8915400" y="44958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실용성 및 비용 비교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82A2BE-D546-4E46-9584-435EC1AA5D27}"/>
              </a:ext>
            </a:extLst>
          </p:cNvPr>
          <p:cNvSpPr>
            <a:spLocks noGrp="1"/>
          </p:cNvSpPr>
          <p:nvPr/>
        </p:nvSpPr>
        <p:spPr>
          <a:xfrm>
            <a:off x="7524750" y="5753100"/>
            <a:ext cx="3714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Ref: Guo et al. 2017 for calibration / ECE.</a:t>
            </a:r>
          </a:p>
        </p:txBody>
      </p:sp>
    </p:spTree>
    <p:extLst>
      <p:ext uri="{BB962C8B-B14F-4D97-AF65-F5344CB8AC3E}">
        <p14:creationId xmlns:p14="http://schemas.microsoft.com/office/powerpoint/2010/main" val="1190193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ackground">
            <a:extLst>
              <a:ext uri="{FF2B5EF4-FFF2-40B4-BE49-F238E27FC236}">
                <a16:creationId xmlns:a16="http://schemas.microsoft.com/office/drawing/2014/main" id="{EECD8EC1-DE30-43F4-B546-111E5F2A1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E402E059-50F8-42AE-B979-2FEBF19B9F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02627CC-15BB-48E5-ACF8-CC9146B8C903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A732E813-B0D1-462F-9FF9-773C4627AAEF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36DA909A-35EC-45FC-A166-BCD7D3636F48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LLM-AS-A-JUDGE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FA016-8D7B-40ED-AF1C-9EF3E8DD6117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DDD39FF-4A39-4B9D-B783-334C8E68521A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Judge Design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61D256-6C80-4B15-A5DE-08BCE8E47DB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5A645C-ABA3-4440-9E22-5858FB773795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DD7C6E-4366-4E01-9600-539772A94E8D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LLM judge + embedding 보조 검증 + human spot check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E6E991-2B18-4C93-B0A9-60666A1BA5CF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952750" cy="26479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CF3F9B-6360-43E9-8659-AB041A2BA87E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Judge rubric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FCBF86-F2EC-455F-A639-36EDB73B9D3C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semantic correctness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2731A7-F531-4984-8BAA-1DF1B54B1E00}"/>
              </a:ext>
            </a:extLst>
          </p:cNvPr>
          <p:cNvSpPr>
            <a:spLocks noGrp="1"/>
          </p:cNvSpPr>
          <p:nvPr/>
        </p:nvSpPr>
        <p:spPr>
          <a:xfrm>
            <a:off x="1028700" y="32385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정답 의미와 생성 설명이 맞는가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572E2E-4254-4BB5-9AE1-9AE0C0CCCCF8}"/>
              </a:ext>
            </a:extLst>
          </p:cNvPr>
          <p:cNvSpPr>
            <a:spLocks noGrp="1"/>
          </p:cNvSpPr>
          <p:nvPr/>
        </p:nvSpPr>
        <p:spPr>
          <a:xfrm>
            <a:off x="1028700" y="35814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reasoning faithfulness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FFD5D8-6424-4C9E-B517-3BA02B2427D9}"/>
              </a:ext>
            </a:extLst>
          </p:cNvPr>
          <p:cNvSpPr>
            <a:spLocks noGrp="1"/>
          </p:cNvSpPr>
          <p:nvPr/>
        </p:nvSpPr>
        <p:spPr>
          <a:xfrm>
            <a:off x="1028699" y="3790950"/>
            <a:ext cx="2533207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오답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소거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이유가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실제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선택지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의미와</a:t>
            </a:r>
            <a:r>
              <a:rPr sz="863" b="0" dirty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863" b="0" dirty="0" err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일치하는가</a:t>
            </a:r>
            <a:endParaRPr sz="863" b="0" dirty="0">
              <a:solidFill>
                <a:srgbClr val="5E6E83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7143A67-84FE-4961-8D29-B5BFB975B955}"/>
              </a:ext>
            </a:extLst>
          </p:cNvPr>
          <p:cNvSpPr>
            <a:spLocks noGrp="1"/>
          </p:cNvSpPr>
          <p:nvPr/>
        </p:nvSpPr>
        <p:spPr>
          <a:xfrm>
            <a:off x="1028700" y="41338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A99A"/>
                </a:solidFill>
                <a:latin typeface="Malgun Gothic"/>
                <a:ea typeface="Malgun Gothic"/>
                <a:cs typeface="Malgun Gothic"/>
              </a:rPr>
              <a:t>hallucination check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9790B1-7E65-4755-A760-FC2A8719EB9D}"/>
              </a:ext>
            </a:extLst>
          </p:cNvPr>
          <p:cNvSpPr>
            <a:spLocks noGrp="1"/>
          </p:cNvSpPr>
          <p:nvPr/>
        </p:nvSpPr>
        <p:spPr>
          <a:xfrm>
            <a:off x="1028700" y="4343400"/>
            <a:ext cx="2190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불필요한 정보나 허위 설명이 없는가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BDCCD7-5107-4C4B-8D4D-85582C166DFF}"/>
              </a:ext>
            </a:extLst>
          </p:cNvPr>
          <p:cNvSpPr>
            <a:spLocks noGrp="1"/>
          </p:cNvSpPr>
          <p:nvPr/>
        </p:nvSpPr>
        <p:spPr>
          <a:xfrm>
            <a:off x="4286250" y="2343150"/>
            <a:ext cx="2571750" cy="876300"/>
          </a:xfrm>
          <a:prstGeom prst="rect">
            <a:avLst/>
          </a:prstGeom>
          <a:solidFill>
            <a:srgbClr val="EAF8F6"/>
          </a:solidFill>
          <a:ln w="9525">
            <a:solidFill>
              <a:srgbClr val="D8F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6701D6-C71B-475E-AB10-1AC386C1D016}"/>
              </a:ext>
            </a:extLst>
          </p:cNvPr>
          <p:cNvSpPr>
            <a:spLocks noGrp="1"/>
          </p:cNvSpPr>
          <p:nvPr/>
        </p:nvSpPr>
        <p:spPr>
          <a:xfrm>
            <a:off x="4457700" y="255270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모델 설명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8529DD-F47E-4428-AB4E-A150132CF7DF}"/>
              </a:ext>
            </a:extLst>
          </p:cNvPr>
          <p:cNvSpPr>
            <a:spLocks noGrp="1"/>
          </p:cNvSpPr>
          <p:nvPr/>
        </p:nvSpPr>
        <p:spPr>
          <a:xfrm>
            <a:off x="4457700" y="28384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meaning / distractor rationale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D686FDA-0993-4B42-9DC8-348918B8448A}"/>
              </a:ext>
            </a:extLst>
          </p:cNvPr>
          <p:cNvSpPr>
            <a:spLocks noGrp="1"/>
          </p:cNvSpPr>
          <p:nvPr/>
        </p:nvSpPr>
        <p:spPr>
          <a:xfrm>
            <a:off x="7429500" y="2343150"/>
            <a:ext cx="2571750" cy="8763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9CF44B0-4F15-412C-B8A7-E0066B06AD0C}"/>
              </a:ext>
            </a:extLst>
          </p:cNvPr>
          <p:cNvSpPr>
            <a:spLocks noGrp="1"/>
          </p:cNvSpPr>
          <p:nvPr/>
        </p:nvSpPr>
        <p:spPr>
          <a:xfrm>
            <a:off x="7600950" y="255270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 judge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87227A1-8E79-4F90-B0AD-FF97ED68D260}"/>
              </a:ext>
            </a:extLst>
          </p:cNvPr>
          <p:cNvSpPr>
            <a:spLocks noGrp="1"/>
          </p:cNvSpPr>
          <p:nvPr/>
        </p:nvSpPr>
        <p:spPr>
          <a:xfrm>
            <a:off x="7600950" y="283845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D9E6F2"/>
                </a:solidFill>
                <a:latin typeface="Malgun Gothic"/>
                <a:ea typeface="Malgun Gothic"/>
                <a:cs typeface="Malgun Gothic"/>
              </a:rPr>
              <a:t>rubric scoring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A255006-BA06-4437-A3B2-356073B65413}"/>
              </a:ext>
            </a:extLst>
          </p:cNvPr>
          <p:cNvSpPr>
            <a:spLocks noGrp="1"/>
          </p:cNvSpPr>
          <p:nvPr/>
        </p:nvSpPr>
        <p:spPr>
          <a:xfrm>
            <a:off x="4286250" y="3810000"/>
            <a:ext cx="2571750" cy="876300"/>
          </a:xfrm>
          <a:prstGeom prst="rect">
            <a:avLst/>
          </a:prstGeom>
          <a:solidFill>
            <a:srgbClr val="EAF8F6"/>
          </a:solidFill>
          <a:ln w="9525">
            <a:solidFill>
              <a:srgbClr val="D8F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AA907D5-2CBE-44A7-98A7-9708834DDF19}"/>
              </a:ext>
            </a:extLst>
          </p:cNvPr>
          <p:cNvSpPr>
            <a:spLocks noGrp="1"/>
          </p:cNvSpPr>
          <p:nvPr/>
        </p:nvSpPr>
        <p:spPr>
          <a:xfrm>
            <a:off x="4457700" y="40195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BERT / sentence embedding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E1F2DB-4187-4943-B77B-342CDBF56AD6}"/>
              </a:ext>
            </a:extLst>
          </p:cNvPr>
          <p:cNvSpPr>
            <a:spLocks noGrp="1"/>
          </p:cNvSpPr>
          <p:nvPr/>
        </p:nvSpPr>
        <p:spPr>
          <a:xfrm>
            <a:off x="4457700" y="430530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semantic similarity 보조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50970A-CECD-4868-962C-D02230976655}"/>
              </a:ext>
            </a:extLst>
          </p:cNvPr>
          <p:cNvSpPr>
            <a:spLocks noGrp="1"/>
          </p:cNvSpPr>
          <p:nvPr/>
        </p:nvSpPr>
        <p:spPr>
          <a:xfrm>
            <a:off x="7429500" y="3810000"/>
            <a:ext cx="2571750" cy="876300"/>
          </a:xfrm>
          <a:prstGeom prst="rect">
            <a:avLst/>
          </a:prstGeom>
          <a:solidFill>
            <a:srgbClr val="EAF8F6"/>
          </a:solidFill>
          <a:ln w="9525">
            <a:solidFill>
              <a:srgbClr val="D8F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198597F-C2FC-491B-BDC3-DF15D5A470A9}"/>
              </a:ext>
            </a:extLst>
          </p:cNvPr>
          <p:cNvSpPr>
            <a:spLocks noGrp="1"/>
          </p:cNvSpPr>
          <p:nvPr/>
        </p:nvSpPr>
        <p:spPr>
          <a:xfrm>
            <a:off x="7600950" y="4019550"/>
            <a:ext cx="2228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Human spot check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0E53F6-103C-4B9A-8B21-06F23D288DD5}"/>
              </a:ext>
            </a:extLst>
          </p:cNvPr>
          <p:cNvSpPr>
            <a:spLocks noGrp="1"/>
          </p:cNvSpPr>
          <p:nvPr/>
        </p:nvSpPr>
        <p:spPr>
          <a:xfrm>
            <a:off x="7600950" y="4305300"/>
            <a:ext cx="2228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judge calibration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E0E2E62-196A-480F-9610-540B537772AA}"/>
              </a:ext>
            </a:extLst>
          </p:cNvPr>
          <p:cNvSpPr>
            <a:spLocks noGrp="1"/>
          </p:cNvSpPr>
          <p:nvPr/>
        </p:nvSpPr>
        <p:spPr>
          <a:xfrm>
            <a:off x="6858000" y="2781300"/>
            <a:ext cx="57150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453BB5F-0946-41CB-B61C-DFD7F8370935}"/>
              </a:ext>
            </a:extLst>
          </p:cNvPr>
          <p:cNvSpPr>
            <a:spLocks noGrp="1"/>
          </p:cNvSpPr>
          <p:nvPr/>
        </p:nvSpPr>
        <p:spPr>
          <a:xfrm>
            <a:off x="5572125" y="3219450"/>
            <a:ext cx="28575" cy="5905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E1BBFB-A4E9-4EA4-B93E-EE1CDEB14F42}"/>
              </a:ext>
            </a:extLst>
          </p:cNvPr>
          <p:cNvSpPr>
            <a:spLocks noGrp="1"/>
          </p:cNvSpPr>
          <p:nvPr/>
        </p:nvSpPr>
        <p:spPr>
          <a:xfrm>
            <a:off x="6858000" y="4248150"/>
            <a:ext cx="571500" cy="28575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3BCBBB2-C0F1-4995-B65D-29CBA56BA0E7}"/>
              </a:ext>
            </a:extLst>
          </p:cNvPr>
          <p:cNvSpPr>
            <a:spLocks noGrp="1"/>
          </p:cNvSpPr>
          <p:nvPr/>
        </p:nvSpPr>
        <p:spPr>
          <a:xfrm>
            <a:off x="5619750" y="5753100"/>
            <a:ext cx="561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638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Refs: Zheng et al. 2023 for LLM-as-a-judge; BERT/sentence embedding used as auxiliary signal.</a:t>
            </a:r>
          </a:p>
        </p:txBody>
      </p:sp>
    </p:spTree>
    <p:extLst>
      <p:ext uri="{BB962C8B-B14F-4D97-AF65-F5344CB8AC3E}">
        <p14:creationId xmlns:p14="http://schemas.microsoft.com/office/powerpoint/2010/main" val="16634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ackground">
            <a:extLst>
              <a:ext uri="{FF2B5EF4-FFF2-40B4-BE49-F238E27FC236}">
                <a16:creationId xmlns:a16="http://schemas.microsoft.com/office/drawing/2014/main" id="{B6752A07-5E6F-4B90-909E-59C0AA49F7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E55ADA58-23EC-4A9E-A8E4-7376549097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B9E588-723D-478C-8F1F-43882D04A902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6F69BF9-7FF9-4F97-A03A-89FFB8AABFAA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18F1B1B-A2BC-4B91-A4FD-CDD5A09D1679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MAIN COMPARISONS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98D3A2-3EDF-4365-93AE-E1FA0CB58049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33CF17-8379-4C5C-8830-908A2E1ECD91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Comparison Matrix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9891533-F616-4158-BFEC-2F23CD67E0B6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5A5AE1-E6FD-40FA-A948-47C8FD5ACA56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331CD00-8A5C-4C83-BB27-08BAD4D84752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discriminative baseline·Small LM·경량화 효과를 분리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63B661-B797-422E-B1AF-50700119911E}"/>
              </a:ext>
            </a:extLst>
          </p:cNvPr>
          <p:cNvSpPr>
            <a:spLocks noGrp="1"/>
          </p:cNvSpPr>
          <p:nvPr/>
        </p:nvSpPr>
        <p:spPr>
          <a:xfrm>
            <a:off x="1104900" y="2095500"/>
            <a:ext cx="4476750" cy="4381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FACDB2-6B30-4F94-8D36-DA96C0A1DD06}"/>
              </a:ext>
            </a:extLst>
          </p:cNvPr>
          <p:cNvSpPr>
            <a:spLocks noGrp="1"/>
          </p:cNvSpPr>
          <p:nvPr/>
        </p:nvSpPr>
        <p:spPr>
          <a:xfrm>
            <a:off x="1219200" y="2190750"/>
            <a:ext cx="424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A5A8BB3-85DE-4846-971B-3B80450F8477}"/>
              </a:ext>
            </a:extLst>
          </p:cNvPr>
          <p:cNvSpPr>
            <a:spLocks noGrp="1"/>
          </p:cNvSpPr>
          <p:nvPr/>
        </p:nvSpPr>
        <p:spPr>
          <a:xfrm>
            <a:off x="5581650" y="2095500"/>
            <a:ext cx="4476750" cy="43815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E593A0-31FA-447B-83A7-A53493DF4045}"/>
              </a:ext>
            </a:extLst>
          </p:cNvPr>
          <p:cNvSpPr>
            <a:spLocks noGrp="1"/>
          </p:cNvSpPr>
          <p:nvPr/>
        </p:nvSpPr>
        <p:spPr>
          <a:xfrm>
            <a:off x="5695950" y="2190750"/>
            <a:ext cx="424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보고 싶은 것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E3C9408-7627-4B4E-B187-3631563AF125}"/>
              </a:ext>
            </a:extLst>
          </p:cNvPr>
          <p:cNvSpPr>
            <a:spLocks noGrp="1"/>
          </p:cNvSpPr>
          <p:nvPr/>
        </p:nvSpPr>
        <p:spPr>
          <a:xfrm>
            <a:off x="1104900" y="25336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639327E-81E5-49E8-922E-F7BEF87762EC}"/>
              </a:ext>
            </a:extLst>
          </p:cNvPr>
          <p:cNvSpPr>
            <a:spLocks noGrp="1"/>
          </p:cNvSpPr>
          <p:nvPr/>
        </p:nvSpPr>
        <p:spPr>
          <a:xfrm>
            <a:off x="1219200" y="26289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mxbai / MLP / cross-encoder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9E0ED04-18A2-4151-A5B4-A411157EEB45}"/>
              </a:ext>
            </a:extLst>
          </p:cNvPr>
          <p:cNvSpPr>
            <a:spLocks noGrp="1"/>
          </p:cNvSpPr>
          <p:nvPr/>
        </p:nvSpPr>
        <p:spPr>
          <a:xfrm>
            <a:off x="5581650" y="25336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742CAC-E1FA-423E-8B81-DCC892307B83}"/>
              </a:ext>
            </a:extLst>
          </p:cNvPr>
          <p:cNvSpPr>
            <a:spLocks noGrp="1"/>
          </p:cNvSpPr>
          <p:nvPr/>
        </p:nvSpPr>
        <p:spPr>
          <a:xfrm>
            <a:off x="5695950" y="26289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판별형 baseline의 최대 경쟁력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D55707-8327-4F76-B7EA-183C9C46CB66}"/>
              </a:ext>
            </a:extLst>
          </p:cNvPr>
          <p:cNvSpPr>
            <a:spLocks noGrp="1"/>
          </p:cNvSpPr>
          <p:nvPr/>
        </p:nvSpPr>
        <p:spPr>
          <a:xfrm>
            <a:off x="1104900" y="3124200"/>
            <a:ext cx="4476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680D4F4-B5FF-4A7B-B657-6E48C5F5B71A}"/>
              </a:ext>
            </a:extLst>
          </p:cNvPr>
          <p:cNvSpPr>
            <a:spLocks noGrp="1"/>
          </p:cNvSpPr>
          <p:nvPr/>
        </p:nvSpPr>
        <p:spPr>
          <a:xfrm>
            <a:off x="1219200" y="321945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Qwen/API recheck vs lightweight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E514EC4-C592-4EF0-8226-B0D13A34E14D}"/>
              </a:ext>
            </a:extLst>
          </p:cNvPr>
          <p:cNvSpPr>
            <a:spLocks noGrp="1"/>
          </p:cNvSpPr>
          <p:nvPr/>
        </p:nvSpPr>
        <p:spPr>
          <a:xfrm>
            <a:off x="5581650" y="3124200"/>
            <a:ext cx="4476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42431C6-9CB3-4528-BA02-9DA1C4AEE369}"/>
              </a:ext>
            </a:extLst>
          </p:cNvPr>
          <p:cNvSpPr>
            <a:spLocks noGrp="1"/>
          </p:cNvSpPr>
          <p:nvPr/>
        </p:nvSpPr>
        <p:spPr>
          <a:xfrm>
            <a:off x="5695950" y="321945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현재 보완 방식의 대체 가능성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D89243-2A9A-47FD-8484-C7DA52D60D3D}"/>
              </a:ext>
            </a:extLst>
          </p:cNvPr>
          <p:cNvSpPr>
            <a:spLocks noGrp="1"/>
          </p:cNvSpPr>
          <p:nvPr/>
        </p:nvSpPr>
        <p:spPr>
          <a:xfrm>
            <a:off x="1104900" y="37147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00272A-501D-412B-B734-465D1D4FF5D3}"/>
              </a:ext>
            </a:extLst>
          </p:cNvPr>
          <p:cNvSpPr>
            <a:spLocks noGrp="1"/>
          </p:cNvSpPr>
          <p:nvPr/>
        </p:nvSpPr>
        <p:spPr>
          <a:xfrm>
            <a:off x="1219200" y="38100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Small LM SFT vs SFT+KD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F682E24-4C27-4F15-80EF-FBAAED1D6F42}"/>
              </a:ext>
            </a:extLst>
          </p:cNvPr>
          <p:cNvSpPr>
            <a:spLocks noGrp="1"/>
          </p:cNvSpPr>
          <p:nvPr/>
        </p:nvSpPr>
        <p:spPr>
          <a:xfrm>
            <a:off x="5581650" y="37147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80FC209-E653-4934-A75A-0389B8F197AE}"/>
              </a:ext>
            </a:extLst>
          </p:cNvPr>
          <p:cNvSpPr>
            <a:spLocks noGrp="1"/>
          </p:cNvSpPr>
          <p:nvPr/>
        </p:nvSpPr>
        <p:spPr>
          <a:xfrm>
            <a:off x="5695950" y="38100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teacher soft label/rationale 효과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AD4245-8596-49A5-9114-E6C8D2051229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4476750" cy="59055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6FFF1E-CC3E-4D7C-81DE-A1BBF5A486EE}"/>
              </a:ext>
            </a:extLst>
          </p:cNvPr>
          <p:cNvSpPr>
            <a:spLocks noGrp="1"/>
          </p:cNvSpPr>
          <p:nvPr/>
        </p:nvSpPr>
        <p:spPr>
          <a:xfrm>
            <a:off x="1219200" y="440055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Embedding scorer KD vs Small LM KD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A0A7E7-C6A1-4AF6-AA75-6E7161AA727A}"/>
              </a:ext>
            </a:extLst>
          </p:cNvPr>
          <p:cNvSpPr>
            <a:spLocks noGrp="1"/>
          </p:cNvSpPr>
          <p:nvPr/>
        </p:nvSpPr>
        <p:spPr>
          <a:xfrm>
            <a:off x="5581650" y="4305300"/>
            <a:ext cx="4476750" cy="590550"/>
          </a:xfrm>
          <a:prstGeom prst="rect">
            <a:avLst/>
          </a:prstGeom>
          <a:solidFill>
            <a:srgbClr val="EAF8F6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7D7933A-7BE3-4E41-A23A-83E54EE04E37}"/>
              </a:ext>
            </a:extLst>
          </p:cNvPr>
          <p:cNvSpPr>
            <a:spLocks noGrp="1"/>
          </p:cNvSpPr>
          <p:nvPr/>
        </p:nvSpPr>
        <p:spPr>
          <a:xfrm>
            <a:off x="5695950" y="440055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생성형 LM이 필요한지, scorer가 충분한지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AB0CEAB-2B37-4AE2-A5CE-49A4C96E0DC2}"/>
              </a:ext>
            </a:extLst>
          </p:cNvPr>
          <p:cNvSpPr>
            <a:spLocks noGrp="1"/>
          </p:cNvSpPr>
          <p:nvPr/>
        </p:nvSpPr>
        <p:spPr>
          <a:xfrm>
            <a:off x="1104900" y="48958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DDFF9B2-2DF2-4F08-952D-39EBD6D0CE87}"/>
              </a:ext>
            </a:extLst>
          </p:cNvPr>
          <p:cNvSpPr>
            <a:spLocks noGrp="1"/>
          </p:cNvSpPr>
          <p:nvPr/>
        </p:nvSpPr>
        <p:spPr>
          <a:xfrm>
            <a:off x="1219200" y="49911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FP16 vs 8bit vs 4bit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9B9197-8D2E-4E48-9055-7FC1BB94CE49}"/>
              </a:ext>
            </a:extLst>
          </p:cNvPr>
          <p:cNvSpPr>
            <a:spLocks noGrp="1"/>
          </p:cNvSpPr>
          <p:nvPr/>
        </p:nvSpPr>
        <p:spPr>
          <a:xfrm>
            <a:off x="5581650" y="4895850"/>
            <a:ext cx="4476750" cy="5905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7A75161-7E7C-439F-8E41-DA2AE6582F39}"/>
              </a:ext>
            </a:extLst>
          </p:cNvPr>
          <p:cNvSpPr>
            <a:spLocks noGrp="1"/>
          </p:cNvSpPr>
          <p:nvPr/>
        </p:nvSpPr>
        <p:spPr>
          <a:xfrm>
            <a:off x="5695950" y="4991100"/>
            <a:ext cx="42481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90" b="0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양자화만의 효과</a:t>
            </a:r>
          </a:p>
        </p:txBody>
      </p:sp>
    </p:spTree>
    <p:extLst>
      <p:ext uri="{BB962C8B-B14F-4D97-AF65-F5344CB8AC3E}">
        <p14:creationId xmlns:p14="http://schemas.microsoft.com/office/powerpoint/2010/main" val="1360473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9465AB14-921F-45F7-A1B9-0EC2EEAD4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D7E81010-8066-4412-877B-2CC6BF5BB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F55D47-4365-42EE-9961-9055EDF481CD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020217D0-3B4D-4C94-AE3B-CB862211E76B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2EEFBE3A-0765-4365-8E91-8BB3072C36C2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OBSERVATION METRICS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C2759EA-4024-450D-AB73-129796398144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D15FEB-9FB2-4BF1-B2C3-6F28650AC1AD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Key Observation Metrics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9DA576-4029-4E51-BE83-C799F9968A8D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18AD25-B561-494B-B0D2-C37E0DC4D316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3AE593A-48B0-41E1-8380-14ABECC521FC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evaluation questions for discriminative and generative paths</a:t>
            </a:r>
          </a:p>
        </p:txBody>
      </p:sp>
      <p:sp>
        <p:nvSpPr>
          <p:cNvPr id="80" name="expected-pattern-panel"/>
          <p:cNvSpPr>
            <a:spLocks noGrp="1"/>
          </p:cNvSpPr>
          <p:nvPr/>
        </p:nvSpPr>
        <p:spPr>
          <a:xfrm>
            <a:off x="895350" y="2038350"/>
            <a:ext cx="10401300" cy="352425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81" name="직사각형 80"/>
          <p:cNvSpPr>
            <a:spLocks noGrp="1"/>
          </p:cNvSpPr>
          <p:nvPr/>
        </p:nvSpPr>
        <p:spPr>
          <a:xfrm>
            <a:off x="1173254" y="2282635"/>
            <a:ext cx="4349003" cy="461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2400" dirty="0">
                <a:solidFill>
                  <a:srgbClr val="081A33"/>
                </a:solidFill>
                <a:latin typeface="Malgun Gothic"/>
                <a:ea typeface="Malgun Gothic"/>
              </a:rPr>
              <a:t>Key Observation Metrics</a:t>
            </a:r>
            <a:endParaRPr lang="ko-KR" sz="2400" dirty="0"/>
          </a:p>
        </p:txBody>
      </p:sp>
      <p:sp>
        <p:nvSpPr>
          <p:cNvPr id="82" name="직사각형 81"/>
          <p:cNvSpPr>
            <a:spLocks noGrp="1"/>
          </p:cNvSpPr>
          <p:nvPr/>
        </p:nvSpPr>
        <p:spPr>
          <a:xfrm>
            <a:off x="1200150" y="27241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100" dirty="0">
                <a:solidFill>
                  <a:srgbClr val="24A99A"/>
                </a:solidFill>
                <a:latin typeface="Malgun Gothic"/>
                <a:ea typeface="Malgun Gothic"/>
              </a:rPr>
              <a:t>Evaluation list for the expected result pattern</a:t>
            </a:r>
            <a:endParaRPr lang="ko-KR" sz="1100" dirty="0"/>
          </a:p>
        </p:txBody>
      </p:sp>
      <p:sp>
        <p:nvSpPr>
          <p:cNvPr id="90" name="직사각형 89"/>
          <p:cNvSpPr>
            <a:spLocks noGrp="1"/>
          </p:cNvSpPr>
          <p:nvPr/>
        </p:nvSpPr>
        <p:spPr>
          <a:xfrm>
            <a:off x="1428750" y="3314700"/>
            <a:ext cx="76200" cy="76200"/>
          </a:xfrm>
          <a:prstGeom prst="rect">
            <a:avLst/>
          </a:prstGeom>
          <a:solidFill>
            <a:srgbClr val="24A99A"/>
          </a:solidFill>
          <a:ln w="1270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91" name="직사각형 90"/>
          <p:cNvSpPr>
            <a:spLocks noGrp="1"/>
          </p:cNvSpPr>
          <p:nvPr/>
        </p:nvSpPr>
        <p:spPr>
          <a:xfrm>
            <a:off x="1695450" y="32385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600" dirty="0">
                <a:solidFill>
                  <a:srgbClr val="081A33"/>
                </a:solidFill>
                <a:latin typeface="Malgun Gothic"/>
                <a:ea typeface="Malgun Gothic"/>
              </a:rPr>
              <a:t>Accuracy Gap</a:t>
            </a:r>
            <a:endParaRPr lang="ko-KR" sz="1600" dirty="0"/>
          </a:p>
        </p:txBody>
      </p:sp>
      <p:sp>
        <p:nvSpPr>
          <p:cNvPr id="92" name="직사각형 91"/>
          <p:cNvSpPr>
            <a:spLocks noGrp="1"/>
          </p:cNvSpPr>
          <p:nvPr/>
        </p:nvSpPr>
        <p:spPr>
          <a:xfrm>
            <a:off x="4000500" y="3257550"/>
            <a:ext cx="6286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350" dirty="0">
                <a:solidFill>
                  <a:srgbClr val="5E6E83"/>
                </a:solidFill>
                <a:latin typeface="Malgun Gothic"/>
                <a:ea typeface="Malgun Gothic"/>
              </a:rPr>
              <a:t>Teacher/API 대비 best lightweight baseline의 accuracy gap은 제한적이었는가?</a:t>
            </a:r>
            <a:endParaRPr lang="ko-KR" sz="1350" dirty="0"/>
          </a:p>
        </p:txBody>
      </p:sp>
      <p:sp>
        <p:nvSpPr>
          <p:cNvPr id="100" name="직사각형 99"/>
          <p:cNvSpPr>
            <a:spLocks noGrp="1"/>
          </p:cNvSpPr>
          <p:nvPr/>
        </p:nvSpPr>
        <p:spPr>
          <a:xfrm>
            <a:off x="1428750" y="3867150"/>
            <a:ext cx="76200" cy="76200"/>
          </a:xfrm>
          <a:prstGeom prst="rect">
            <a:avLst/>
          </a:prstGeom>
          <a:solidFill>
            <a:srgbClr val="24A99A"/>
          </a:solidFill>
          <a:ln w="1270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01" name="직사각형 100"/>
          <p:cNvSpPr>
            <a:spLocks noGrp="1"/>
          </p:cNvSpPr>
          <p:nvPr/>
        </p:nvSpPr>
        <p:spPr>
          <a:xfrm>
            <a:off x="1695450" y="3790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600" dirty="0">
                <a:solidFill>
                  <a:srgbClr val="081A33"/>
                </a:solidFill>
                <a:latin typeface="Malgun Gothic"/>
                <a:ea typeface="Malgun Gothic"/>
              </a:rPr>
              <a:t>Efficiency Gain</a:t>
            </a:r>
            <a:endParaRPr lang="ko-KR" sz="1600" dirty="0"/>
          </a:p>
        </p:txBody>
      </p:sp>
      <p:sp>
        <p:nvSpPr>
          <p:cNvPr id="102" name="직사각형 101"/>
          <p:cNvSpPr>
            <a:spLocks noGrp="1"/>
          </p:cNvSpPr>
          <p:nvPr/>
        </p:nvSpPr>
        <p:spPr>
          <a:xfrm>
            <a:off x="4000500" y="3810000"/>
            <a:ext cx="7017124" cy="3000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350" dirty="0">
                <a:solidFill>
                  <a:srgbClr val="5E6E83"/>
                </a:solidFill>
                <a:latin typeface="Malgun Gothic"/>
                <a:ea typeface="Malgun Gothic"/>
              </a:rPr>
              <a:t>유사 accuracy 조건에서 mxbai/MLP/scorer가 latency, cost, VRAM/RAM을 줄였는가?</a:t>
            </a:r>
            <a:endParaRPr lang="ko-KR" sz="1350" dirty="0"/>
          </a:p>
        </p:txBody>
      </p:sp>
      <p:sp>
        <p:nvSpPr>
          <p:cNvPr id="110" name="직사각형 109"/>
          <p:cNvSpPr>
            <a:spLocks noGrp="1"/>
          </p:cNvSpPr>
          <p:nvPr/>
        </p:nvSpPr>
        <p:spPr>
          <a:xfrm>
            <a:off x="1428750" y="4419600"/>
            <a:ext cx="76200" cy="76200"/>
          </a:xfrm>
          <a:prstGeom prst="rect">
            <a:avLst/>
          </a:prstGeom>
          <a:solidFill>
            <a:srgbClr val="24A99A"/>
          </a:solidFill>
          <a:ln w="1270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11" name="직사각형 110"/>
          <p:cNvSpPr>
            <a:spLocks noGrp="1"/>
          </p:cNvSpPr>
          <p:nvPr/>
        </p:nvSpPr>
        <p:spPr>
          <a:xfrm>
            <a:off x="1695450" y="4343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600" dirty="0">
                <a:solidFill>
                  <a:srgbClr val="081A33"/>
                </a:solidFill>
                <a:latin typeface="Malgun Gothic"/>
                <a:ea typeface="Malgun Gothic"/>
              </a:rPr>
              <a:t>Quantization Effect</a:t>
            </a:r>
            <a:endParaRPr lang="ko-KR" sz="1600" dirty="0"/>
          </a:p>
        </p:txBody>
      </p:sp>
      <p:sp>
        <p:nvSpPr>
          <p:cNvPr id="112" name="직사각형 111"/>
          <p:cNvSpPr>
            <a:spLocks noGrp="1"/>
          </p:cNvSpPr>
          <p:nvPr/>
        </p:nvSpPr>
        <p:spPr>
          <a:xfrm>
            <a:off x="4000499" y="4362450"/>
            <a:ext cx="7116233" cy="3000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350" dirty="0">
                <a:solidFill>
                  <a:srgbClr val="5E6E83"/>
                </a:solidFill>
                <a:latin typeface="Malgun Gothic"/>
                <a:ea typeface="Malgun Gothic"/>
              </a:rPr>
              <a:t>동일 checkpoint FP16/8bit/4bit 비교에서 quantization만의 효과가 분리되었는가?</a:t>
            </a:r>
            <a:endParaRPr lang="ko-KR" sz="1350" dirty="0"/>
          </a:p>
        </p:txBody>
      </p:sp>
      <p:sp>
        <p:nvSpPr>
          <p:cNvPr id="120" name="직사각형 119"/>
          <p:cNvSpPr>
            <a:spLocks noGrp="1"/>
          </p:cNvSpPr>
          <p:nvPr/>
        </p:nvSpPr>
        <p:spPr>
          <a:xfrm>
            <a:off x="1428750" y="4972050"/>
            <a:ext cx="76200" cy="76200"/>
          </a:xfrm>
          <a:prstGeom prst="rect">
            <a:avLst/>
          </a:prstGeom>
          <a:solidFill>
            <a:srgbClr val="24A99A"/>
          </a:solidFill>
          <a:ln w="12700">
            <a:solidFill>
              <a:srgbClr val="24A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/>
          </a:p>
        </p:txBody>
      </p:sp>
      <p:sp>
        <p:nvSpPr>
          <p:cNvPr id="121" name="직사각형 120"/>
          <p:cNvSpPr>
            <a:spLocks noGrp="1"/>
          </p:cNvSpPr>
          <p:nvPr/>
        </p:nvSpPr>
        <p:spPr>
          <a:xfrm>
            <a:off x="1695450" y="48958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600" dirty="0">
                <a:solidFill>
                  <a:srgbClr val="081A33"/>
                </a:solidFill>
                <a:latin typeface="Malgun Gothic"/>
                <a:ea typeface="Malgun Gothic"/>
              </a:rPr>
              <a:t>Interpretation</a:t>
            </a:r>
            <a:endParaRPr lang="ko-KR" sz="1600" dirty="0"/>
          </a:p>
        </p:txBody>
      </p:sp>
      <p:sp>
        <p:nvSpPr>
          <p:cNvPr id="122" name="직사각형 121"/>
          <p:cNvSpPr>
            <a:spLocks noGrp="1"/>
          </p:cNvSpPr>
          <p:nvPr/>
        </p:nvSpPr>
        <p:spPr>
          <a:xfrm>
            <a:off x="4000500" y="4914900"/>
            <a:ext cx="7017124" cy="30008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t">
            <a:spAutoFit/>
          </a:bodyPr>
          <a:lstStyle/>
          <a:p>
            <a:pPr algn="l"/>
            <a:r>
              <a:rPr lang="ko-KR" sz="1350" dirty="0">
                <a:solidFill>
                  <a:srgbClr val="5E6E83"/>
                </a:solidFill>
                <a:latin typeface="Malgun Gothic"/>
                <a:ea typeface="Malgun Gothic"/>
              </a:rPr>
              <a:t>Small generative LM이 embedding classifier보다 필요한 조건이 관찰되었는가?</a:t>
            </a:r>
            <a:endParaRPr lang="ko-KR" sz="1350" dirty="0"/>
          </a:p>
        </p:txBody>
      </p:sp>
    </p:spTree>
    <p:extLst>
      <p:ext uri="{BB962C8B-B14F-4D97-AF65-F5344CB8AC3E}">
        <p14:creationId xmlns:p14="http://schemas.microsoft.com/office/powerpoint/2010/main" val="69237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ackground">
            <a:extLst>
              <a:ext uri="{FF2B5EF4-FFF2-40B4-BE49-F238E27FC236}">
                <a16:creationId xmlns:a16="http://schemas.microsoft.com/office/drawing/2014/main" id="{3E382267-BDC5-438D-A67F-B9AA34BA6C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op-band">
            <a:extLst>
              <a:ext uri="{FF2B5EF4-FFF2-40B4-BE49-F238E27FC236}">
                <a16:creationId xmlns:a16="http://schemas.microsoft.com/office/drawing/2014/main" id="{4F798A65-64E1-4F29-AB75-E1BD06B12F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2E88A64-8494-4384-B50B-A9A5C6DA3F80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1B8C590-F4F2-48CC-AB62-D85BD8845650}"/>
              </a:ext>
            </a:extLst>
          </p:cNvPr>
          <p:cNvSpPr>
            <a:spLocks noGrp="1"/>
          </p:cNvSpPr>
          <p:nvPr/>
        </p:nvSpPr>
        <p:spPr>
          <a:xfrm>
            <a:off x="571500" y="390525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3A53C6C8-309A-4BF2-B739-03441A35A6A6}"/>
              </a:ext>
            </a:extLst>
          </p:cNvPr>
          <p:cNvSpPr>
            <a:spLocks noGrp="1"/>
          </p:cNvSpPr>
          <p:nvPr/>
        </p:nvSpPr>
        <p:spPr>
          <a:xfrm>
            <a:off x="762000" y="36195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13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RISKS &amp; MITIGATION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9260B2-7987-429A-972A-DD8955F99C53}"/>
              </a:ext>
            </a:extLst>
          </p:cNvPr>
          <p:cNvSpPr>
            <a:spLocks noGrp="1"/>
          </p:cNvSpPr>
          <p:nvPr/>
        </p:nvSpPr>
        <p:spPr>
          <a:xfrm>
            <a:off x="11296650" y="342900"/>
            <a:ext cx="361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1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C92FD1-C465-44ED-B51E-DD534EAFF679}"/>
              </a:ext>
            </a:extLst>
          </p:cNvPr>
          <p:cNvSpPr>
            <a:spLocks noGrp="1"/>
          </p:cNvSpPr>
          <p:nvPr/>
        </p:nvSpPr>
        <p:spPr>
          <a:xfrm>
            <a:off x="571500" y="1009650"/>
            <a:ext cx="9334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Risks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E8D063-18D5-425A-B9C2-6618305397B6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9525"/>
          </a:xfrm>
          <a:prstGeom prst="rect">
            <a:avLst/>
          </a:prstGeom>
          <a:solidFill>
            <a:srgbClr val="DCE3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2153EE-FD6E-4609-91C8-DA67A9C52D89}"/>
              </a:ext>
            </a:extLst>
          </p:cNvPr>
          <p:cNvSpPr>
            <a:spLocks noGrp="1"/>
          </p:cNvSpPr>
          <p:nvPr/>
        </p:nvSpPr>
        <p:spPr>
          <a:xfrm>
            <a:off x="571500" y="6362700"/>
            <a:ext cx="95250" cy="95250"/>
          </a:xfrm>
          <a:prstGeom prst="rect">
            <a:avLst/>
          </a:prstGeom>
          <a:solidFill>
            <a:srgbClr val="24A99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130BD3-A5EA-4351-A860-CF66C75B8B76}"/>
              </a:ext>
            </a:extLst>
          </p:cNvPr>
          <p:cNvSpPr>
            <a:spLocks noGrp="1"/>
          </p:cNvSpPr>
          <p:nvPr/>
        </p:nvSpPr>
        <p:spPr>
          <a:xfrm>
            <a:off x="762000" y="6343650"/>
            <a:ext cx="981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081A33"/>
                </a:solidFill>
                <a:latin typeface="Malgun Gothic"/>
                <a:ea typeface="Malgun Gothic"/>
                <a:cs typeface="Malgun Gothic"/>
              </a:rPr>
              <a:t>핵심: 데이터·judge·일반화 리스크를 평가 설계에 포함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DFC7F3-873B-4E11-BEAD-D4208F2E5274}"/>
              </a:ext>
            </a:extLst>
          </p:cNvPr>
          <p:cNvSpPr>
            <a:spLocks noGrp="1"/>
          </p:cNvSpPr>
          <p:nvPr/>
        </p:nvSpPr>
        <p:spPr>
          <a:xfrm>
            <a:off x="762000" y="2076450"/>
            <a:ext cx="3143250" cy="4191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6163A13-2213-47DF-857F-5972C01A7129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914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Risk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E88511-9127-4276-AB84-033E0A1233B4}"/>
              </a:ext>
            </a:extLst>
          </p:cNvPr>
          <p:cNvSpPr>
            <a:spLocks noGrp="1"/>
          </p:cNvSpPr>
          <p:nvPr/>
        </p:nvSpPr>
        <p:spPr>
          <a:xfrm>
            <a:off x="3905250" y="2076450"/>
            <a:ext cx="6858000" cy="419100"/>
          </a:xfrm>
          <a:prstGeom prst="rect">
            <a:avLst/>
          </a:prstGeom>
          <a:solidFill>
            <a:srgbClr val="06172F"/>
          </a:solidFill>
          <a:ln w="9525">
            <a:solidFill>
              <a:srgbClr val="0617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FDC45E-F6F8-4F6B-B06D-71CF61B0CBC8}"/>
              </a:ext>
            </a:extLst>
          </p:cNvPr>
          <p:cNvSpPr>
            <a:spLocks noGrp="1"/>
          </p:cNvSpPr>
          <p:nvPr/>
        </p:nvSpPr>
        <p:spPr>
          <a:xfrm>
            <a:off x="4019550" y="2171700"/>
            <a:ext cx="6629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Mitigation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BD15335-6CC8-4955-AD4E-7D8626D3A113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314325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46EA568-F28E-4350-93B9-D71B72C0917F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2914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GT 2,000개 규모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EC6156-B42A-4EF5-AFA8-F08440EF0BA5}"/>
              </a:ext>
            </a:extLst>
          </p:cNvPr>
          <p:cNvSpPr>
            <a:spLocks noGrp="1"/>
          </p:cNvSpPr>
          <p:nvPr/>
        </p:nvSpPr>
        <p:spPr>
          <a:xfrm>
            <a:off x="3905250" y="2495550"/>
            <a:ext cx="685800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20AA3B-894D-4B1A-BD89-9F9D262EDE67}"/>
              </a:ext>
            </a:extLst>
          </p:cNvPr>
          <p:cNvSpPr>
            <a:spLocks noGrp="1"/>
          </p:cNvSpPr>
          <p:nvPr/>
        </p:nvSpPr>
        <p:spPr>
          <a:xfrm>
            <a:off x="4019550" y="2590800"/>
            <a:ext cx="662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train/dev/test split 고정, bootstrap CI로 불확실성 표시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F7C53CE-EA07-4252-BB00-1EFD36951331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F354A6-D1DD-400D-AA64-5C4B32639DA8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2914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LLM 생성 cloze 품질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8F6B48-E929-4089-A12A-B9CEFE45080E}"/>
              </a:ext>
            </a:extLst>
          </p:cNvPr>
          <p:cNvSpPr>
            <a:spLocks noGrp="1"/>
          </p:cNvSpPr>
          <p:nvPr/>
        </p:nvSpPr>
        <p:spPr>
          <a:xfrm>
            <a:off x="3905250" y="3048000"/>
            <a:ext cx="685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CBB8C3A-23DC-4DBA-83DA-5B62EC00D491}"/>
              </a:ext>
            </a:extLst>
          </p:cNvPr>
          <p:cNvSpPr>
            <a:spLocks noGrp="1"/>
          </p:cNvSpPr>
          <p:nvPr/>
        </p:nvSpPr>
        <p:spPr>
          <a:xfrm>
            <a:off x="4019550" y="3143250"/>
            <a:ext cx="662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자동 필터 + teacher 검수 + human spot check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E1E127-7848-4756-9EAA-1E6A543EC8D3}"/>
              </a:ext>
            </a:extLst>
          </p:cNvPr>
          <p:cNvSpPr>
            <a:spLocks noGrp="1"/>
          </p:cNvSpPr>
          <p:nvPr/>
        </p:nvSpPr>
        <p:spPr>
          <a:xfrm>
            <a:off x="762000" y="3600450"/>
            <a:ext cx="314325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539F9E0-BBDD-4B8E-98B0-AE0E01A89B88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2914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LLM judge 편향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DBBACB4-048F-4DFA-8E31-4E372E2DE1A0}"/>
              </a:ext>
            </a:extLst>
          </p:cNvPr>
          <p:cNvSpPr>
            <a:spLocks noGrp="1"/>
          </p:cNvSpPr>
          <p:nvPr/>
        </p:nvSpPr>
        <p:spPr>
          <a:xfrm>
            <a:off x="3905250" y="3600450"/>
            <a:ext cx="685800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DC179C-F785-4F94-A133-E398604A4813}"/>
              </a:ext>
            </a:extLst>
          </p:cNvPr>
          <p:cNvSpPr>
            <a:spLocks noGrp="1"/>
          </p:cNvSpPr>
          <p:nvPr/>
        </p:nvSpPr>
        <p:spPr>
          <a:xfrm>
            <a:off x="4019550" y="3695700"/>
            <a:ext cx="662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judge model 분리, embedding 보조 검증, 표본 human audit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70CABCC-E378-4513-93C1-A02EE0A4E6A6}"/>
              </a:ext>
            </a:extLst>
          </p:cNvPr>
          <p:cNvSpPr>
            <a:spLocks noGrp="1"/>
          </p:cNvSpPr>
          <p:nvPr/>
        </p:nvSpPr>
        <p:spPr>
          <a:xfrm>
            <a:off x="762000" y="4152900"/>
            <a:ext cx="3143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F33B412-13C6-4295-A40F-1AA3143AB9C9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2914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TOEIC business 외 일반화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4EA5042-4095-443A-81EA-09062E591E40}"/>
              </a:ext>
            </a:extLst>
          </p:cNvPr>
          <p:cNvSpPr>
            <a:spLocks noGrp="1"/>
          </p:cNvSpPr>
          <p:nvPr/>
        </p:nvSpPr>
        <p:spPr>
          <a:xfrm>
            <a:off x="3905250" y="4152900"/>
            <a:ext cx="6858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ECF2890-C444-4DFD-9D4E-AE11E70855D8}"/>
              </a:ext>
            </a:extLst>
          </p:cNvPr>
          <p:cNvSpPr>
            <a:spLocks noGrp="1"/>
          </p:cNvSpPr>
          <p:nvPr/>
        </p:nvSpPr>
        <p:spPr>
          <a:xfrm>
            <a:off x="4019550" y="4248150"/>
            <a:ext cx="662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결론 범위를 해당 domain/task로 제한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6D79F99-0A40-4874-80D5-B76B7BF3468A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314325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01269B-3F10-4983-A1F1-66B6AA58C4CD}"/>
              </a:ext>
            </a:extLst>
          </p:cNvPr>
          <p:cNvSpPr>
            <a:spLocks noGrp="1"/>
          </p:cNvSpPr>
          <p:nvPr/>
        </p:nvSpPr>
        <p:spPr>
          <a:xfrm>
            <a:off x="876300" y="4800600"/>
            <a:ext cx="2914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1">
                <a:solidFill>
                  <a:srgbClr val="06172F"/>
                </a:solidFill>
                <a:latin typeface="Malgun Gothic"/>
                <a:ea typeface="Malgun Gothic"/>
                <a:cs typeface="Malgun Gothic"/>
              </a:rPr>
              <a:t>overfitting / leakage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3442EE0-68F7-4A81-B48F-A0F40EBB29B3}"/>
              </a:ext>
            </a:extLst>
          </p:cNvPr>
          <p:cNvSpPr>
            <a:spLocks noGrp="1"/>
          </p:cNvSpPr>
          <p:nvPr/>
        </p:nvSpPr>
        <p:spPr>
          <a:xfrm>
            <a:off x="3905250" y="4705350"/>
            <a:ext cx="6858000" cy="552450"/>
          </a:xfrm>
          <a:prstGeom prst="rect">
            <a:avLst/>
          </a:prstGeom>
          <a:solidFill>
            <a:srgbClr val="F9FBFD"/>
          </a:solidFill>
          <a:ln w="9525">
            <a:solidFill>
              <a:srgbClr val="DCE3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F0F0FC7-CDB0-404C-BA84-952B08482AA1}"/>
              </a:ext>
            </a:extLst>
          </p:cNvPr>
          <p:cNvSpPr>
            <a:spLocks noGrp="1"/>
          </p:cNvSpPr>
          <p:nvPr/>
        </p:nvSpPr>
        <p:spPr>
          <a:xfrm>
            <a:off x="4019550" y="4800600"/>
            <a:ext cx="6629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defRPr>
            </a:pPr>
            <a:r>
              <a:rPr sz="930" b="0">
                <a:solidFill>
                  <a:srgbClr val="5E6E83"/>
                </a:solidFill>
                <a:latin typeface="Malgun Gothic"/>
                <a:ea typeface="Malgun Gothic"/>
                <a:cs typeface="Malgun Gothic"/>
              </a:rPr>
              <a:t>중복 제거, 단어 단위 split 검토, prompt template 분리</a:t>
            </a:r>
          </a:p>
        </p:txBody>
      </p:sp>
    </p:spTree>
    <p:extLst>
      <p:ext uri="{BB962C8B-B14F-4D97-AF65-F5344CB8AC3E}">
        <p14:creationId xmlns:p14="http://schemas.microsoft.com/office/powerpoint/2010/main" val="1647105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290F180D-64D7-440D-98EA-5F89CFAE67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closing-thanks"/>
          <p:cNvSpPr>
            <a:spLocks noGrp="1"/>
          </p:cNvSpPr>
          <p:nvPr/>
        </p:nvSpPr>
        <p:spPr>
          <a:xfrm>
            <a:off x="0" y="2762250"/>
            <a:ext cx="121920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ko-KR" sz="5400" dirty="0">
                <a:solidFill>
                  <a:srgbClr val="081A33"/>
                </a:solidFill>
                <a:latin typeface="Malgun Gothic"/>
                <a:ea typeface="Malgun Gothic"/>
              </a:rPr>
              <a:t>감사합니다</a:t>
            </a:r>
            <a:endParaRPr lang="ko-KR" sz="5400" dirty="0"/>
          </a:p>
        </p:txBody>
      </p:sp>
    </p:spTree>
    <p:extLst>
      <p:ext uri="{BB962C8B-B14F-4D97-AF65-F5344CB8AC3E}">
        <p14:creationId xmlns:p14="http://schemas.microsoft.com/office/powerpoint/2010/main" val="9247626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2359</Words>
  <Application>Microsoft Office PowerPoint</Application>
  <DocSecurity>0</DocSecurity>
  <PresentationFormat>와이드스크린</PresentationFormat>
  <Paragraphs>394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Malgun Gothic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서웅 윤</cp:lastModifiedBy>
  <cp:revision>13</cp:revision>
  <dcterms:created xsi:type="dcterms:W3CDTF">2026-05-08T12:48:14Z</dcterms:created>
  <dcterms:modified xsi:type="dcterms:W3CDTF">2026-05-12T14:35:24Z</dcterms:modified>
</cp:coreProperties>
</file>